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oppins Bold" charset="1" panose="00000800000000000000"/>
      <p:regular r:id="rId14"/>
    </p:embeddedFont>
    <p:embeddedFont>
      <p:font typeface="Poppins Medium" charset="1" panose="00000600000000000000"/>
      <p:regular r:id="rId15"/>
    </p:embeddedFont>
    <p:embeddedFont>
      <p:font typeface="Poppins"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jpe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16" Target="../media/image31.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png" Type="http://schemas.openxmlformats.org/officeDocument/2006/relationships/image"/><Relationship Id="rId12" Target="../media/image37.png" Type="http://schemas.openxmlformats.org/officeDocument/2006/relationships/image"/><Relationship Id="rId13" Target="../media/image38.png" Type="http://schemas.openxmlformats.org/officeDocument/2006/relationships/image"/><Relationship Id="rId14" Target="../media/image39.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32.png" Type="http://schemas.openxmlformats.org/officeDocument/2006/relationships/image"/><Relationship Id="rId7" Target="../media/image33.png" Type="http://schemas.openxmlformats.org/officeDocument/2006/relationships/image"/><Relationship Id="rId8" Target="../media/image24.png" Type="http://schemas.openxmlformats.org/officeDocument/2006/relationships/image"/><Relationship Id="rId9" Target="../media/image3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10.png" Type="http://schemas.openxmlformats.org/officeDocument/2006/relationships/image"/><Relationship Id="rId12" Target="../media/image44.pn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2472E"/>
        </a:solidFill>
      </p:bgPr>
    </p:bg>
    <p:spTree>
      <p:nvGrpSpPr>
        <p:cNvPr id="1" name=""/>
        <p:cNvGrpSpPr/>
        <p:nvPr/>
      </p:nvGrpSpPr>
      <p:grpSpPr>
        <a:xfrm>
          <a:off x="0" y="0"/>
          <a:ext cx="0" cy="0"/>
          <a:chOff x="0" y="0"/>
          <a:chExt cx="0" cy="0"/>
        </a:xfrm>
      </p:grpSpPr>
      <p:sp>
        <p:nvSpPr>
          <p:cNvPr name="Freeform 2" id="2"/>
          <p:cNvSpPr/>
          <p:nvPr/>
        </p:nvSpPr>
        <p:spPr>
          <a:xfrm flipH="false" flipV="false" rot="0">
            <a:off x="800100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6966330" y="8786373"/>
            <a:ext cx="943855" cy="943855"/>
          </a:xfrm>
          <a:custGeom>
            <a:avLst/>
            <a:gdLst/>
            <a:ahLst/>
            <a:cxnLst/>
            <a:rect r="r" b="b" t="t" l="l"/>
            <a:pathLst>
              <a:path h="943855" w="943855">
                <a:moveTo>
                  <a:pt x="0" y="0"/>
                </a:moveTo>
                <a:lnTo>
                  <a:pt x="943855" y="0"/>
                </a:lnTo>
                <a:lnTo>
                  <a:pt x="943855" y="943854"/>
                </a:lnTo>
                <a:lnTo>
                  <a:pt x="0" y="9438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666977">
            <a:off x="-3939391" y="3855873"/>
            <a:ext cx="11924059" cy="9712688"/>
          </a:xfrm>
          <a:custGeom>
            <a:avLst/>
            <a:gdLst/>
            <a:ahLst/>
            <a:cxnLst/>
            <a:rect r="r" b="b" t="t" l="l"/>
            <a:pathLst>
              <a:path h="9712688" w="11924059">
                <a:moveTo>
                  <a:pt x="0" y="0"/>
                </a:moveTo>
                <a:lnTo>
                  <a:pt x="11924059" y="0"/>
                </a:lnTo>
                <a:lnTo>
                  <a:pt x="11924059" y="9712688"/>
                </a:lnTo>
                <a:lnTo>
                  <a:pt x="0" y="9712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329793">
            <a:off x="14094520" y="-2327696"/>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58521" y="2187653"/>
            <a:ext cx="4475099" cy="4475099"/>
          </a:xfrm>
          <a:custGeom>
            <a:avLst/>
            <a:gdLst/>
            <a:ahLst/>
            <a:cxnLst/>
            <a:rect r="r" b="b" t="t" l="l"/>
            <a:pathLst>
              <a:path h="4475099" w="4475099">
                <a:moveTo>
                  <a:pt x="0" y="0"/>
                </a:moveTo>
                <a:lnTo>
                  <a:pt x="4475099" y="0"/>
                </a:lnTo>
                <a:lnTo>
                  <a:pt x="4475099" y="4475099"/>
                </a:lnTo>
                <a:lnTo>
                  <a:pt x="0" y="44750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239970" y="8769367"/>
            <a:ext cx="7069720" cy="730150"/>
            <a:chOff x="0" y="0"/>
            <a:chExt cx="1861984" cy="192303"/>
          </a:xfrm>
        </p:grpSpPr>
        <p:sp>
          <p:nvSpPr>
            <p:cNvPr name="Freeform 8" id="8"/>
            <p:cNvSpPr/>
            <p:nvPr/>
          </p:nvSpPr>
          <p:spPr>
            <a:xfrm flipH="false" flipV="false" rot="0">
              <a:off x="0" y="0"/>
              <a:ext cx="1861984" cy="192303"/>
            </a:xfrm>
            <a:custGeom>
              <a:avLst/>
              <a:gdLst/>
              <a:ahLst/>
              <a:cxnLst/>
              <a:rect r="r" b="b" t="t" l="l"/>
              <a:pathLst>
                <a:path h="192303" w="1861984">
                  <a:moveTo>
                    <a:pt x="96151" y="0"/>
                  </a:moveTo>
                  <a:lnTo>
                    <a:pt x="1765832" y="0"/>
                  </a:lnTo>
                  <a:cubicBezTo>
                    <a:pt x="1818935" y="0"/>
                    <a:pt x="1861984" y="43048"/>
                    <a:pt x="1861984" y="96151"/>
                  </a:cubicBezTo>
                  <a:lnTo>
                    <a:pt x="1861984" y="96151"/>
                  </a:lnTo>
                  <a:cubicBezTo>
                    <a:pt x="1861984" y="149254"/>
                    <a:pt x="1818935" y="192303"/>
                    <a:pt x="1765832" y="192303"/>
                  </a:cubicBezTo>
                  <a:lnTo>
                    <a:pt x="96151" y="192303"/>
                  </a:lnTo>
                  <a:cubicBezTo>
                    <a:pt x="43048" y="192303"/>
                    <a:pt x="0" y="149254"/>
                    <a:pt x="0" y="96151"/>
                  </a:cubicBezTo>
                  <a:lnTo>
                    <a:pt x="0" y="96151"/>
                  </a:lnTo>
                  <a:cubicBezTo>
                    <a:pt x="0" y="43048"/>
                    <a:pt x="43048" y="0"/>
                    <a:pt x="96151" y="0"/>
                  </a:cubicBezTo>
                  <a:close/>
                </a:path>
              </a:pathLst>
            </a:custGeom>
            <a:solidFill>
              <a:srgbClr val="0A6847"/>
            </a:solidFill>
          </p:spPr>
        </p:sp>
        <p:sp>
          <p:nvSpPr>
            <p:cNvPr name="TextBox 9" id="9"/>
            <p:cNvSpPr txBox="true"/>
            <p:nvPr/>
          </p:nvSpPr>
          <p:spPr>
            <a:xfrm>
              <a:off x="0" y="38100"/>
              <a:ext cx="1861984" cy="154203"/>
            </a:xfrm>
            <a:prstGeom prst="rect">
              <a:avLst/>
            </a:prstGeom>
          </p:spPr>
          <p:txBody>
            <a:bodyPr anchor="ctr" rtlCol="false" tIns="50800" lIns="50800" bIns="50800" rIns="50800"/>
            <a:lstStyle/>
            <a:p>
              <a:pPr algn="ctr">
                <a:lnSpc>
                  <a:spcPts val="2314"/>
                </a:lnSpc>
              </a:pPr>
            </a:p>
          </p:txBody>
        </p:sp>
      </p:grpSp>
      <p:grpSp>
        <p:nvGrpSpPr>
          <p:cNvPr name="Group 10" id="10"/>
          <p:cNvGrpSpPr/>
          <p:nvPr/>
        </p:nvGrpSpPr>
        <p:grpSpPr>
          <a:xfrm rot="0">
            <a:off x="8496731" y="8759842"/>
            <a:ext cx="7768912" cy="730150"/>
            <a:chOff x="0" y="0"/>
            <a:chExt cx="2046133" cy="192303"/>
          </a:xfrm>
        </p:grpSpPr>
        <p:sp>
          <p:nvSpPr>
            <p:cNvPr name="Freeform 11" id="11"/>
            <p:cNvSpPr/>
            <p:nvPr/>
          </p:nvSpPr>
          <p:spPr>
            <a:xfrm flipH="false" flipV="false" rot="0">
              <a:off x="0" y="0"/>
              <a:ext cx="2046133" cy="192303"/>
            </a:xfrm>
            <a:custGeom>
              <a:avLst/>
              <a:gdLst/>
              <a:ahLst/>
              <a:cxnLst/>
              <a:rect r="r" b="b" t="t" l="l"/>
              <a:pathLst>
                <a:path h="192303" w="2046133">
                  <a:moveTo>
                    <a:pt x="96151" y="0"/>
                  </a:moveTo>
                  <a:lnTo>
                    <a:pt x="1949982" y="0"/>
                  </a:lnTo>
                  <a:cubicBezTo>
                    <a:pt x="2003085" y="0"/>
                    <a:pt x="2046133" y="43048"/>
                    <a:pt x="2046133" y="96151"/>
                  </a:cubicBezTo>
                  <a:lnTo>
                    <a:pt x="2046133" y="96151"/>
                  </a:lnTo>
                  <a:cubicBezTo>
                    <a:pt x="2046133" y="149254"/>
                    <a:pt x="2003085" y="192303"/>
                    <a:pt x="1949982" y="192303"/>
                  </a:cubicBezTo>
                  <a:lnTo>
                    <a:pt x="96151" y="192303"/>
                  </a:lnTo>
                  <a:cubicBezTo>
                    <a:pt x="43048" y="192303"/>
                    <a:pt x="0" y="149254"/>
                    <a:pt x="0" y="96151"/>
                  </a:cubicBezTo>
                  <a:lnTo>
                    <a:pt x="0" y="96151"/>
                  </a:lnTo>
                  <a:cubicBezTo>
                    <a:pt x="0" y="43048"/>
                    <a:pt x="43048" y="0"/>
                    <a:pt x="96151" y="0"/>
                  </a:cubicBezTo>
                  <a:close/>
                </a:path>
              </a:pathLst>
            </a:custGeom>
            <a:solidFill>
              <a:srgbClr val="F3CA52"/>
            </a:solidFill>
          </p:spPr>
        </p:sp>
        <p:sp>
          <p:nvSpPr>
            <p:cNvPr name="TextBox 12" id="12"/>
            <p:cNvSpPr txBox="true"/>
            <p:nvPr/>
          </p:nvSpPr>
          <p:spPr>
            <a:xfrm>
              <a:off x="0" y="38100"/>
              <a:ext cx="2046133" cy="154203"/>
            </a:xfrm>
            <a:prstGeom prst="rect">
              <a:avLst/>
            </a:prstGeom>
          </p:spPr>
          <p:txBody>
            <a:bodyPr anchor="ctr" rtlCol="false" tIns="50800" lIns="50800" bIns="50800" rIns="50800"/>
            <a:lstStyle/>
            <a:p>
              <a:pPr algn="ctr">
                <a:lnSpc>
                  <a:spcPts val="2314"/>
                </a:lnSpc>
              </a:pPr>
            </a:p>
          </p:txBody>
        </p:sp>
      </p:grpSp>
      <p:sp>
        <p:nvSpPr>
          <p:cNvPr name="Freeform 13" id="13"/>
          <p:cNvSpPr/>
          <p:nvPr/>
        </p:nvSpPr>
        <p:spPr>
          <a:xfrm flipH="false" flipV="false" rot="0">
            <a:off x="3016578" y="1604719"/>
            <a:ext cx="4984422" cy="4984422"/>
          </a:xfrm>
          <a:custGeom>
            <a:avLst/>
            <a:gdLst/>
            <a:ahLst/>
            <a:cxnLst/>
            <a:rect r="r" b="b" t="t" l="l"/>
            <a:pathLst>
              <a:path h="4984422" w="4984422">
                <a:moveTo>
                  <a:pt x="0" y="0"/>
                </a:moveTo>
                <a:lnTo>
                  <a:pt x="4984422" y="0"/>
                </a:lnTo>
                <a:lnTo>
                  <a:pt x="4984422" y="4984423"/>
                </a:lnTo>
                <a:lnTo>
                  <a:pt x="0" y="4984423"/>
                </a:lnTo>
                <a:lnTo>
                  <a:pt x="0" y="0"/>
                </a:lnTo>
                <a:close/>
              </a:path>
            </a:pathLst>
          </a:custGeom>
          <a:blipFill>
            <a:blip r:embed="rId10"/>
            <a:stretch>
              <a:fillRect l="0" t="0" r="0" b="0"/>
            </a:stretch>
          </a:blipFill>
        </p:spPr>
      </p:sp>
      <p:sp>
        <p:nvSpPr>
          <p:cNvPr name="Freeform 14" id="14"/>
          <p:cNvSpPr/>
          <p:nvPr/>
        </p:nvSpPr>
        <p:spPr>
          <a:xfrm flipH="false" flipV="false" rot="0">
            <a:off x="239970" y="2473342"/>
            <a:ext cx="6286500" cy="6286500"/>
          </a:xfrm>
          <a:custGeom>
            <a:avLst/>
            <a:gdLst/>
            <a:ahLst/>
            <a:cxnLst/>
            <a:rect r="r" b="b" t="t" l="l"/>
            <a:pathLst>
              <a:path h="6286500" w="6286500">
                <a:moveTo>
                  <a:pt x="0" y="0"/>
                </a:moveTo>
                <a:lnTo>
                  <a:pt x="6286500" y="0"/>
                </a:lnTo>
                <a:lnTo>
                  <a:pt x="6286500" y="6286500"/>
                </a:lnTo>
                <a:lnTo>
                  <a:pt x="0" y="6286500"/>
                </a:lnTo>
                <a:lnTo>
                  <a:pt x="0" y="0"/>
                </a:lnTo>
                <a:close/>
              </a:path>
            </a:pathLst>
          </a:custGeom>
          <a:blipFill>
            <a:blip r:embed="rId11"/>
            <a:stretch>
              <a:fillRect l="0" t="0" r="0" b="0"/>
            </a:stretch>
          </a:blipFill>
        </p:spPr>
      </p:sp>
      <p:sp>
        <p:nvSpPr>
          <p:cNvPr name="TextBox 15" id="15"/>
          <p:cNvSpPr txBox="true"/>
          <p:nvPr/>
        </p:nvSpPr>
        <p:spPr>
          <a:xfrm rot="0">
            <a:off x="8280711" y="4487721"/>
            <a:ext cx="10007289" cy="2245007"/>
          </a:xfrm>
          <a:prstGeom prst="rect">
            <a:avLst/>
          </a:prstGeom>
        </p:spPr>
        <p:txBody>
          <a:bodyPr anchor="t" rtlCol="false" tIns="0" lIns="0" bIns="0" rIns="0">
            <a:spAutoFit/>
          </a:bodyPr>
          <a:lstStyle/>
          <a:p>
            <a:pPr algn="l" marL="0" indent="0" lvl="0">
              <a:lnSpc>
                <a:spcPts val="8454"/>
              </a:lnSpc>
            </a:pPr>
            <a:r>
              <a:rPr lang="en-US" b="true" sz="7901">
                <a:solidFill>
                  <a:srgbClr val="FFFFFF"/>
                </a:solidFill>
                <a:latin typeface="Poppins Bold"/>
                <a:ea typeface="Poppins Bold"/>
                <a:cs typeface="Poppins Bold"/>
                <a:sym typeface="Poppins Bold"/>
              </a:rPr>
              <a:t>WEBSITE KASIR KEDAI TAKOSAI</a:t>
            </a:r>
          </a:p>
        </p:txBody>
      </p:sp>
      <p:sp>
        <p:nvSpPr>
          <p:cNvPr name="TextBox 16" id="16"/>
          <p:cNvSpPr txBox="true"/>
          <p:nvPr/>
        </p:nvSpPr>
        <p:spPr>
          <a:xfrm rot="0">
            <a:off x="2222664" y="1095375"/>
            <a:ext cx="3533133" cy="499819"/>
          </a:xfrm>
          <a:prstGeom prst="rect">
            <a:avLst/>
          </a:prstGeom>
        </p:spPr>
        <p:txBody>
          <a:bodyPr anchor="t" rtlCol="false" tIns="0" lIns="0" bIns="0" rIns="0">
            <a:spAutoFit/>
          </a:bodyPr>
          <a:lstStyle/>
          <a:p>
            <a:pPr algn="l" marL="0" indent="0" lvl="0">
              <a:lnSpc>
                <a:spcPts val="3406"/>
              </a:lnSpc>
              <a:spcBef>
                <a:spcPct val="0"/>
              </a:spcBef>
            </a:pPr>
            <a:r>
              <a:rPr lang="en-US" b="true" sz="3743">
                <a:solidFill>
                  <a:srgbClr val="F3CA52"/>
                </a:solidFill>
                <a:latin typeface="Poppins Bold"/>
                <a:ea typeface="Poppins Bold"/>
                <a:cs typeface="Poppins Bold"/>
                <a:sym typeface="Poppins Bold"/>
              </a:rPr>
              <a:t>KELOMPOK 6</a:t>
            </a:r>
          </a:p>
        </p:txBody>
      </p:sp>
      <p:sp>
        <p:nvSpPr>
          <p:cNvPr name="TextBox 17" id="17"/>
          <p:cNvSpPr txBox="true"/>
          <p:nvPr/>
        </p:nvSpPr>
        <p:spPr>
          <a:xfrm rot="0">
            <a:off x="8378815" y="2223693"/>
            <a:ext cx="9531370" cy="2244979"/>
          </a:xfrm>
          <a:prstGeom prst="rect">
            <a:avLst/>
          </a:prstGeom>
        </p:spPr>
        <p:txBody>
          <a:bodyPr anchor="t" rtlCol="false" tIns="0" lIns="0" bIns="0" rIns="0">
            <a:spAutoFit/>
          </a:bodyPr>
          <a:lstStyle/>
          <a:p>
            <a:pPr algn="l" marL="0" indent="0" lvl="0">
              <a:lnSpc>
                <a:spcPts val="8452"/>
              </a:lnSpc>
            </a:pPr>
            <a:r>
              <a:rPr lang="en-US" b="true" sz="7899">
                <a:solidFill>
                  <a:srgbClr val="F3CA52"/>
                </a:solidFill>
                <a:latin typeface="Poppins Bold"/>
                <a:ea typeface="Poppins Bold"/>
                <a:cs typeface="Poppins Bold"/>
                <a:sym typeface="Poppins Bold"/>
              </a:rPr>
              <a:t>WBS , GANTT CHART , PERT</a:t>
            </a:r>
          </a:p>
        </p:txBody>
      </p:sp>
      <p:sp>
        <p:nvSpPr>
          <p:cNvPr name="TextBox 18" id="18"/>
          <p:cNvSpPr txBox="true"/>
          <p:nvPr/>
        </p:nvSpPr>
        <p:spPr>
          <a:xfrm rot="0">
            <a:off x="8280711" y="8866706"/>
            <a:ext cx="8200951" cy="459272"/>
          </a:xfrm>
          <a:prstGeom prst="rect">
            <a:avLst/>
          </a:prstGeom>
        </p:spPr>
        <p:txBody>
          <a:bodyPr anchor="t" rtlCol="false" tIns="0" lIns="0" bIns="0" rIns="0">
            <a:spAutoFit/>
          </a:bodyPr>
          <a:lstStyle/>
          <a:p>
            <a:pPr algn="ctr">
              <a:lnSpc>
                <a:spcPts val="3560"/>
              </a:lnSpc>
              <a:spcBef>
                <a:spcPct val="0"/>
              </a:spcBef>
            </a:pPr>
            <a:r>
              <a:rPr lang="en-US" b="true" sz="2543">
                <a:solidFill>
                  <a:srgbClr val="02472E"/>
                </a:solidFill>
                <a:latin typeface="Poppins Bold"/>
                <a:ea typeface="Poppins Bold"/>
                <a:cs typeface="Poppins Bold"/>
                <a:sym typeface="Poppins Bold"/>
              </a:rPr>
              <a:t>MK : </a:t>
            </a:r>
            <a:r>
              <a:rPr lang="en-US" b="true" sz="2543">
                <a:solidFill>
                  <a:srgbClr val="02472E"/>
                </a:solidFill>
                <a:latin typeface="Poppins Bold"/>
                <a:ea typeface="Poppins Bold"/>
                <a:cs typeface="Poppins Bold"/>
                <a:sym typeface="Poppins Bold"/>
              </a:rPr>
              <a:t>PENGELOLAAN PROYEK SISTEM INFORMASI</a:t>
            </a:r>
          </a:p>
        </p:txBody>
      </p:sp>
      <p:sp>
        <p:nvSpPr>
          <p:cNvPr name="TextBox 19" id="19"/>
          <p:cNvSpPr txBox="true"/>
          <p:nvPr/>
        </p:nvSpPr>
        <p:spPr>
          <a:xfrm rot="0">
            <a:off x="239970" y="8866706"/>
            <a:ext cx="7069720" cy="459272"/>
          </a:xfrm>
          <a:prstGeom prst="rect">
            <a:avLst/>
          </a:prstGeom>
        </p:spPr>
        <p:txBody>
          <a:bodyPr anchor="t" rtlCol="false" tIns="0" lIns="0" bIns="0" rIns="0">
            <a:spAutoFit/>
          </a:bodyPr>
          <a:lstStyle/>
          <a:p>
            <a:pPr algn="ctr">
              <a:lnSpc>
                <a:spcPts val="3560"/>
              </a:lnSpc>
              <a:spcBef>
                <a:spcPct val="0"/>
              </a:spcBef>
            </a:pPr>
            <a:r>
              <a:rPr lang="en-US" b="true" sz="2543">
                <a:solidFill>
                  <a:srgbClr val="FFFFFF"/>
                </a:solidFill>
                <a:latin typeface="Poppins Bold"/>
                <a:ea typeface="Poppins Bold"/>
                <a:cs typeface="Poppins Bold"/>
                <a:sym typeface="Poppins Bold"/>
              </a:rPr>
              <a:t>DOSEN : </a:t>
            </a:r>
            <a:r>
              <a:rPr lang="en-US" b="true" sz="2543">
                <a:solidFill>
                  <a:srgbClr val="FFFFFF"/>
                </a:solidFill>
                <a:latin typeface="Poppins Bold"/>
                <a:ea typeface="Poppins Bold"/>
                <a:cs typeface="Poppins Bold"/>
                <a:sym typeface="Poppins Bold"/>
              </a:rPr>
              <a:t>LULU CHAERANI MUNGGARAN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2472E"/>
        </a:solidFill>
      </p:bgPr>
    </p:bg>
    <p:spTree>
      <p:nvGrpSpPr>
        <p:cNvPr id="1" name=""/>
        <p:cNvGrpSpPr/>
        <p:nvPr/>
      </p:nvGrpSpPr>
      <p:grpSpPr>
        <a:xfrm>
          <a:off x="0" y="0"/>
          <a:ext cx="0" cy="0"/>
          <a:chOff x="0" y="0"/>
          <a:chExt cx="0" cy="0"/>
        </a:xfrm>
      </p:grpSpPr>
      <p:sp>
        <p:nvSpPr>
          <p:cNvPr name="Freeform 2" id="2"/>
          <p:cNvSpPr/>
          <p:nvPr/>
        </p:nvSpPr>
        <p:spPr>
          <a:xfrm flipH="false" flipV="false" rot="0">
            <a:off x="369571" y="137483"/>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5805001" y="-4463181"/>
            <a:ext cx="6919019" cy="691901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CA52"/>
            </a:solidFill>
          </p:spPr>
        </p:sp>
        <p:sp>
          <p:nvSpPr>
            <p:cNvPr name="TextBox 5" id="5"/>
            <p:cNvSpPr txBox="true"/>
            <p:nvPr/>
          </p:nvSpPr>
          <p:spPr>
            <a:xfrm>
              <a:off x="76200" y="114300"/>
              <a:ext cx="660400" cy="622300"/>
            </a:xfrm>
            <a:prstGeom prst="rect">
              <a:avLst/>
            </a:prstGeom>
          </p:spPr>
          <p:txBody>
            <a:bodyPr anchor="ctr" rtlCol="false" tIns="50800" lIns="50800" bIns="50800" rIns="50800"/>
            <a:lstStyle/>
            <a:p>
              <a:pPr algn="ctr">
                <a:lnSpc>
                  <a:spcPts val="2314"/>
                </a:lnSpc>
              </a:pPr>
            </a:p>
          </p:txBody>
        </p:sp>
      </p:grpSp>
      <p:sp>
        <p:nvSpPr>
          <p:cNvPr name="Freeform 6" id="6"/>
          <p:cNvSpPr/>
          <p:nvPr/>
        </p:nvSpPr>
        <p:spPr>
          <a:xfrm flipH="false" flipV="false" rot="0">
            <a:off x="16368083" y="137483"/>
            <a:ext cx="1782433" cy="1782433"/>
          </a:xfrm>
          <a:custGeom>
            <a:avLst/>
            <a:gdLst/>
            <a:ahLst/>
            <a:cxnLst/>
            <a:rect r="r" b="b" t="t" l="l"/>
            <a:pathLst>
              <a:path h="1782433" w="1782433">
                <a:moveTo>
                  <a:pt x="0" y="0"/>
                </a:moveTo>
                <a:lnTo>
                  <a:pt x="1782434" y="0"/>
                </a:lnTo>
                <a:lnTo>
                  <a:pt x="1782434" y="1782434"/>
                </a:lnTo>
                <a:lnTo>
                  <a:pt x="0" y="1782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329793">
            <a:off x="-3450842" y="8584823"/>
            <a:ext cx="6901683" cy="5621735"/>
          </a:xfrm>
          <a:custGeom>
            <a:avLst/>
            <a:gdLst/>
            <a:ahLst/>
            <a:cxnLst/>
            <a:rect r="r" b="b" t="t" l="l"/>
            <a:pathLst>
              <a:path h="5621735" w="6901683">
                <a:moveTo>
                  <a:pt x="0" y="0"/>
                </a:moveTo>
                <a:lnTo>
                  <a:pt x="6901684" y="0"/>
                </a:lnTo>
                <a:lnTo>
                  <a:pt x="6901684" y="5621735"/>
                </a:lnTo>
                <a:lnTo>
                  <a:pt x="0" y="56217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2732810" y="4082890"/>
            <a:ext cx="2460501" cy="2617314"/>
            <a:chOff x="0" y="0"/>
            <a:chExt cx="3280668" cy="3489752"/>
          </a:xfrm>
        </p:grpSpPr>
        <p:pic>
          <p:nvPicPr>
            <p:cNvPr name="Picture 9" id="9"/>
            <p:cNvPicPr>
              <a:picLocks noChangeAspect="true"/>
            </p:cNvPicPr>
            <p:nvPr/>
          </p:nvPicPr>
          <p:blipFill>
            <a:blip r:embed="rId8"/>
            <a:srcRect l="0" t="5256" r="0" b="5256"/>
            <a:stretch>
              <a:fillRect/>
            </a:stretch>
          </p:blipFill>
          <p:spPr>
            <a:xfrm flipH="false" flipV="false">
              <a:off x="0" y="0"/>
              <a:ext cx="3280668" cy="3489752"/>
            </a:xfrm>
            <a:prstGeom prst="rect">
              <a:avLst/>
            </a:prstGeom>
          </p:spPr>
        </p:pic>
      </p:grpSp>
      <p:grpSp>
        <p:nvGrpSpPr>
          <p:cNvPr name="Group 10" id="10"/>
          <p:cNvGrpSpPr/>
          <p:nvPr/>
        </p:nvGrpSpPr>
        <p:grpSpPr>
          <a:xfrm rot="0">
            <a:off x="6350670" y="3874920"/>
            <a:ext cx="2365591" cy="2617314"/>
            <a:chOff x="0" y="0"/>
            <a:chExt cx="3154121" cy="3489752"/>
          </a:xfrm>
        </p:grpSpPr>
        <p:pic>
          <p:nvPicPr>
            <p:cNvPr name="Picture 11" id="11"/>
            <p:cNvPicPr>
              <a:picLocks noChangeAspect="true"/>
            </p:cNvPicPr>
            <p:nvPr/>
          </p:nvPicPr>
          <p:blipFill>
            <a:blip r:embed="rId9"/>
            <a:srcRect l="0" t="8509" r="0" b="8509"/>
            <a:stretch>
              <a:fillRect/>
            </a:stretch>
          </p:blipFill>
          <p:spPr>
            <a:xfrm flipH="false" flipV="false">
              <a:off x="0" y="0"/>
              <a:ext cx="3154121" cy="3489752"/>
            </a:xfrm>
            <a:prstGeom prst="rect">
              <a:avLst/>
            </a:prstGeom>
          </p:spPr>
        </p:pic>
      </p:grpSp>
      <p:grpSp>
        <p:nvGrpSpPr>
          <p:cNvPr name="Group 12" id="12"/>
          <p:cNvGrpSpPr/>
          <p:nvPr/>
        </p:nvGrpSpPr>
        <p:grpSpPr>
          <a:xfrm rot="0">
            <a:off x="9995402" y="3874920"/>
            <a:ext cx="2365591" cy="2617314"/>
            <a:chOff x="0" y="0"/>
            <a:chExt cx="3154121" cy="3489752"/>
          </a:xfrm>
        </p:grpSpPr>
        <p:pic>
          <p:nvPicPr>
            <p:cNvPr name="Picture 13" id="13"/>
            <p:cNvPicPr>
              <a:picLocks noChangeAspect="true"/>
            </p:cNvPicPr>
            <p:nvPr/>
          </p:nvPicPr>
          <p:blipFill>
            <a:blip r:embed="rId10"/>
            <a:srcRect l="0" t="0" r="0" b="18678"/>
            <a:stretch>
              <a:fillRect/>
            </a:stretch>
          </p:blipFill>
          <p:spPr>
            <a:xfrm flipH="false" flipV="false">
              <a:off x="0" y="0"/>
              <a:ext cx="3154121" cy="3489752"/>
            </a:xfrm>
            <a:prstGeom prst="rect">
              <a:avLst/>
            </a:prstGeom>
          </p:spPr>
        </p:pic>
      </p:grpSp>
      <p:grpSp>
        <p:nvGrpSpPr>
          <p:cNvPr name="Group 14" id="14"/>
          <p:cNvGrpSpPr/>
          <p:nvPr/>
        </p:nvGrpSpPr>
        <p:grpSpPr>
          <a:xfrm rot="0">
            <a:off x="13640134" y="3874920"/>
            <a:ext cx="2365591" cy="2617314"/>
            <a:chOff x="0" y="0"/>
            <a:chExt cx="3154121" cy="3489752"/>
          </a:xfrm>
        </p:grpSpPr>
        <p:pic>
          <p:nvPicPr>
            <p:cNvPr name="Picture 15" id="15"/>
            <p:cNvPicPr>
              <a:picLocks noChangeAspect="true"/>
            </p:cNvPicPr>
            <p:nvPr/>
          </p:nvPicPr>
          <p:blipFill>
            <a:blip r:embed="rId11"/>
            <a:srcRect l="0" t="5743" r="0" b="5743"/>
            <a:stretch>
              <a:fillRect/>
            </a:stretch>
          </p:blipFill>
          <p:spPr>
            <a:xfrm flipH="false" flipV="false">
              <a:off x="0" y="0"/>
              <a:ext cx="3154121" cy="3489752"/>
            </a:xfrm>
            <a:prstGeom prst="rect">
              <a:avLst/>
            </a:prstGeom>
          </p:spPr>
        </p:pic>
      </p:grpSp>
      <p:sp>
        <p:nvSpPr>
          <p:cNvPr name="TextBox 16" id="16"/>
          <p:cNvSpPr txBox="true"/>
          <p:nvPr/>
        </p:nvSpPr>
        <p:spPr>
          <a:xfrm rot="0">
            <a:off x="2216354" y="1724340"/>
            <a:ext cx="16880433" cy="1088332"/>
          </a:xfrm>
          <a:prstGeom prst="rect">
            <a:avLst/>
          </a:prstGeom>
        </p:spPr>
        <p:txBody>
          <a:bodyPr anchor="t" rtlCol="false" tIns="0" lIns="0" bIns="0" rIns="0">
            <a:spAutoFit/>
          </a:bodyPr>
          <a:lstStyle/>
          <a:p>
            <a:pPr algn="l" marL="0" indent="0" lvl="0">
              <a:lnSpc>
                <a:spcPts val="7357"/>
              </a:lnSpc>
              <a:spcBef>
                <a:spcPct val="0"/>
              </a:spcBef>
            </a:pPr>
            <a:r>
              <a:rPr lang="en-US" b="true" sz="8084">
                <a:solidFill>
                  <a:srgbClr val="F3CA52"/>
                </a:solidFill>
                <a:latin typeface="Poppins Bold"/>
                <a:ea typeface="Poppins Bold"/>
                <a:cs typeface="Poppins Bold"/>
                <a:sym typeface="Poppins Bold"/>
              </a:rPr>
              <a:t>ROLE ANGGOTA KELOMPOK</a:t>
            </a:r>
          </a:p>
        </p:txBody>
      </p:sp>
      <p:sp>
        <p:nvSpPr>
          <p:cNvPr name="TextBox 17" id="17"/>
          <p:cNvSpPr txBox="true"/>
          <p:nvPr/>
        </p:nvSpPr>
        <p:spPr>
          <a:xfrm rot="0">
            <a:off x="2044904" y="6990801"/>
            <a:ext cx="3836312" cy="385881"/>
          </a:xfrm>
          <a:prstGeom prst="rect">
            <a:avLst/>
          </a:prstGeom>
        </p:spPr>
        <p:txBody>
          <a:bodyPr anchor="t" rtlCol="false" tIns="0" lIns="0" bIns="0" rIns="0">
            <a:spAutoFit/>
          </a:bodyPr>
          <a:lstStyle/>
          <a:p>
            <a:pPr algn="ctr">
              <a:lnSpc>
                <a:spcPts val="2897"/>
              </a:lnSpc>
            </a:pPr>
            <a:r>
              <a:rPr lang="en-US" b="true" sz="2634">
                <a:solidFill>
                  <a:srgbClr val="FFFFFF"/>
                </a:solidFill>
                <a:latin typeface="Poppins Medium"/>
                <a:ea typeface="Poppins Medium"/>
                <a:cs typeface="Poppins Medium"/>
                <a:sym typeface="Poppins Medium"/>
              </a:rPr>
              <a:t>Daffa Naufal Arafi  </a:t>
            </a:r>
          </a:p>
        </p:txBody>
      </p:sp>
      <p:sp>
        <p:nvSpPr>
          <p:cNvPr name="TextBox 18" id="18"/>
          <p:cNvSpPr txBox="true"/>
          <p:nvPr/>
        </p:nvSpPr>
        <p:spPr>
          <a:xfrm rot="0">
            <a:off x="2769254" y="7885625"/>
            <a:ext cx="2283224" cy="333137"/>
          </a:xfrm>
          <a:prstGeom prst="rect">
            <a:avLst/>
          </a:prstGeom>
        </p:spPr>
        <p:txBody>
          <a:bodyPr anchor="t" rtlCol="false" tIns="0" lIns="0" bIns="0" rIns="0">
            <a:spAutoFit/>
          </a:bodyPr>
          <a:lstStyle/>
          <a:p>
            <a:pPr algn="ctr">
              <a:lnSpc>
                <a:spcPts val="2634"/>
              </a:lnSpc>
            </a:pPr>
            <a:r>
              <a:rPr lang="en-US" b="true" sz="1756">
                <a:solidFill>
                  <a:srgbClr val="FFFFFF"/>
                </a:solidFill>
                <a:latin typeface="Poppins Medium"/>
                <a:ea typeface="Poppins Medium"/>
                <a:cs typeface="Poppins Medium"/>
                <a:sym typeface="Poppins Medium"/>
              </a:rPr>
              <a:t>System Analyst</a:t>
            </a:r>
          </a:p>
        </p:txBody>
      </p:sp>
      <p:sp>
        <p:nvSpPr>
          <p:cNvPr name="TextBox 19" id="19"/>
          <p:cNvSpPr txBox="true"/>
          <p:nvPr/>
        </p:nvSpPr>
        <p:spPr>
          <a:xfrm rot="0">
            <a:off x="5941235" y="6980087"/>
            <a:ext cx="3329322" cy="747831"/>
          </a:xfrm>
          <a:prstGeom prst="rect">
            <a:avLst/>
          </a:prstGeom>
        </p:spPr>
        <p:txBody>
          <a:bodyPr anchor="t" rtlCol="false" tIns="0" lIns="0" bIns="0" rIns="0">
            <a:spAutoFit/>
          </a:bodyPr>
          <a:lstStyle/>
          <a:p>
            <a:pPr algn="ctr">
              <a:lnSpc>
                <a:spcPts val="2897"/>
              </a:lnSpc>
            </a:pPr>
            <a:r>
              <a:rPr lang="en-US" b="true" sz="2634">
                <a:solidFill>
                  <a:srgbClr val="FFFFFF"/>
                </a:solidFill>
                <a:latin typeface="Poppins Medium"/>
                <a:ea typeface="Poppins Medium"/>
                <a:cs typeface="Poppins Medium"/>
                <a:sym typeface="Poppins Medium"/>
              </a:rPr>
              <a:t>Daniela Costantina Pattirane</a:t>
            </a:r>
          </a:p>
        </p:txBody>
      </p:sp>
      <p:sp>
        <p:nvSpPr>
          <p:cNvPr name="TextBox 20" id="20"/>
          <p:cNvSpPr txBox="true"/>
          <p:nvPr/>
        </p:nvSpPr>
        <p:spPr>
          <a:xfrm rot="0">
            <a:off x="6303045" y="7885625"/>
            <a:ext cx="2567603" cy="333137"/>
          </a:xfrm>
          <a:prstGeom prst="rect">
            <a:avLst/>
          </a:prstGeom>
        </p:spPr>
        <p:txBody>
          <a:bodyPr anchor="t" rtlCol="false" tIns="0" lIns="0" bIns="0" rIns="0">
            <a:spAutoFit/>
          </a:bodyPr>
          <a:lstStyle/>
          <a:p>
            <a:pPr algn="ctr">
              <a:lnSpc>
                <a:spcPts val="2634"/>
              </a:lnSpc>
            </a:pPr>
            <a:r>
              <a:rPr lang="en-US" b="true" sz="1756">
                <a:solidFill>
                  <a:srgbClr val="FFFFFF"/>
                </a:solidFill>
                <a:latin typeface="Poppins Medium"/>
                <a:ea typeface="Poppins Medium"/>
                <a:cs typeface="Poppins Medium"/>
                <a:sym typeface="Poppins Medium"/>
              </a:rPr>
              <a:t>Programmer</a:t>
            </a:r>
          </a:p>
        </p:txBody>
      </p:sp>
      <p:sp>
        <p:nvSpPr>
          <p:cNvPr name="TextBox 21" id="21"/>
          <p:cNvSpPr txBox="true"/>
          <p:nvPr/>
        </p:nvSpPr>
        <p:spPr>
          <a:xfrm rot="0">
            <a:off x="9816149" y="6990801"/>
            <a:ext cx="2827297" cy="385881"/>
          </a:xfrm>
          <a:prstGeom prst="rect">
            <a:avLst/>
          </a:prstGeom>
        </p:spPr>
        <p:txBody>
          <a:bodyPr anchor="t" rtlCol="false" tIns="0" lIns="0" bIns="0" rIns="0">
            <a:spAutoFit/>
          </a:bodyPr>
          <a:lstStyle/>
          <a:p>
            <a:pPr algn="ctr">
              <a:lnSpc>
                <a:spcPts val="2897"/>
              </a:lnSpc>
            </a:pPr>
            <a:r>
              <a:rPr lang="en-US" b="true" sz="2634">
                <a:solidFill>
                  <a:srgbClr val="FFFFFF"/>
                </a:solidFill>
                <a:latin typeface="Poppins Medium"/>
                <a:ea typeface="Poppins Medium"/>
                <a:cs typeface="Poppins Medium"/>
                <a:sym typeface="Poppins Medium"/>
              </a:rPr>
              <a:t>Rafi Hanifa Fikri</a:t>
            </a:r>
          </a:p>
        </p:txBody>
      </p:sp>
      <p:sp>
        <p:nvSpPr>
          <p:cNvPr name="TextBox 22" id="22"/>
          <p:cNvSpPr txBox="true"/>
          <p:nvPr/>
        </p:nvSpPr>
        <p:spPr>
          <a:xfrm rot="0">
            <a:off x="9956807" y="7885625"/>
            <a:ext cx="2626155" cy="333137"/>
          </a:xfrm>
          <a:prstGeom prst="rect">
            <a:avLst/>
          </a:prstGeom>
        </p:spPr>
        <p:txBody>
          <a:bodyPr anchor="t" rtlCol="false" tIns="0" lIns="0" bIns="0" rIns="0">
            <a:spAutoFit/>
          </a:bodyPr>
          <a:lstStyle/>
          <a:p>
            <a:pPr algn="ctr">
              <a:lnSpc>
                <a:spcPts val="2634"/>
              </a:lnSpc>
            </a:pPr>
            <a:r>
              <a:rPr lang="en-US" b="true" sz="1756">
                <a:solidFill>
                  <a:srgbClr val="FFFFFF"/>
                </a:solidFill>
                <a:latin typeface="Poppins Medium"/>
                <a:ea typeface="Poppins Medium"/>
                <a:cs typeface="Poppins Medium"/>
                <a:sym typeface="Poppins Medium"/>
              </a:rPr>
              <a:t>PIC/Project Lead</a:t>
            </a:r>
          </a:p>
        </p:txBody>
      </p:sp>
      <p:sp>
        <p:nvSpPr>
          <p:cNvPr name="TextBox 23" id="23"/>
          <p:cNvSpPr txBox="true"/>
          <p:nvPr/>
        </p:nvSpPr>
        <p:spPr>
          <a:xfrm rot="0">
            <a:off x="13306592" y="6966582"/>
            <a:ext cx="3061491" cy="747831"/>
          </a:xfrm>
          <a:prstGeom prst="rect">
            <a:avLst/>
          </a:prstGeom>
        </p:spPr>
        <p:txBody>
          <a:bodyPr anchor="t" rtlCol="false" tIns="0" lIns="0" bIns="0" rIns="0">
            <a:spAutoFit/>
          </a:bodyPr>
          <a:lstStyle/>
          <a:p>
            <a:pPr algn="ctr">
              <a:lnSpc>
                <a:spcPts val="2897"/>
              </a:lnSpc>
            </a:pPr>
            <a:r>
              <a:rPr lang="en-US" b="true" sz="2634">
                <a:solidFill>
                  <a:srgbClr val="FFFFFF"/>
                </a:solidFill>
                <a:latin typeface="Poppins Medium"/>
                <a:ea typeface="Poppins Medium"/>
                <a:cs typeface="Poppins Medium"/>
                <a:sym typeface="Poppins Medium"/>
              </a:rPr>
              <a:t>Voni Febriyanti Helena</a:t>
            </a:r>
          </a:p>
        </p:txBody>
      </p:sp>
      <p:sp>
        <p:nvSpPr>
          <p:cNvPr name="TextBox 24" id="24"/>
          <p:cNvSpPr txBox="true"/>
          <p:nvPr/>
        </p:nvSpPr>
        <p:spPr>
          <a:xfrm rot="0">
            <a:off x="13722502" y="7885625"/>
            <a:ext cx="2283224" cy="333137"/>
          </a:xfrm>
          <a:prstGeom prst="rect">
            <a:avLst/>
          </a:prstGeom>
        </p:spPr>
        <p:txBody>
          <a:bodyPr anchor="t" rtlCol="false" tIns="0" lIns="0" bIns="0" rIns="0">
            <a:spAutoFit/>
          </a:bodyPr>
          <a:lstStyle/>
          <a:p>
            <a:pPr algn="ctr">
              <a:lnSpc>
                <a:spcPts val="2634"/>
              </a:lnSpc>
            </a:pPr>
            <a:r>
              <a:rPr lang="en-US" b="true" sz="1756">
                <a:solidFill>
                  <a:srgbClr val="FFFFFF"/>
                </a:solidFill>
                <a:latin typeface="Poppins Medium"/>
                <a:ea typeface="Poppins Medium"/>
                <a:cs typeface="Poppins Medium"/>
                <a:sym typeface="Poppins Medium"/>
              </a:rPr>
              <a:t>Designer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CA5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6740573" y="8712217"/>
            <a:ext cx="699184" cy="699184"/>
          </a:xfrm>
          <a:custGeom>
            <a:avLst/>
            <a:gdLst/>
            <a:ahLst/>
            <a:cxnLst/>
            <a:rect r="r" b="b" t="t" l="l"/>
            <a:pathLst>
              <a:path h="699184" w="699184">
                <a:moveTo>
                  <a:pt x="0" y="0"/>
                </a:moveTo>
                <a:lnTo>
                  <a:pt x="699184" y="0"/>
                </a:lnTo>
                <a:lnTo>
                  <a:pt x="699184" y="699184"/>
                </a:lnTo>
                <a:lnTo>
                  <a:pt x="0" y="6991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666977">
            <a:off x="-7420926" y="8483564"/>
            <a:ext cx="11924059" cy="9712688"/>
          </a:xfrm>
          <a:custGeom>
            <a:avLst/>
            <a:gdLst/>
            <a:ahLst/>
            <a:cxnLst/>
            <a:rect r="r" b="b" t="t" l="l"/>
            <a:pathLst>
              <a:path h="9712688" w="11924059">
                <a:moveTo>
                  <a:pt x="0" y="0"/>
                </a:moveTo>
                <a:lnTo>
                  <a:pt x="11924059" y="0"/>
                </a:lnTo>
                <a:lnTo>
                  <a:pt x="11924059" y="9712688"/>
                </a:lnTo>
                <a:lnTo>
                  <a:pt x="0" y="9712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637227">
            <a:off x="15374154" y="-1983891"/>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4711995" y="1103310"/>
            <a:ext cx="8864009" cy="877648"/>
          </a:xfrm>
          <a:prstGeom prst="rect">
            <a:avLst/>
          </a:prstGeom>
        </p:spPr>
        <p:txBody>
          <a:bodyPr anchor="t" rtlCol="false" tIns="0" lIns="0" bIns="0" rIns="0">
            <a:spAutoFit/>
          </a:bodyPr>
          <a:lstStyle/>
          <a:p>
            <a:pPr algn="ctr">
              <a:lnSpc>
                <a:spcPts val="6750"/>
              </a:lnSpc>
              <a:spcBef>
                <a:spcPct val="0"/>
              </a:spcBef>
            </a:pPr>
            <a:r>
              <a:rPr lang="en-US" b="true" sz="4821">
                <a:solidFill>
                  <a:srgbClr val="02472E"/>
                </a:solidFill>
                <a:latin typeface="Poppins Bold"/>
                <a:ea typeface="Poppins Bold"/>
                <a:cs typeface="Poppins Bold"/>
                <a:sym typeface="Poppins Bold"/>
              </a:rPr>
              <a:t>METODE PENGEMBANGAN</a:t>
            </a:r>
          </a:p>
        </p:txBody>
      </p:sp>
      <p:sp>
        <p:nvSpPr>
          <p:cNvPr name="TextBox 7" id="7"/>
          <p:cNvSpPr txBox="true"/>
          <p:nvPr/>
        </p:nvSpPr>
        <p:spPr>
          <a:xfrm rot="0">
            <a:off x="1778319" y="2772329"/>
            <a:ext cx="15311847" cy="6186742"/>
          </a:xfrm>
          <a:prstGeom prst="rect">
            <a:avLst/>
          </a:prstGeom>
        </p:spPr>
        <p:txBody>
          <a:bodyPr anchor="t" rtlCol="false" tIns="0" lIns="0" bIns="0" rIns="0">
            <a:spAutoFit/>
          </a:bodyPr>
          <a:lstStyle/>
          <a:p>
            <a:pPr algn="just">
              <a:lnSpc>
                <a:spcPts val="4448"/>
              </a:lnSpc>
              <a:spcBef>
                <a:spcPct val="0"/>
              </a:spcBef>
            </a:pPr>
            <a:r>
              <a:rPr lang="en-US" sz="3177">
                <a:solidFill>
                  <a:srgbClr val="000000"/>
                </a:solidFill>
                <a:latin typeface="Poppins"/>
                <a:ea typeface="Poppins"/>
                <a:cs typeface="Poppins"/>
                <a:sym typeface="Poppins"/>
              </a:rPr>
              <a:t>Metode Prototype adalah model pengembangan sistem yang berfokus pada pembuatan versi awal atau contoh (prototype) dari sistem yang akan dikembangkan. Prototype ini kemudian diuji dan dievaluasi oleh pengguna untuk mendapatkan masukan sebelum sistem final dibangun. Model ini dipilih dalam pengembangan Website Kasir Kedai Takosai karena memungkinkan penyesuaian yang cepat terhadap kebutuhan pemilik usaha dan pengguna. Melalui pendekatan ini, tim dapat memahami kebutuhan secara lebih akurat, memperbaiki desain atau fitur berdasarkan umpan balik langsung, serta memastikan sistem akhir benar-benar sesuai dengan alur kerja kasir dan kebutuhan operasional di lapangan.</a:t>
            </a:r>
          </a:p>
          <a:p>
            <a:pPr algn="just">
              <a:lnSpc>
                <a:spcPts val="4448"/>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CA52"/>
        </a:solidFill>
      </p:bgPr>
    </p:bg>
    <p:spTree>
      <p:nvGrpSpPr>
        <p:cNvPr id="1" name=""/>
        <p:cNvGrpSpPr/>
        <p:nvPr/>
      </p:nvGrpSpPr>
      <p:grpSpPr>
        <a:xfrm>
          <a:off x="0" y="0"/>
          <a:ext cx="0" cy="0"/>
          <a:chOff x="0" y="0"/>
          <a:chExt cx="0" cy="0"/>
        </a:xfrm>
      </p:grpSpPr>
      <p:sp>
        <p:nvSpPr>
          <p:cNvPr name="Freeform 2" id="2"/>
          <p:cNvSpPr/>
          <p:nvPr/>
        </p:nvSpPr>
        <p:spPr>
          <a:xfrm flipH="false" flipV="false" rot="0">
            <a:off x="16740573" y="8712217"/>
            <a:ext cx="699184" cy="699184"/>
          </a:xfrm>
          <a:custGeom>
            <a:avLst/>
            <a:gdLst/>
            <a:ahLst/>
            <a:cxnLst/>
            <a:rect r="r" b="b" t="t" l="l"/>
            <a:pathLst>
              <a:path h="699184" w="699184">
                <a:moveTo>
                  <a:pt x="0" y="0"/>
                </a:moveTo>
                <a:lnTo>
                  <a:pt x="699184" y="0"/>
                </a:lnTo>
                <a:lnTo>
                  <a:pt x="699184" y="699184"/>
                </a:lnTo>
                <a:lnTo>
                  <a:pt x="0" y="699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8946" y="1500517"/>
            <a:ext cx="6290065" cy="6290065"/>
          </a:xfrm>
          <a:custGeom>
            <a:avLst/>
            <a:gdLst/>
            <a:ahLst/>
            <a:cxnLst/>
            <a:rect r="r" b="b" t="t" l="l"/>
            <a:pathLst>
              <a:path h="6290065" w="6290065">
                <a:moveTo>
                  <a:pt x="0" y="0"/>
                </a:moveTo>
                <a:lnTo>
                  <a:pt x="6290065" y="0"/>
                </a:lnTo>
                <a:lnTo>
                  <a:pt x="6290065" y="6290065"/>
                </a:lnTo>
                <a:lnTo>
                  <a:pt x="0" y="629006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10329793">
            <a:off x="15762436" y="-2970140"/>
            <a:ext cx="6901683" cy="5621735"/>
          </a:xfrm>
          <a:custGeom>
            <a:avLst/>
            <a:gdLst/>
            <a:ahLst/>
            <a:cxnLst/>
            <a:rect r="r" b="b" t="t" l="l"/>
            <a:pathLst>
              <a:path h="5621735" w="6901683">
                <a:moveTo>
                  <a:pt x="0" y="0"/>
                </a:moveTo>
                <a:lnTo>
                  <a:pt x="6901683" y="0"/>
                </a:lnTo>
                <a:lnTo>
                  <a:pt x="6901683" y="5621734"/>
                </a:lnTo>
                <a:lnTo>
                  <a:pt x="0" y="56217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358591" y="1142620"/>
            <a:ext cx="2375889" cy="693273"/>
            <a:chOff x="0" y="0"/>
            <a:chExt cx="625749" cy="182590"/>
          </a:xfrm>
        </p:grpSpPr>
        <p:sp>
          <p:nvSpPr>
            <p:cNvPr name="Freeform 6" id="6"/>
            <p:cNvSpPr/>
            <p:nvPr/>
          </p:nvSpPr>
          <p:spPr>
            <a:xfrm flipH="false" flipV="false" rot="0">
              <a:off x="0" y="0"/>
              <a:ext cx="625749" cy="182590"/>
            </a:xfrm>
            <a:custGeom>
              <a:avLst/>
              <a:gdLst/>
              <a:ahLst/>
              <a:cxnLst/>
              <a:rect r="r" b="b" t="t" l="l"/>
              <a:pathLst>
                <a:path h="182590" w="625749">
                  <a:moveTo>
                    <a:pt x="65171" y="0"/>
                  </a:moveTo>
                  <a:lnTo>
                    <a:pt x="560578" y="0"/>
                  </a:lnTo>
                  <a:cubicBezTo>
                    <a:pt x="577862" y="0"/>
                    <a:pt x="594439" y="6866"/>
                    <a:pt x="606660" y="19088"/>
                  </a:cubicBezTo>
                  <a:cubicBezTo>
                    <a:pt x="618882" y="31310"/>
                    <a:pt x="625749" y="47886"/>
                    <a:pt x="625749" y="65171"/>
                  </a:cubicBezTo>
                  <a:lnTo>
                    <a:pt x="625749" y="117420"/>
                  </a:lnTo>
                  <a:cubicBezTo>
                    <a:pt x="625749" y="134704"/>
                    <a:pt x="618882" y="151280"/>
                    <a:pt x="606660" y="163502"/>
                  </a:cubicBezTo>
                  <a:cubicBezTo>
                    <a:pt x="594439" y="175724"/>
                    <a:pt x="577862" y="182590"/>
                    <a:pt x="560578" y="182590"/>
                  </a:cubicBezTo>
                  <a:lnTo>
                    <a:pt x="65171" y="182590"/>
                  </a:lnTo>
                  <a:cubicBezTo>
                    <a:pt x="47886" y="182590"/>
                    <a:pt x="31310" y="175724"/>
                    <a:pt x="19088" y="163502"/>
                  </a:cubicBezTo>
                  <a:cubicBezTo>
                    <a:pt x="6866" y="151280"/>
                    <a:pt x="0" y="134704"/>
                    <a:pt x="0" y="117420"/>
                  </a:cubicBezTo>
                  <a:lnTo>
                    <a:pt x="0" y="65171"/>
                  </a:lnTo>
                  <a:cubicBezTo>
                    <a:pt x="0" y="47886"/>
                    <a:pt x="6866" y="31310"/>
                    <a:pt x="19088" y="19088"/>
                  </a:cubicBezTo>
                  <a:cubicBezTo>
                    <a:pt x="31310" y="6866"/>
                    <a:pt x="47886" y="0"/>
                    <a:pt x="65171" y="0"/>
                  </a:cubicBezTo>
                  <a:close/>
                </a:path>
              </a:pathLst>
            </a:custGeom>
            <a:solidFill>
              <a:srgbClr val="FF3131"/>
            </a:solidFill>
          </p:spPr>
        </p:sp>
        <p:sp>
          <p:nvSpPr>
            <p:cNvPr name="TextBox 7" id="7"/>
            <p:cNvSpPr txBox="true"/>
            <p:nvPr/>
          </p:nvSpPr>
          <p:spPr>
            <a:xfrm>
              <a:off x="0" y="9525"/>
              <a:ext cx="625749" cy="173065"/>
            </a:xfrm>
            <a:prstGeom prst="rect">
              <a:avLst/>
            </a:prstGeom>
          </p:spPr>
          <p:txBody>
            <a:bodyPr anchor="ctr" rtlCol="false" tIns="50800" lIns="50800" bIns="50800" rIns="50800"/>
            <a:lstStyle/>
            <a:p>
              <a:pPr algn="ctr">
                <a:lnSpc>
                  <a:spcPts val="1797"/>
                </a:lnSpc>
              </a:pPr>
              <a:r>
                <a:rPr lang="en-US" b="true" sz="1634">
                  <a:solidFill>
                    <a:srgbClr val="000000"/>
                  </a:solidFill>
                  <a:latin typeface="Poppins Medium"/>
                  <a:ea typeface="Poppins Medium"/>
                  <a:cs typeface="Poppins Medium"/>
                  <a:sym typeface="Poppins Medium"/>
                </a:rPr>
                <a:t>WEBSITE KEDAI TOKOSAI</a:t>
              </a:r>
            </a:p>
          </p:txBody>
        </p:sp>
      </p:grpSp>
      <p:sp>
        <p:nvSpPr>
          <p:cNvPr name="TextBox 8" id="8"/>
          <p:cNvSpPr txBox="true"/>
          <p:nvPr/>
        </p:nvSpPr>
        <p:spPr>
          <a:xfrm rot="0">
            <a:off x="4711995" y="27227"/>
            <a:ext cx="8864009" cy="877648"/>
          </a:xfrm>
          <a:prstGeom prst="rect">
            <a:avLst/>
          </a:prstGeom>
        </p:spPr>
        <p:txBody>
          <a:bodyPr anchor="t" rtlCol="false" tIns="0" lIns="0" bIns="0" rIns="0">
            <a:spAutoFit/>
          </a:bodyPr>
          <a:lstStyle/>
          <a:p>
            <a:pPr algn="ctr">
              <a:lnSpc>
                <a:spcPts val="6750"/>
              </a:lnSpc>
              <a:spcBef>
                <a:spcPct val="0"/>
              </a:spcBef>
            </a:pPr>
            <a:r>
              <a:rPr lang="en-US" b="true" sz="4821">
                <a:solidFill>
                  <a:srgbClr val="02472E"/>
                </a:solidFill>
                <a:latin typeface="Poppins Bold"/>
                <a:ea typeface="Poppins Bold"/>
                <a:cs typeface="Poppins Bold"/>
                <a:sym typeface="Poppins Bold"/>
              </a:rPr>
              <a:t>Work Breakdown Structure</a:t>
            </a:r>
          </a:p>
        </p:txBody>
      </p:sp>
      <p:grpSp>
        <p:nvGrpSpPr>
          <p:cNvPr name="Group 9" id="9"/>
          <p:cNvGrpSpPr/>
          <p:nvPr/>
        </p:nvGrpSpPr>
        <p:grpSpPr>
          <a:xfrm rot="0">
            <a:off x="1253738" y="2715554"/>
            <a:ext cx="2482128" cy="690863"/>
            <a:chOff x="0" y="0"/>
            <a:chExt cx="653729" cy="181956"/>
          </a:xfrm>
        </p:grpSpPr>
        <p:sp>
          <p:nvSpPr>
            <p:cNvPr name="Freeform 10" id="10"/>
            <p:cNvSpPr/>
            <p:nvPr/>
          </p:nvSpPr>
          <p:spPr>
            <a:xfrm flipH="false" flipV="false" rot="0">
              <a:off x="0" y="0"/>
              <a:ext cx="653729" cy="181956"/>
            </a:xfrm>
            <a:custGeom>
              <a:avLst/>
              <a:gdLst/>
              <a:ahLst/>
              <a:cxnLst/>
              <a:rect r="r" b="b" t="t" l="l"/>
              <a:pathLst>
                <a:path h="181956" w="653729">
                  <a:moveTo>
                    <a:pt x="62381" y="0"/>
                  </a:moveTo>
                  <a:lnTo>
                    <a:pt x="591348" y="0"/>
                  </a:lnTo>
                  <a:cubicBezTo>
                    <a:pt x="625800" y="0"/>
                    <a:pt x="653729" y="27929"/>
                    <a:pt x="653729" y="62381"/>
                  </a:cubicBezTo>
                  <a:lnTo>
                    <a:pt x="653729" y="119574"/>
                  </a:lnTo>
                  <a:cubicBezTo>
                    <a:pt x="653729" y="154027"/>
                    <a:pt x="625800" y="181956"/>
                    <a:pt x="591348" y="181956"/>
                  </a:cubicBezTo>
                  <a:lnTo>
                    <a:pt x="62381" y="181956"/>
                  </a:lnTo>
                  <a:cubicBezTo>
                    <a:pt x="27929" y="181956"/>
                    <a:pt x="0" y="154027"/>
                    <a:pt x="0" y="119574"/>
                  </a:cubicBezTo>
                  <a:lnTo>
                    <a:pt x="0" y="62381"/>
                  </a:lnTo>
                  <a:cubicBezTo>
                    <a:pt x="0" y="27929"/>
                    <a:pt x="27929" y="0"/>
                    <a:pt x="62381" y="0"/>
                  </a:cubicBezTo>
                  <a:close/>
                </a:path>
              </a:pathLst>
            </a:custGeom>
            <a:solidFill>
              <a:srgbClr val="7ED957"/>
            </a:solidFill>
          </p:spPr>
        </p:sp>
        <p:sp>
          <p:nvSpPr>
            <p:cNvPr name="TextBox 11" id="11"/>
            <p:cNvSpPr txBox="true"/>
            <p:nvPr/>
          </p:nvSpPr>
          <p:spPr>
            <a:xfrm>
              <a:off x="0" y="9525"/>
              <a:ext cx="653729"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1. Perencanaan &amp; Analisis Kebutuhan</a:t>
              </a:r>
            </a:p>
          </p:txBody>
        </p:sp>
      </p:grpSp>
      <p:sp>
        <p:nvSpPr>
          <p:cNvPr name="AutoShape 12" id="12"/>
          <p:cNvSpPr/>
          <p:nvPr/>
        </p:nvSpPr>
        <p:spPr>
          <a:xfrm flipH="true">
            <a:off x="2494802" y="2656843"/>
            <a:ext cx="13635637" cy="58711"/>
          </a:xfrm>
          <a:prstGeom prst="line">
            <a:avLst/>
          </a:prstGeom>
          <a:ln cap="rnd" w="38100">
            <a:solidFill>
              <a:srgbClr val="000000"/>
            </a:solidFill>
            <a:prstDash val="solid"/>
            <a:headEnd type="none" len="sm" w="sm"/>
            <a:tailEnd type="arrow" len="sm" w="med"/>
          </a:ln>
        </p:spPr>
      </p:sp>
      <p:grpSp>
        <p:nvGrpSpPr>
          <p:cNvPr name="Group 13" id="13"/>
          <p:cNvGrpSpPr/>
          <p:nvPr/>
        </p:nvGrpSpPr>
        <p:grpSpPr>
          <a:xfrm rot="0">
            <a:off x="1480202" y="3725923"/>
            <a:ext cx="2029199" cy="690863"/>
            <a:chOff x="0" y="0"/>
            <a:chExt cx="534439" cy="181956"/>
          </a:xfrm>
        </p:grpSpPr>
        <p:sp>
          <p:nvSpPr>
            <p:cNvPr name="Freeform 14" id="14"/>
            <p:cNvSpPr/>
            <p:nvPr/>
          </p:nvSpPr>
          <p:spPr>
            <a:xfrm flipH="false" flipV="false" rot="0">
              <a:off x="0" y="0"/>
              <a:ext cx="534439" cy="181956"/>
            </a:xfrm>
            <a:custGeom>
              <a:avLst/>
              <a:gdLst/>
              <a:ahLst/>
              <a:cxnLst/>
              <a:rect r="r" b="b" t="t" l="l"/>
              <a:pathLst>
                <a:path h="181956" w="534439">
                  <a:moveTo>
                    <a:pt x="76305" y="0"/>
                  </a:moveTo>
                  <a:lnTo>
                    <a:pt x="458134" y="0"/>
                  </a:lnTo>
                  <a:cubicBezTo>
                    <a:pt x="500276" y="0"/>
                    <a:pt x="534439" y="34163"/>
                    <a:pt x="534439" y="76305"/>
                  </a:cubicBezTo>
                  <a:lnTo>
                    <a:pt x="534439" y="105650"/>
                  </a:lnTo>
                  <a:cubicBezTo>
                    <a:pt x="534439" y="147793"/>
                    <a:pt x="500276" y="181956"/>
                    <a:pt x="458134" y="181956"/>
                  </a:cubicBezTo>
                  <a:lnTo>
                    <a:pt x="76305" y="181956"/>
                  </a:lnTo>
                  <a:cubicBezTo>
                    <a:pt x="34163" y="181956"/>
                    <a:pt x="0" y="147793"/>
                    <a:pt x="0" y="105650"/>
                  </a:cubicBezTo>
                  <a:lnTo>
                    <a:pt x="0" y="76305"/>
                  </a:lnTo>
                  <a:cubicBezTo>
                    <a:pt x="0" y="34163"/>
                    <a:pt x="34163" y="0"/>
                    <a:pt x="76305" y="0"/>
                  </a:cubicBezTo>
                  <a:close/>
                </a:path>
              </a:pathLst>
            </a:custGeom>
            <a:solidFill>
              <a:srgbClr val="7ED957"/>
            </a:solidFill>
          </p:spPr>
        </p:sp>
        <p:sp>
          <p:nvSpPr>
            <p:cNvPr name="TextBox 15" id="15"/>
            <p:cNvSpPr txBox="true"/>
            <p:nvPr/>
          </p:nvSpPr>
          <p:spPr>
            <a:xfrm>
              <a:off x="0" y="9525"/>
              <a:ext cx="534439"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1.1 Pembentukan tim proyek</a:t>
              </a:r>
            </a:p>
          </p:txBody>
        </p:sp>
      </p:grpSp>
      <p:sp>
        <p:nvSpPr>
          <p:cNvPr name="AutoShape 16" id="16"/>
          <p:cNvSpPr/>
          <p:nvPr/>
        </p:nvSpPr>
        <p:spPr>
          <a:xfrm flipH="true">
            <a:off x="2494802" y="3406417"/>
            <a:ext cx="0" cy="319506"/>
          </a:xfrm>
          <a:prstGeom prst="line">
            <a:avLst/>
          </a:prstGeom>
          <a:ln cap="rnd" w="38100">
            <a:solidFill>
              <a:srgbClr val="000000"/>
            </a:solidFill>
            <a:prstDash val="solid"/>
            <a:headEnd type="none" len="sm" w="sm"/>
            <a:tailEnd type="arrow" len="sm" w="med"/>
          </a:ln>
        </p:spPr>
      </p:sp>
      <p:grpSp>
        <p:nvGrpSpPr>
          <p:cNvPr name="Group 17" id="17"/>
          <p:cNvGrpSpPr/>
          <p:nvPr/>
        </p:nvGrpSpPr>
        <p:grpSpPr>
          <a:xfrm rot="0">
            <a:off x="1109494" y="4740636"/>
            <a:ext cx="2770615" cy="980445"/>
            <a:chOff x="0" y="0"/>
            <a:chExt cx="729709" cy="258224"/>
          </a:xfrm>
        </p:grpSpPr>
        <p:sp>
          <p:nvSpPr>
            <p:cNvPr name="Freeform 18" id="18"/>
            <p:cNvSpPr/>
            <p:nvPr/>
          </p:nvSpPr>
          <p:spPr>
            <a:xfrm flipH="false" flipV="false" rot="0">
              <a:off x="0" y="0"/>
              <a:ext cx="729709" cy="258224"/>
            </a:xfrm>
            <a:custGeom>
              <a:avLst/>
              <a:gdLst/>
              <a:ahLst/>
              <a:cxnLst/>
              <a:rect r="r" b="b" t="t" l="l"/>
              <a:pathLst>
                <a:path h="258224" w="729709">
                  <a:moveTo>
                    <a:pt x="55886" y="0"/>
                  </a:moveTo>
                  <a:lnTo>
                    <a:pt x="673823" y="0"/>
                  </a:lnTo>
                  <a:cubicBezTo>
                    <a:pt x="704688" y="0"/>
                    <a:pt x="729709" y="25021"/>
                    <a:pt x="729709" y="55886"/>
                  </a:cubicBezTo>
                  <a:lnTo>
                    <a:pt x="729709" y="202338"/>
                  </a:lnTo>
                  <a:cubicBezTo>
                    <a:pt x="729709" y="217160"/>
                    <a:pt x="723821" y="231375"/>
                    <a:pt x="713341" y="241856"/>
                  </a:cubicBezTo>
                  <a:cubicBezTo>
                    <a:pt x="702860" y="252336"/>
                    <a:pt x="688645" y="258224"/>
                    <a:pt x="673823" y="258224"/>
                  </a:cubicBezTo>
                  <a:lnTo>
                    <a:pt x="55886" y="258224"/>
                  </a:lnTo>
                  <a:cubicBezTo>
                    <a:pt x="41064" y="258224"/>
                    <a:pt x="26849" y="252336"/>
                    <a:pt x="16369" y="241856"/>
                  </a:cubicBezTo>
                  <a:cubicBezTo>
                    <a:pt x="5888" y="231375"/>
                    <a:pt x="0" y="217160"/>
                    <a:pt x="0" y="202338"/>
                  </a:cubicBezTo>
                  <a:lnTo>
                    <a:pt x="0" y="55886"/>
                  </a:lnTo>
                  <a:cubicBezTo>
                    <a:pt x="0" y="41064"/>
                    <a:pt x="5888" y="26849"/>
                    <a:pt x="16369" y="16369"/>
                  </a:cubicBezTo>
                  <a:cubicBezTo>
                    <a:pt x="26849" y="5888"/>
                    <a:pt x="41064" y="0"/>
                    <a:pt x="55886" y="0"/>
                  </a:cubicBezTo>
                  <a:close/>
                </a:path>
              </a:pathLst>
            </a:custGeom>
            <a:solidFill>
              <a:srgbClr val="7ED957"/>
            </a:solidFill>
          </p:spPr>
        </p:sp>
        <p:sp>
          <p:nvSpPr>
            <p:cNvPr name="TextBox 19" id="19"/>
            <p:cNvSpPr txBox="true"/>
            <p:nvPr/>
          </p:nvSpPr>
          <p:spPr>
            <a:xfrm>
              <a:off x="0" y="9525"/>
              <a:ext cx="729709" cy="248699"/>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1.2 Observasi dan wawancara dengan pemilik Kedai Takosai</a:t>
              </a:r>
            </a:p>
          </p:txBody>
        </p:sp>
      </p:grpSp>
      <p:sp>
        <p:nvSpPr>
          <p:cNvPr name="AutoShape 20" id="20"/>
          <p:cNvSpPr/>
          <p:nvPr/>
        </p:nvSpPr>
        <p:spPr>
          <a:xfrm>
            <a:off x="2494802" y="4416786"/>
            <a:ext cx="0" cy="323850"/>
          </a:xfrm>
          <a:prstGeom prst="line">
            <a:avLst/>
          </a:prstGeom>
          <a:ln cap="rnd" w="38100">
            <a:solidFill>
              <a:srgbClr val="000000"/>
            </a:solidFill>
            <a:prstDash val="solid"/>
            <a:headEnd type="none" len="sm" w="sm"/>
            <a:tailEnd type="arrow" len="sm" w="med"/>
          </a:ln>
        </p:spPr>
      </p:sp>
      <p:grpSp>
        <p:nvGrpSpPr>
          <p:cNvPr name="Group 21" id="21"/>
          <p:cNvGrpSpPr/>
          <p:nvPr/>
        </p:nvGrpSpPr>
        <p:grpSpPr>
          <a:xfrm rot="0">
            <a:off x="1009705" y="6044931"/>
            <a:ext cx="2970193" cy="872826"/>
            <a:chOff x="0" y="0"/>
            <a:chExt cx="782273" cy="229880"/>
          </a:xfrm>
        </p:grpSpPr>
        <p:sp>
          <p:nvSpPr>
            <p:cNvPr name="Freeform 22" id="22"/>
            <p:cNvSpPr/>
            <p:nvPr/>
          </p:nvSpPr>
          <p:spPr>
            <a:xfrm flipH="false" flipV="false" rot="0">
              <a:off x="0" y="0"/>
              <a:ext cx="782273" cy="229880"/>
            </a:xfrm>
            <a:custGeom>
              <a:avLst/>
              <a:gdLst/>
              <a:ahLst/>
              <a:cxnLst/>
              <a:rect r="r" b="b" t="t" l="l"/>
              <a:pathLst>
                <a:path h="229880" w="782273">
                  <a:moveTo>
                    <a:pt x="52131" y="0"/>
                  </a:moveTo>
                  <a:lnTo>
                    <a:pt x="730142" y="0"/>
                  </a:lnTo>
                  <a:cubicBezTo>
                    <a:pt x="743968" y="0"/>
                    <a:pt x="757228" y="5492"/>
                    <a:pt x="767004" y="15269"/>
                  </a:cubicBezTo>
                  <a:cubicBezTo>
                    <a:pt x="776781" y="25045"/>
                    <a:pt x="782273" y="38305"/>
                    <a:pt x="782273" y="52131"/>
                  </a:cubicBezTo>
                  <a:lnTo>
                    <a:pt x="782273" y="177749"/>
                  </a:lnTo>
                  <a:cubicBezTo>
                    <a:pt x="782273" y="191575"/>
                    <a:pt x="776781" y="204835"/>
                    <a:pt x="767004" y="214611"/>
                  </a:cubicBezTo>
                  <a:cubicBezTo>
                    <a:pt x="757228" y="224388"/>
                    <a:pt x="743968" y="229880"/>
                    <a:pt x="730142" y="229880"/>
                  </a:cubicBezTo>
                  <a:lnTo>
                    <a:pt x="52131" y="229880"/>
                  </a:lnTo>
                  <a:cubicBezTo>
                    <a:pt x="38305" y="229880"/>
                    <a:pt x="25045" y="224388"/>
                    <a:pt x="15269" y="214611"/>
                  </a:cubicBezTo>
                  <a:cubicBezTo>
                    <a:pt x="5492" y="204835"/>
                    <a:pt x="0" y="191575"/>
                    <a:pt x="0" y="177749"/>
                  </a:cubicBezTo>
                  <a:lnTo>
                    <a:pt x="0" y="52131"/>
                  </a:lnTo>
                  <a:cubicBezTo>
                    <a:pt x="0" y="38305"/>
                    <a:pt x="5492" y="25045"/>
                    <a:pt x="15269" y="15269"/>
                  </a:cubicBezTo>
                  <a:cubicBezTo>
                    <a:pt x="25045" y="5492"/>
                    <a:pt x="38305" y="0"/>
                    <a:pt x="52131" y="0"/>
                  </a:cubicBezTo>
                  <a:close/>
                </a:path>
              </a:pathLst>
            </a:custGeom>
            <a:solidFill>
              <a:srgbClr val="7ED957"/>
            </a:solidFill>
          </p:spPr>
        </p:sp>
        <p:sp>
          <p:nvSpPr>
            <p:cNvPr name="TextBox 23" id="23"/>
            <p:cNvSpPr txBox="true"/>
            <p:nvPr/>
          </p:nvSpPr>
          <p:spPr>
            <a:xfrm>
              <a:off x="0" y="9525"/>
              <a:ext cx="782273"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1.3 Analisis alur transaksi kasir dan identifikasi masalah</a:t>
              </a:r>
            </a:p>
          </p:txBody>
        </p:sp>
      </p:grpSp>
      <p:sp>
        <p:nvSpPr>
          <p:cNvPr name="AutoShape 24" id="24"/>
          <p:cNvSpPr/>
          <p:nvPr/>
        </p:nvSpPr>
        <p:spPr>
          <a:xfrm flipH="true">
            <a:off x="2494802" y="5721081"/>
            <a:ext cx="0" cy="323850"/>
          </a:xfrm>
          <a:prstGeom prst="line">
            <a:avLst/>
          </a:prstGeom>
          <a:ln cap="rnd" w="38100">
            <a:solidFill>
              <a:srgbClr val="000000"/>
            </a:solidFill>
            <a:prstDash val="solid"/>
            <a:headEnd type="none" len="sm" w="sm"/>
            <a:tailEnd type="arrow" len="sm" w="med"/>
          </a:ln>
        </p:spPr>
      </p:sp>
      <p:grpSp>
        <p:nvGrpSpPr>
          <p:cNvPr name="Group 25" id="25"/>
          <p:cNvGrpSpPr/>
          <p:nvPr/>
        </p:nvGrpSpPr>
        <p:grpSpPr>
          <a:xfrm rot="0">
            <a:off x="1009705" y="7241606"/>
            <a:ext cx="2970193" cy="1082376"/>
            <a:chOff x="0" y="0"/>
            <a:chExt cx="782273" cy="285070"/>
          </a:xfrm>
        </p:grpSpPr>
        <p:sp>
          <p:nvSpPr>
            <p:cNvPr name="Freeform 26" id="26"/>
            <p:cNvSpPr/>
            <p:nvPr/>
          </p:nvSpPr>
          <p:spPr>
            <a:xfrm flipH="false" flipV="false" rot="0">
              <a:off x="0" y="0"/>
              <a:ext cx="782273" cy="285070"/>
            </a:xfrm>
            <a:custGeom>
              <a:avLst/>
              <a:gdLst/>
              <a:ahLst/>
              <a:cxnLst/>
              <a:rect r="r" b="b" t="t" l="l"/>
              <a:pathLst>
                <a:path h="285070" w="782273">
                  <a:moveTo>
                    <a:pt x="52131" y="0"/>
                  </a:moveTo>
                  <a:lnTo>
                    <a:pt x="730142" y="0"/>
                  </a:lnTo>
                  <a:cubicBezTo>
                    <a:pt x="743968" y="0"/>
                    <a:pt x="757228" y="5492"/>
                    <a:pt x="767004" y="15269"/>
                  </a:cubicBezTo>
                  <a:cubicBezTo>
                    <a:pt x="776781" y="25045"/>
                    <a:pt x="782273" y="38305"/>
                    <a:pt x="782273" y="52131"/>
                  </a:cubicBezTo>
                  <a:lnTo>
                    <a:pt x="782273" y="232939"/>
                  </a:lnTo>
                  <a:cubicBezTo>
                    <a:pt x="782273" y="246765"/>
                    <a:pt x="776781" y="260025"/>
                    <a:pt x="767004" y="269801"/>
                  </a:cubicBezTo>
                  <a:cubicBezTo>
                    <a:pt x="757228" y="279578"/>
                    <a:pt x="743968" y="285070"/>
                    <a:pt x="730142" y="285070"/>
                  </a:cubicBezTo>
                  <a:lnTo>
                    <a:pt x="52131" y="285070"/>
                  </a:lnTo>
                  <a:cubicBezTo>
                    <a:pt x="38305" y="285070"/>
                    <a:pt x="25045" y="279578"/>
                    <a:pt x="15269" y="269801"/>
                  </a:cubicBezTo>
                  <a:cubicBezTo>
                    <a:pt x="5492" y="260025"/>
                    <a:pt x="0" y="246765"/>
                    <a:pt x="0" y="232939"/>
                  </a:cubicBezTo>
                  <a:lnTo>
                    <a:pt x="0" y="52131"/>
                  </a:lnTo>
                  <a:cubicBezTo>
                    <a:pt x="0" y="38305"/>
                    <a:pt x="5492" y="25045"/>
                    <a:pt x="15269" y="15269"/>
                  </a:cubicBezTo>
                  <a:cubicBezTo>
                    <a:pt x="25045" y="5492"/>
                    <a:pt x="38305" y="0"/>
                    <a:pt x="52131" y="0"/>
                  </a:cubicBezTo>
                  <a:close/>
                </a:path>
              </a:pathLst>
            </a:custGeom>
            <a:solidFill>
              <a:srgbClr val="7ED957"/>
            </a:solidFill>
          </p:spPr>
        </p:sp>
        <p:sp>
          <p:nvSpPr>
            <p:cNvPr name="TextBox 27" id="27"/>
            <p:cNvSpPr txBox="true"/>
            <p:nvPr/>
          </p:nvSpPr>
          <p:spPr>
            <a:xfrm>
              <a:off x="0" y="9525"/>
              <a:ext cx="782273" cy="27554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1.4 Penentuan kebutuhan sistem dan fitur utama (CRUD menu, transaksi, laporan)</a:t>
              </a:r>
            </a:p>
          </p:txBody>
        </p:sp>
      </p:grpSp>
      <p:sp>
        <p:nvSpPr>
          <p:cNvPr name="AutoShape 28" id="28"/>
          <p:cNvSpPr/>
          <p:nvPr/>
        </p:nvSpPr>
        <p:spPr>
          <a:xfrm>
            <a:off x="2494802" y="6917756"/>
            <a:ext cx="0" cy="323850"/>
          </a:xfrm>
          <a:prstGeom prst="line">
            <a:avLst/>
          </a:prstGeom>
          <a:ln cap="rnd" w="38100">
            <a:solidFill>
              <a:srgbClr val="000000"/>
            </a:solidFill>
            <a:prstDash val="solid"/>
            <a:headEnd type="none" len="sm" w="sm"/>
            <a:tailEnd type="arrow" len="sm" w="med"/>
          </a:ln>
        </p:spPr>
      </p:sp>
      <p:grpSp>
        <p:nvGrpSpPr>
          <p:cNvPr name="Group 29" id="29"/>
          <p:cNvGrpSpPr/>
          <p:nvPr/>
        </p:nvGrpSpPr>
        <p:grpSpPr>
          <a:xfrm rot="0">
            <a:off x="1294089" y="8647832"/>
            <a:ext cx="2401424" cy="872826"/>
            <a:chOff x="0" y="0"/>
            <a:chExt cx="632474" cy="229880"/>
          </a:xfrm>
        </p:grpSpPr>
        <p:sp>
          <p:nvSpPr>
            <p:cNvPr name="Freeform 30" id="30"/>
            <p:cNvSpPr/>
            <p:nvPr/>
          </p:nvSpPr>
          <p:spPr>
            <a:xfrm flipH="false" flipV="false" rot="0">
              <a:off x="0" y="0"/>
              <a:ext cx="632474" cy="229880"/>
            </a:xfrm>
            <a:custGeom>
              <a:avLst/>
              <a:gdLst/>
              <a:ahLst/>
              <a:cxnLst/>
              <a:rect r="r" b="b" t="t" l="l"/>
              <a:pathLst>
                <a:path h="229880" w="632474">
                  <a:moveTo>
                    <a:pt x="64478" y="0"/>
                  </a:moveTo>
                  <a:lnTo>
                    <a:pt x="567996" y="0"/>
                  </a:lnTo>
                  <a:cubicBezTo>
                    <a:pt x="603606" y="0"/>
                    <a:pt x="632474" y="28868"/>
                    <a:pt x="632474" y="64478"/>
                  </a:cubicBezTo>
                  <a:lnTo>
                    <a:pt x="632474" y="165402"/>
                  </a:lnTo>
                  <a:cubicBezTo>
                    <a:pt x="632474" y="182503"/>
                    <a:pt x="625681" y="198903"/>
                    <a:pt x="613589" y="210995"/>
                  </a:cubicBezTo>
                  <a:cubicBezTo>
                    <a:pt x="601497" y="223087"/>
                    <a:pt x="585097" y="229880"/>
                    <a:pt x="567996" y="229880"/>
                  </a:cubicBezTo>
                  <a:lnTo>
                    <a:pt x="64478" y="229880"/>
                  </a:lnTo>
                  <a:cubicBezTo>
                    <a:pt x="28868" y="229880"/>
                    <a:pt x="0" y="201012"/>
                    <a:pt x="0" y="165402"/>
                  </a:cubicBezTo>
                  <a:lnTo>
                    <a:pt x="0" y="64478"/>
                  </a:lnTo>
                  <a:cubicBezTo>
                    <a:pt x="0" y="28868"/>
                    <a:pt x="28868" y="0"/>
                    <a:pt x="64478" y="0"/>
                  </a:cubicBezTo>
                  <a:close/>
                </a:path>
              </a:pathLst>
            </a:custGeom>
            <a:solidFill>
              <a:srgbClr val="7ED957"/>
            </a:solidFill>
          </p:spPr>
        </p:sp>
        <p:sp>
          <p:nvSpPr>
            <p:cNvPr name="TextBox 31" id="31"/>
            <p:cNvSpPr txBox="true"/>
            <p:nvPr/>
          </p:nvSpPr>
          <p:spPr>
            <a:xfrm>
              <a:off x="0" y="9525"/>
              <a:ext cx="632474"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1.5 Penyusunan dokumen Requirement Document</a:t>
              </a:r>
            </a:p>
          </p:txBody>
        </p:sp>
      </p:grpSp>
      <p:sp>
        <p:nvSpPr>
          <p:cNvPr name="AutoShape 32" id="32"/>
          <p:cNvSpPr/>
          <p:nvPr/>
        </p:nvSpPr>
        <p:spPr>
          <a:xfrm>
            <a:off x="2494802" y="8323982"/>
            <a:ext cx="0" cy="323850"/>
          </a:xfrm>
          <a:prstGeom prst="line">
            <a:avLst/>
          </a:prstGeom>
          <a:ln cap="rnd" w="38100">
            <a:solidFill>
              <a:srgbClr val="000000"/>
            </a:solidFill>
            <a:prstDash val="solid"/>
            <a:headEnd type="none" len="sm" w="sm"/>
            <a:tailEnd type="arrow" len="sm" w="med"/>
          </a:ln>
        </p:spPr>
      </p:sp>
      <p:grpSp>
        <p:nvGrpSpPr>
          <p:cNvPr name="Group 33" id="33"/>
          <p:cNvGrpSpPr/>
          <p:nvPr/>
        </p:nvGrpSpPr>
        <p:grpSpPr>
          <a:xfrm rot="0">
            <a:off x="4151348" y="2715554"/>
            <a:ext cx="2482128" cy="690863"/>
            <a:chOff x="0" y="0"/>
            <a:chExt cx="653729" cy="181956"/>
          </a:xfrm>
        </p:grpSpPr>
        <p:sp>
          <p:nvSpPr>
            <p:cNvPr name="Freeform 34" id="34"/>
            <p:cNvSpPr/>
            <p:nvPr/>
          </p:nvSpPr>
          <p:spPr>
            <a:xfrm flipH="false" flipV="false" rot="0">
              <a:off x="0" y="0"/>
              <a:ext cx="653729" cy="181956"/>
            </a:xfrm>
            <a:custGeom>
              <a:avLst/>
              <a:gdLst/>
              <a:ahLst/>
              <a:cxnLst/>
              <a:rect r="r" b="b" t="t" l="l"/>
              <a:pathLst>
                <a:path h="181956" w="653729">
                  <a:moveTo>
                    <a:pt x="62381" y="0"/>
                  </a:moveTo>
                  <a:lnTo>
                    <a:pt x="591348" y="0"/>
                  </a:lnTo>
                  <a:cubicBezTo>
                    <a:pt x="625800" y="0"/>
                    <a:pt x="653729" y="27929"/>
                    <a:pt x="653729" y="62381"/>
                  </a:cubicBezTo>
                  <a:lnTo>
                    <a:pt x="653729" y="119574"/>
                  </a:lnTo>
                  <a:cubicBezTo>
                    <a:pt x="653729" y="154027"/>
                    <a:pt x="625800" y="181956"/>
                    <a:pt x="591348" y="181956"/>
                  </a:cubicBezTo>
                  <a:lnTo>
                    <a:pt x="62381" y="181956"/>
                  </a:lnTo>
                  <a:cubicBezTo>
                    <a:pt x="27929" y="181956"/>
                    <a:pt x="0" y="154027"/>
                    <a:pt x="0" y="119574"/>
                  </a:cubicBezTo>
                  <a:lnTo>
                    <a:pt x="0" y="62381"/>
                  </a:lnTo>
                  <a:cubicBezTo>
                    <a:pt x="0" y="27929"/>
                    <a:pt x="27929" y="0"/>
                    <a:pt x="62381" y="0"/>
                  </a:cubicBezTo>
                  <a:close/>
                </a:path>
              </a:pathLst>
            </a:custGeom>
            <a:solidFill>
              <a:srgbClr val="5CE1E6"/>
            </a:solidFill>
          </p:spPr>
        </p:sp>
        <p:sp>
          <p:nvSpPr>
            <p:cNvPr name="TextBox 35" id="35"/>
            <p:cNvSpPr txBox="true"/>
            <p:nvPr/>
          </p:nvSpPr>
          <p:spPr>
            <a:xfrm>
              <a:off x="0" y="9525"/>
              <a:ext cx="653729"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2. Perancangan Prototype Awal</a:t>
              </a:r>
            </a:p>
          </p:txBody>
        </p:sp>
      </p:grpSp>
      <p:sp>
        <p:nvSpPr>
          <p:cNvPr name="AutoShape 36" id="36"/>
          <p:cNvSpPr/>
          <p:nvPr/>
        </p:nvSpPr>
        <p:spPr>
          <a:xfrm>
            <a:off x="5392412" y="2222373"/>
            <a:ext cx="0" cy="493181"/>
          </a:xfrm>
          <a:prstGeom prst="line">
            <a:avLst/>
          </a:prstGeom>
          <a:ln cap="rnd" w="38100">
            <a:solidFill>
              <a:srgbClr val="000000"/>
            </a:solidFill>
            <a:prstDash val="solid"/>
            <a:headEnd type="none" len="sm" w="sm"/>
            <a:tailEnd type="arrow" len="sm" w="med"/>
          </a:ln>
        </p:spPr>
      </p:sp>
      <p:grpSp>
        <p:nvGrpSpPr>
          <p:cNvPr name="Group 37" id="37"/>
          <p:cNvGrpSpPr/>
          <p:nvPr/>
        </p:nvGrpSpPr>
        <p:grpSpPr>
          <a:xfrm rot="0">
            <a:off x="4151348" y="3725923"/>
            <a:ext cx="2482128" cy="872826"/>
            <a:chOff x="0" y="0"/>
            <a:chExt cx="653729" cy="229880"/>
          </a:xfrm>
        </p:grpSpPr>
        <p:sp>
          <p:nvSpPr>
            <p:cNvPr name="Freeform 38" id="38"/>
            <p:cNvSpPr/>
            <p:nvPr/>
          </p:nvSpPr>
          <p:spPr>
            <a:xfrm flipH="false" flipV="false" rot="0">
              <a:off x="0" y="0"/>
              <a:ext cx="653729" cy="229880"/>
            </a:xfrm>
            <a:custGeom>
              <a:avLst/>
              <a:gdLst/>
              <a:ahLst/>
              <a:cxnLst/>
              <a:rect r="r" b="b" t="t" l="l"/>
              <a:pathLst>
                <a:path h="229880" w="653729">
                  <a:moveTo>
                    <a:pt x="62381" y="0"/>
                  </a:moveTo>
                  <a:lnTo>
                    <a:pt x="591348" y="0"/>
                  </a:lnTo>
                  <a:cubicBezTo>
                    <a:pt x="625800" y="0"/>
                    <a:pt x="653729" y="27929"/>
                    <a:pt x="653729" y="62381"/>
                  </a:cubicBezTo>
                  <a:lnTo>
                    <a:pt x="653729" y="167499"/>
                  </a:lnTo>
                  <a:cubicBezTo>
                    <a:pt x="653729" y="201951"/>
                    <a:pt x="625800" y="229880"/>
                    <a:pt x="591348" y="229880"/>
                  </a:cubicBezTo>
                  <a:lnTo>
                    <a:pt x="62381" y="229880"/>
                  </a:lnTo>
                  <a:cubicBezTo>
                    <a:pt x="27929" y="229880"/>
                    <a:pt x="0" y="201951"/>
                    <a:pt x="0" y="167499"/>
                  </a:cubicBezTo>
                  <a:lnTo>
                    <a:pt x="0" y="62381"/>
                  </a:lnTo>
                  <a:cubicBezTo>
                    <a:pt x="0" y="27929"/>
                    <a:pt x="27929" y="0"/>
                    <a:pt x="62381" y="0"/>
                  </a:cubicBezTo>
                  <a:close/>
                </a:path>
              </a:pathLst>
            </a:custGeom>
            <a:solidFill>
              <a:srgbClr val="5CE1E6"/>
            </a:solidFill>
          </p:spPr>
        </p:sp>
        <p:sp>
          <p:nvSpPr>
            <p:cNvPr name="TextBox 39" id="39"/>
            <p:cNvSpPr txBox="true"/>
            <p:nvPr/>
          </p:nvSpPr>
          <p:spPr>
            <a:xfrm>
              <a:off x="0" y="9525"/>
              <a:ext cx="653729"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2.1 Pembuatan rancangan arsitektur sistem sederhana</a:t>
              </a:r>
            </a:p>
          </p:txBody>
        </p:sp>
      </p:grpSp>
      <p:sp>
        <p:nvSpPr>
          <p:cNvPr name="AutoShape 40" id="40"/>
          <p:cNvSpPr/>
          <p:nvPr/>
        </p:nvSpPr>
        <p:spPr>
          <a:xfrm flipH="true">
            <a:off x="5392412" y="3406417"/>
            <a:ext cx="0" cy="319506"/>
          </a:xfrm>
          <a:prstGeom prst="line">
            <a:avLst/>
          </a:prstGeom>
          <a:ln cap="rnd" w="38100">
            <a:solidFill>
              <a:srgbClr val="000000"/>
            </a:solidFill>
            <a:prstDash val="solid"/>
            <a:headEnd type="none" len="sm" w="sm"/>
            <a:tailEnd type="arrow" len="sm" w="med"/>
          </a:ln>
        </p:spPr>
      </p:sp>
      <p:grpSp>
        <p:nvGrpSpPr>
          <p:cNvPr name="Group 41" id="41"/>
          <p:cNvGrpSpPr/>
          <p:nvPr/>
        </p:nvGrpSpPr>
        <p:grpSpPr>
          <a:xfrm rot="0">
            <a:off x="4151348" y="4922599"/>
            <a:ext cx="2482128" cy="980445"/>
            <a:chOff x="0" y="0"/>
            <a:chExt cx="653729" cy="258224"/>
          </a:xfrm>
        </p:grpSpPr>
        <p:sp>
          <p:nvSpPr>
            <p:cNvPr name="Freeform 42" id="42"/>
            <p:cNvSpPr/>
            <p:nvPr/>
          </p:nvSpPr>
          <p:spPr>
            <a:xfrm flipH="false" flipV="false" rot="0">
              <a:off x="0" y="0"/>
              <a:ext cx="653729" cy="258224"/>
            </a:xfrm>
            <a:custGeom>
              <a:avLst/>
              <a:gdLst/>
              <a:ahLst/>
              <a:cxnLst/>
              <a:rect r="r" b="b" t="t" l="l"/>
              <a:pathLst>
                <a:path h="258224" w="653729">
                  <a:moveTo>
                    <a:pt x="62381" y="0"/>
                  </a:moveTo>
                  <a:lnTo>
                    <a:pt x="591348" y="0"/>
                  </a:lnTo>
                  <a:cubicBezTo>
                    <a:pt x="625800" y="0"/>
                    <a:pt x="653729" y="27929"/>
                    <a:pt x="653729" y="62381"/>
                  </a:cubicBezTo>
                  <a:lnTo>
                    <a:pt x="653729" y="195843"/>
                  </a:lnTo>
                  <a:cubicBezTo>
                    <a:pt x="653729" y="212387"/>
                    <a:pt x="647157" y="228254"/>
                    <a:pt x="635458" y="239953"/>
                  </a:cubicBezTo>
                  <a:cubicBezTo>
                    <a:pt x="623759" y="251652"/>
                    <a:pt x="607892" y="258224"/>
                    <a:pt x="591348" y="258224"/>
                  </a:cubicBezTo>
                  <a:lnTo>
                    <a:pt x="62381" y="258224"/>
                  </a:lnTo>
                  <a:cubicBezTo>
                    <a:pt x="27929" y="258224"/>
                    <a:pt x="0" y="230295"/>
                    <a:pt x="0" y="195843"/>
                  </a:cubicBezTo>
                  <a:lnTo>
                    <a:pt x="0" y="62381"/>
                  </a:lnTo>
                  <a:cubicBezTo>
                    <a:pt x="0" y="27929"/>
                    <a:pt x="27929" y="0"/>
                    <a:pt x="62381" y="0"/>
                  </a:cubicBezTo>
                  <a:close/>
                </a:path>
              </a:pathLst>
            </a:custGeom>
            <a:solidFill>
              <a:srgbClr val="5CE1E6"/>
            </a:solidFill>
          </p:spPr>
        </p:sp>
        <p:sp>
          <p:nvSpPr>
            <p:cNvPr name="TextBox 43" id="43"/>
            <p:cNvSpPr txBox="true"/>
            <p:nvPr/>
          </p:nvSpPr>
          <p:spPr>
            <a:xfrm>
              <a:off x="0" y="9525"/>
              <a:ext cx="653729" cy="248699"/>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2.2 Desain struktur database (menu, transaksi, laporan)</a:t>
              </a:r>
            </a:p>
          </p:txBody>
        </p:sp>
      </p:grpSp>
      <p:sp>
        <p:nvSpPr>
          <p:cNvPr name="AutoShape 44" id="44"/>
          <p:cNvSpPr/>
          <p:nvPr/>
        </p:nvSpPr>
        <p:spPr>
          <a:xfrm>
            <a:off x="5392412" y="4598749"/>
            <a:ext cx="0" cy="323850"/>
          </a:xfrm>
          <a:prstGeom prst="line">
            <a:avLst/>
          </a:prstGeom>
          <a:ln cap="rnd" w="38100">
            <a:solidFill>
              <a:srgbClr val="000000"/>
            </a:solidFill>
            <a:prstDash val="solid"/>
            <a:headEnd type="none" len="sm" w="sm"/>
            <a:tailEnd type="arrow" len="sm" w="med"/>
          </a:ln>
        </p:spPr>
      </p:sp>
      <p:grpSp>
        <p:nvGrpSpPr>
          <p:cNvPr name="Group 45" id="45"/>
          <p:cNvGrpSpPr/>
          <p:nvPr/>
        </p:nvGrpSpPr>
        <p:grpSpPr>
          <a:xfrm rot="0">
            <a:off x="4151348" y="6226894"/>
            <a:ext cx="2482128" cy="980445"/>
            <a:chOff x="0" y="0"/>
            <a:chExt cx="653729" cy="258224"/>
          </a:xfrm>
        </p:grpSpPr>
        <p:sp>
          <p:nvSpPr>
            <p:cNvPr name="Freeform 46" id="46"/>
            <p:cNvSpPr/>
            <p:nvPr/>
          </p:nvSpPr>
          <p:spPr>
            <a:xfrm flipH="false" flipV="false" rot="0">
              <a:off x="0" y="0"/>
              <a:ext cx="653729" cy="258224"/>
            </a:xfrm>
            <a:custGeom>
              <a:avLst/>
              <a:gdLst/>
              <a:ahLst/>
              <a:cxnLst/>
              <a:rect r="r" b="b" t="t" l="l"/>
              <a:pathLst>
                <a:path h="258224" w="653729">
                  <a:moveTo>
                    <a:pt x="62381" y="0"/>
                  </a:moveTo>
                  <a:lnTo>
                    <a:pt x="591348" y="0"/>
                  </a:lnTo>
                  <a:cubicBezTo>
                    <a:pt x="625800" y="0"/>
                    <a:pt x="653729" y="27929"/>
                    <a:pt x="653729" y="62381"/>
                  </a:cubicBezTo>
                  <a:lnTo>
                    <a:pt x="653729" y="195843"/>
                  </a:lnTo>
                  <a:cubicBezTo>
                    <a:pt x="653729" y="212387"/>
                    <a:pt x="647157" y="228254"/>
                    <a:pt x="635458" y="239953"/>
                  </a:cubicBezTo>
                  <a:cubicBezTo>
                    <a:pt x="623759" y="251652"/>
                    <a:pt x="607892" y="258224"/>
                    <a:pt x="591348" y="258224"/>
                  </a:cubicBezTo>
                  <a:lnTo>
                    <a:pt x="62381" y="258224"/>
                  </a:lnTo>
                  <a:cubicBezTo>
                    <a:pt x="27929" y="258224"/>
                    <a:pt x="0" y="230295"/>
                    <a:pt x="0" y="195843"/>
                  </a:cubicBezTo>
                  <a:lnTo>
                    <a:pt x="0" y="62381"/>
                  </a:lnTo>
                  <a:cubicBezTo>
                    <a:pt x="0" y="27929"/>
                    <a:pt x="27929" y="0"/>
                    <a:pt x="62381" y="0"/>
                  </a:cubicBezTo>
                  <a:close/>
                </a:path>
              </a:pathLst>
            </a:custGeom>
            <a:solidFill>
              <a:srgbClr val="5CE1E6"/>
            </a:solidFill>
          </p:spPr>
        </p:sp>
        <p:sp>
          <p:nvSpPr>
            <p:cNvPr name="TextBox 47" id="47"/>
            <p:cNvSpPr txBox="true"/>
            <p:nvPr/>
          </p:nvSpPr>
          <p:spPr>
            <a:xfrm>
              <a:off x="0" y="9525"/>
              <a:ext cx="653729" cy="248699"/>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2.3 Pembuatan desain antarmuka (UI/UX)</a:t>
              </a:r>
            </a:p>
          </p:txBody>
        </p:sp>
      </p:grpSp>
      <p:sp>
        <p:nvSpPr>
          <p:cNvPr name="AutoShape 48" id="48"/>
          <p:cNvSpPr/>
          <p:nvPr/>
        </p:nvSpPr>
        <p:spPr>
          <a:xfrm flipH="true">
            <a:off x="5392412" y="5903044"/>
            <a:ext cx="0" cy="323850"/>
          </a:xfrm>
          <a:prstGeom prst="line">
            <a:avLst/>
          </a:prstGeom>
          <a:ln cap="rnd" w="38100">
            <a:solidFill>
              <a:srgbClr val="000000"/>
            </a:solidFill>
            <a:prstDash val="solid"/>
            <a:headEnd type="none" len="sm" w="sm"/>
            <a:tailEnd type="arrow" len="sm" w="med"/>
          </a:ln>
        </p:spPr>
      </p:sp>
      <p:grpSp>
        <p:nvGrpSpPr>
          <p:cNvPr name="Group 49" id="49"/>
          <p:cNvGrpSpPr/>
          <p:nvPr/>
        </p:nvGrpSpPr>
        <p:grpSpPr>
          <a:xfrm rot="0">
            <a:off x="4151348" y="7531188"/>
            <a:ext cx="2482128" cy="980445"/>
            <a:chOff x="0" y="0"/>
            <a:chExt cx="653729" cy="258224"/>
          </a:xfrm>
        </p:grpSpPr>
        <p:sp>
          <p:nvSpPr>
            <p:cNvPr name="Freeform 50" id="50"/>
            <p:cNvSpPr/>
            <p:nvPr/>
          </p:nvSpPr>
          <p:spPr>
            <a:xfrm flipH="false" flipV="false" rot="0">
              <a:off x="0" y="0"/>
              <a:ext cx="653729" cy="258224"/>
            </a:xfrm>
            <a:custGeom>
              <a:avLst/>
              <a:gdLst/>
              <a:ahLst/>
              <a:cxnLst/>
              <a:rect r="r" b="b" t="t" l="l"/>
              <a:pathLst>
                <a:path h="258224" w="653729">
                  <a:moveTo>
                    <a:pt x="62381" y="0"/>
                  </a:moveTo>
                  <a:lnTo>
                    <a:pt x="591348" y="0"/>
                  </a:lnTo>
                  <a:cubicBezTo>
                    <a:pt x="625800" y="0"/>
                    <a:pt x="653729" y="27929"/>
                    <a:pt x="653729" y="62381"/>
                  </a:cubicBezTo>
                  <a:lnTo>
                    <a:pt x="653729" y="195843"/>
                  </a:lnTo>
                  <a:cubicBezTo>
                    <a:pt x="653729" y="212387"/>
                    <a:pt x="647157" y="228254"/>
                    <a:pt x="635458" y="239953"/>
                  </a:cubicBezTo>
                  <a:cubicBezTo>
                    <a:pt x="623759" y="251652"/>
                    <a:pt x="607892" y="258224"/>
                    <a:pt x="591348" y="258224"/>
                  </a:cubicBezTo>
                  <a:lnTo>
                    <a:pt x="62381" y="258224"/>
                  </a:lnTo>
                  <a:cubicBezTo>
                    <a:pt x="27929" y="258224"/>
                    <a:pt x="0" y="230295"/>
                    <a:pt x="0" y="195843"/>
                  </a:cubicBezTo>
                  <a:lnTo>
                    <a:pt x="0" y="62381"/>
                  </a:lnTo>
                  <a:cubicBezTo>
                    <a:pt x="0" y="27929"/>
                    <a:pt x="27929" y="0"/>
                    <a:pt x="62381" y="0"/>
                  </a:cubicBezTo>
                  <a:close/>
                </a:path>
              </a:pathLst>
            </a:custGeom>
            <a:solidFill>
              <a:srgbClr val="5CE1E6"/>
            </a:solidFill>
          </p:spPr>
        </p:sp>
        <p:sp>
          <p:nvSpPr>
            <p:cNvPr name="TextBox 51" id="51"/>
            <p:cNvSpPr txBox="true"/>
            <p:nvPr/>
          </p:nvSpPr>
          <p:spPr>
            <a:xfrm>
              <a:off x="0" y="9525"/>
              <a:ext cx="653729" cy="248699"/>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2.4 Pengembangan mockup dan alur navigasi halaman</a:t>
              </a:r>
            </a:p>
          </p:txBody>
        </p:sp>
      </p:grpSp>
      <p:sp>
        <p:nvSpPr>
          <p:cNvPr name="AutoShape 52" id="52"/>
          <p:cNvSpPr/>
          <p:nvPr/>
        </p:nvSpPr>
        <p:spPr>
          <a:xfrm>
            <a:off x="5392412" y="7207338"/>
            <a:ext cx="0" cy="323850"/>
          </a:xfrm>
          <a:prstGeom prst="line">
            <a:avLst/>
          </a:prstGeom>
          <a:ln cap="rnd" w="38100">
            <a:solidFill>
              <a:srgbClr val="000000"/>
            </a:solidFill>
            <a:prstDash val="solid"/>
            <a:headEnd type="none" len="sm" w="sm"/>
            <a:tailEnd type="arrow" len="sm" w="med"/>
          </a:ln>
        </p:spPr>
      </p:sp>
      <p:grpSp>
        <p:nvGrpSpPr>
          <p:cNvPr name="Group 53" id="53"/>
          <p:cNvGrpSpPr/>
          <p:nvPr/>
        </p:nvGrpSpPr>
        <p:grpSpPr>
          <a:xfrm rot="0">
            <a:off x="4151348" y="8835483"/>
            <a:ext cx="2482128" cy="1082376"/>
            <a:chOff x="0" y="0"/>
            <a:chExt cx="653729" cy="285070"/>
          </a:xfrm>
        </p:grpSpPr>
        <p:sp>
          <p:nvSpPr>
            <p:cNvPr name="Freeform 54" id="54"/>
            <p:cNvSpPr/>
            <p:nvPr/>
          </p:nvSpPr>
          <p:spPr>
            <a:xfrm flipH="false" flipV="false" rot="0">
              <a:off x="0" y="0"/>
              <a:ext cx="653729" cy="285070"/>
            </a:xfrm>
            <a:custGeom>
              <a:avLst/>
              <a:gdLst/>
              <a:ahLst/>
              <a:cxnLst/>
              <a:rect r="r" b="b" t="t" l="l"/>
              <a:pathLst>
                <a:path h="285070" w="653729">
                  <a:moveTo>
                    <a:pt x="62381" y="0"/>
                  </a:moveTo>
                  <a:lnTo>
                    <a:pt x="591348" y="0"/>
                  </a:lnTo>
                  <a:cubicBezTo>
                    <a:pt x="625800" y="0"/>
                    <a:pt x="653729" y="27929"/>
                    <a:pt x="653729" y="62381"/>
                  </a:cubicBezTo>
                  <a:lnTo>
                    <a:pt x="653729" y="222689"/>
                  </a:lnTo>
                  <a:cubicBezTo>
                    <a:pt x="653729" y="257141"/>
                    <a:pt x="625800" y="285070"/>
                    <a:pt x="591348" y="285070"/>
                  </a:cubicBezTo>
                  <a:lnTo>
                    <a:pt x="62381" y="285070"/>
                  </a:lnTo>
                  <a:cubicBezTo>
                    <a:pt x="27929" y="285070"/>
                    <a:pt x="0" y="257141"/>
                    <a:pt x="0" y="222689"/>
                  </a:cubicBezTo>
                  <a:lnTo>
                    <a:pt x="0" y="62381"/>
                  </a:lnTo>
                  <a:cubicBezTo>
                    <a:pt x="0" y="27929"/>
                    <a:pt x="27929" y="0"/>
                    <a:pt x="62381" y="0"/>
                  </a:cubicBezTo>
                  <a:close/>
                </a:path>
              </a:pathLst>
            </a:custGeom>
            <a:solidFill>
              <a:srgbClr val="5CE1E6"/>
            </a:solidFill>
          </p:spPr>
        </p:sp>
        <p:sp>
          <p:nvSpPr>
            <p:cNvPr name="TextBox 55" id="55"/>
            <p:cNvSpPr txBox="true"/>
            <p:nvPr/>
          </p:nvSpPr>
          <p:spPr>
            <a:xfrm>
              <a:off x="0" y="9525"/>
              <a:ext cx="653729" cy="27554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2.5 Pembuatan prototype awal (frontend dasar + simulasi fitur CRUD)</a:t>
              </a:r>
            </a:p>
          </p:txBody>
        </p:sp>
      </p:grpSp>
      <p:sp>
        <p:nvSpPr>
          <p:cNvPr name="AutoShape 56" id="56"/>
          <p:cNvSpPr/>
          <p:nvPr/>
        </p:nvSpPr>
        <p:spPr>
          <a:xfrm>
            <a:off x="5392412" y="8511633"/>
            <a:ext cx="0" cy="323850"/>
          </a:xfrm>
          <a:prstGeom prst="line">
            <a:avLst/>
          </a:prstGeom>
          <a:ln cap="rnd" w="38100">
            <a:solidFill>
              <a:srgbClr val="000000"/>
            </a:solidFill>
            <a:prstDash val="solid"/>
            <a:headEnd type="none" len="sm" w="sm"/>
            <a:tailEnd type="arrow" len="sm" w="med"/>
          </a:ln>
        </p:spPr>
      </p:sp>
      <p:grpSp>
        <p:nvGrpSpPr>
          <p:cNvPr name="Group 57" id="57"/>
          <p:cNvGrpSpPr/>
          <p:nvPr/>
        </p:nvGrpSpPr>
        <p:grpSpPr>
          <a:xfrm rot="0">
            <a:off x="7209011" y="2715554"/>
            <a:ext cx="1909966" cy="690863"/>
            <a:chOff x="0" y="0"/>
            <a:chExt cx="503036" cy="181956"/>
          </a:xfrm>
        </p:grpSpPr>
        <p:sp>
          <p:nvSpPr>
            <p:cNvPr name="Freeform 58" id="58"/>
            <p:cNvSpPr/>
            <p:nvPr/>
          </p:nvSpPr>
          <p:spPr>
            <a:xfrm flipH="false" flipV="false" rot="0">
              <a:off x="0" y="0"/>
              <a:ext cx="503036" cy="181956"/>
            </a:xfrm>
            <a:custGeom>
              <a:avLst/>
              <a:gdLst/>
              <a:ahLst/>
              <a:cxnLst/>
              <a:rect r="r" b="b" t="t" l="l"/>
              <a:pathLst>
                <a:path h="181956" w="503036">
                  <a:moveTo>
                    <a:pt x="81069" y="0"/>
                  </a:moveTo>
                  <a:lnTo>
                    <a:pt x="421968" y="0"/>
                  </a:lnTo>
                  <a:cubicBezTo>
                    <a:pt x="443468" y="0"/>
                    <a:pt x="464088" y="8541"/>
                    <a:pt x="479292" y="23744"/>
                  </a:cubicBezTo>
                  <a:cubicBezTo>
                    <a:pt x="494495" y="38948"/>
                    <a:pt x="503036" y="59568"/>
                    <a:pt x="503036" y="81069"/>
                  </a:cubicBezTo>
                  <a:lnTo>
                    <a:pt x="503036" y="100887"/>
                  </a:lnTo>
                  <a:cubicBezTo>
                    <a:pt x="503036" y="122388"/>
                    <a:pt x="494495" y="143008"/>
                    <a:pt x="479292" y="158211"/>
                  </a:cubicBezTo>
                  <a:cubicBezTo>
                    <a:pt x="464088" y="173414"/>
                    <a:pt x="443468" y="181956"/>
                    <a:pt x="421968" y="181956"/>
                  </a:cubicBezTo>
                  <a:lnTo>
                    <a:pt x="81069" y="181956"/>
                  </a:lnTo>
                  <a:cubicBezTo>
                    <a:pt x="59568" y="181956"/>
                    <a:pt x="38948" y="173414"/>
                    <a:pt x="23744" y="158211"/>
                  </a:cubicBezTo>
                  <a:cubicBezTo>
                    <a:pt x="8541" y="143008"/>
                    <a:pt x="0" y="122388"/>
                    <a:pt x="0" y="100887"/>
                  </a:cubicBezTo>
                  <a:lnTo>
                    <a:pt x="0" y="81069"/>
                  </a:lnTo>
                  <a:cubicBezTo>
                    <a:pt x="0" y="59568"/>
                    <a:pt x="8541" y="38948"/>
                    <a:pt x="23744" y="23744"/>
                  </a:cubicBezTo>
                  <a:cubicBezTo>
                    <a:pt x="38948" y="8541"/>
                    <a:pt x="59568" y="0"/>
                    <a:pt x="81069" y="0"/>
                  </a:cubicBezTo>
                  <a:close/>
                </a:path>
              </a:pathLst>
            </a:custGeom>
            <a:solidFill>
              <a:srgbClr val="38B6FF"/>
            </a:solidFill>
          </p:spPr>
        </p:sp>
        <p:sp>
          <p:nvSpPr>
            <p:cNvPr name="TextBox 59" id="59"/>
            <p:cNvSpPr txBox="true"/>
            <p:nvPr/>
          </p:nvSpPr>
          <p:spPr>
            <a:xfrm>
              <a:off x="0" y="9525"/>
              <a:ext cx="503036"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3. Evaluasi Prototype Awal</a:t>
              </a:r>
            </a:p>
          </p:txBody>
        </p:sp>
      </p:grpSp>
      <p:sp>
        <p:nvSpPr>
          <p:cNvPr name="AutoShape 60" id="60"/>
          <p:cNvSpPr/>
          <p:nvPr/>
        </p:nvSpPr>
        <p:spPr>
          <a:xfrm>
            <a:off x="8163994" y="2222373"/>
            <a:ext cx="0" cy="493181"/>
          </a:xfrm>
          <a:prstGeom prst="line">
            <a:avLst/>
          </a:prstGeom>
          <a:ln cap="rnd" w="38100">
            <a:solidFill>
              <a:srgbClr val="000000"/>
            </a:solidFill>
            <a:prstDash val="solid"/>
            <a:headEnd type="none" len="sm" w="sm"/>
            <a:tailEnd type="arrow" len="sm" w="med"/>
          </a:ln>
        </p:spPr>
      </p:sp>
      <p:grpSp>
        <p:nvGrpSpPr>
          <p:cNvPr name="Group 61" id="61"/>
          <p:cNvGrpSpPr/>
          <p:nvPr/>
        </p:nvGrpSpPr>
        <p:grpSpPr>
          <a:xfrm rot="0">
            <a:off x="6804926" y="3725923"/>
            <a:ext cx="2718135" cy="872826"/>
            <a:chOff x="0" y="0"/>
            <a:chExt cx="715888" cy="229880"/>
          </a:xfrm>
        </p:grpSpPr>
        <p:sp>
          <p:nvSpPr>
            <p:cNvPr name="Freeform 62" id="62"/>
            <p:cNvSpPr/>
            <p:nvPr/>
          </p:nvSpPr>
          <p:spPr>
            <a:xfrm flipH="false" flipV="false" rot="0">
              <a:off x="0" y="0"/>
              <a:ext cx="715888" cy="229880"/>
            </a:xfrm>
            <a:custGeom>
              <a:avLst/>
              <a:gdLst/>
              <a:ahLst/>
              <a:cxnLst/>
              <a:rect r="r" b="b" t="t" l="l"/>
              <a:pathLst>
                <a:path h="229880" w="715888">
                  <a:moveTo>
                    <a:pt x="56965" y="0"/>
                  </a:moveTo>
                  <a:lnTo>
                    <a:pt x="658923" y="0"/>
                  </a:lnTo>
                  <a:cubicBezTo>
                    <a:pt x="690383" y="0"/>
                    <a:pt x="715888" y="25504"/>
                    <a:pt x="715888" y="56965"/>
                  </a:cubicBezTo>
                  <a:lnTo>
                    <a:pt x="715888" y="172915"/>
                  </a:lnTo>
                  <a:cubicBezTo>
                    <a:pt x="715888" y="204376"/>
                    <a:pt x="690383" y="229880"/>
                    <a:pt x="658923" y="229880"/>
                  </a:cubicBezTo>
                  <a:lnTo>
                    <a:pt x="56965" y="229880"/>
                  </a:lnTo>
                  <a:cubicBezTo>
                    <a:pt x="25504" y="229880"/>
                    <a:pt x="0" y="204376"/>
                    <a:pt x="0" y="172915"/>
                  </a:cubicBezTo>
                  <a:lnTo>
                    <a:pt x="0" y="56965"/>
                  </a:lnTo>
                  <a:cubicBezTo>
                    <a:pt x="0" y="25504"/>
                    <a:pt x="25504" y="0"/>
                    <a:pt x="56965" y="0"/>
                  </a:cubicBezTo>
                  <a:close/>
                </a:path>
              </a:pathLst>
            </a:custGeom>
            <a:solidFill>
              <a:srgbClr val="38B6FF"/>
            </a:solidFill>
          </p:spPr>
        </p:sp>
        <p:sp>
          <p:nvSpPr>
            <p:cNvPr name="TextBox 63" id="63"/>
            <p:cNvSpPr txBox="true"/>
            <p:nvPr/>
          </p:nvSpPr>
          <p:spPr>
            <a:xfrm>
              <a:off x="0" y="9525"/>
              <a:ext cx="715888"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3.1 Presentasi prototype kepada klien (pemilik Kedai Takosai)</a:t>
              </a:r>
            </a:p>
          </p:txBody>
        </p:sp>
      </p:grpSp>
      <p:sp>
        <p:nvSpPr>
          <p:cNvPr name="AutoShape 64" id="64"/>
          <p:cNvSpPr/>
          <p:nvPr/>
        </p:nvSpPr>
        <p:spPr>
          <a:xfrm>
            <a:off x="8163994" y="3406417"/>
            <a:ext cx="0" cy="319506"/>
          </a:xfrm>
          <a:prstGeom prst="line">
            <a:avLst/>
          </a:prstGeom>
          <a:ln cap="rnd" w="38100">
            <a:solidFill>
              <a:srgbClr val="000000"/>
            </a:solidFill>
            <a:prstDash val="solid"/>
            <a:headEnd type="none" len="sm" w="sm"/>
            <a:tailEnd type="arrow" len="sm" w="med"/>
          </a:ln>
        </p:spPr>
      </p:sp>
      <p:grpSp>
        <p:nvGrpSpPr>
          <p:cNvPr name="Group 65" id="65"/>
          <p:cNvGrpSpPr/>
          <p:nvPr/>
        </p:nvGrpSpPr>
        <p:grpSpPr>
          <a:xfrm rot="0">
            <a:off x="7006968" y="4922599"/>
            <a:ext cx="2314051" cy="872826"/>
            <a:chOff x="0" y="0"/>
            <a:chExt cx="609462" cy="229880"/>
          </a:xfrm>
        </p:grpSpPr>
        <p:sp>
          <p:nvSpPr>
            <p:cNvPr name="Freeform 66" id="66"/>
            <p:cNvSpPr/>
            <p:nvPr/>
          </p:nvSpPr>
          <p:spPr>
            <a:xfrm flipH="false" flipV="false" rot="0">
              <a:off x="0" y="0"/>
              <a:ext cx="609462" cy="229880"/>
            </a:xfrm>
            <a:custGeom>
              <a:avLst/>
              <a:gdLst/>
              <a:ahLst/>
              <a:cxnLst/>
              <a:rect r="r" b="b" t="t" l="l"/>
              <a:pathLst>
                <a:path h="229880" w="609462">
                  <a:moveTo>
                    <a:pt x="66912" y="0"/>
                  </a:moveTo>
                  <a:lnTo>
                    <a:pt x="542550" y="0"/>
                  </a:lnTo>
                  <a:cubicBezTo>
                    <a:pt x="579504" y="0"/>
                    <a:pt x="609462" y="29958"/>
                    <a:pt x="609462" y="66912"/>
                  </a:cubicBezTo>
                  <a:lnTo>
                    <a:pt x="609462" y="162968"/>
                  </a:lnTo>
                  <a:cubicBezTo>
                    <a:pt x="609462" y="199922"/>
                    <a:pt x="579504" y="229880"/>
                    <a:pt x="542550" y="229880"/>
                  </a:cubicBezTo>
                  <a:lnTo>
                    <a:pt x="66912" y="229880"/>
                  </a:lnTo>
                  <a:cubicBezTo>
                    <a:pt x="29958" y="229880"/>
                    <a:pt x="0" y="199922"/>
                    <a:pt x="0" y="162968"/>
                  </a:cubicBezTo>
                  <a:lnTo>
                    <a:pt x="0" y="66912"/>
                  </a:lnTo>
                  <a:cubicBezTo>
                    <a:pt x="0" y="29958"/>
                    <a:pt x="29958" y="0"/>
                    <a:pt x="66912" y="0"/>
                  </a:cubicBezTo>
                  <a:close/>
                </a:path>
              </a:pathLst>
            </a:custGeom>
            <a:solidFill>
              <a:srgbClr val="38B6FF"/>
            </a:solidFill>
          </p:spPr>
        </p:sp>
        <p:sp>
          <p:nvSpPr>
            <p:cNvPr name="TextBox 67" id="67"/>
            <p:cNvSpPr txBox="true"/>
            <p:nvPr/>
          </p:nvSpPr>
          <p:spPr>
            <a:xfrm>
              <a:off x="0" y="9525"/>
              <a:ext cx="609462"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3.2 Pengumpulan umpan balik dan catatan revisi</a:t>
              </a:r>
            </a:p>
          </p:txBody>
        </p:sp>
      </p:grpSp>
      <p:sp>
        <p:nvSpPr>
          <p:cNvPr name="AutoShape 68" id="68"/>
          <p:cNvSpPr/>
          <p:nvPr/>
        </p:nvSpPr>
        <p:spPr>
          <a:xfrm>
            <a:off x="8163994" y="4598749"/>
            <a:ext cx="0" cy="323850"/>
          </a:xfrm>
          <a:prstGeom prst="line">
            <a:avLst/>
          </a:prstGeom>
          <a:ln cap="rnd" w="38100">
            <a:solidFill>
              <a:srgbClr val="000000"/>
            </a:solidFill>
            <a:prstDash val="solid"/>
            <a:headEnd type="none" len="sm" w="sm"/>
            <a:tailEnd type="arrow" len="sm" w="med"/>
          </a:ln>
        </p:spPr>
      </p:sp>
      <p:grpSp>
        <p:nvGrpSpPr>
          <p:cNvPr name="Group 69" id="69"/>
          <p:cNvGrpSpPr/>
          <p:nvPr/>
        </p:nvGrpSpPr>
        <p:grpSpPr>
          <a:xfrm rot="0">
            <a:off x="6781452" y="6119274"/>
            <a:ext cx="2765084" cy="872826"/>
            <a:chOff x="0" y="0"/>
            <a:chExt cx="728253" cy="229880"/>
          </a:xfrm>
        </p:grpSpPr>
        <p:sp>
          <p:nvSpPr>
            <p:cNvPr name="Freeform 70" id="70"/>
            <p:cNvSpPr/>
            <p:nvPr/>
          </p:nvSpPr>
          <p:spPr>
            <a:xfrm flipH="false" flipV="false" rot="0">
              <a:off x="0" y="0"/>
              <a:ext cx="728253" cy="229880"/>
            </a:xfrm>
            <a:custGeom>
              <a:avLst/>
              <a:gdLst/>
              <a:ahLst/>
              <a:cxnLst/>
              <a:rect r="r" b="b" t="t" l="l"/>
              <a:pathLst>
                <a:path h="229880" w="728253">
                  <a:moveTo>
                    <a:pt x="55998" y="0"/>
                  </a:moveTo>
                  <a:lnTo>
                    <a:pt x="672255" y="0"/>
                  </a:lnTo>
                  <a:cubicBezTo>
                    <a:pt x="687106" y="0"/>
                    <a:pt x="701350" y="5900"/>
                    <a:pt x="711851" y="16401"/>
                  </a:cubicBezTo>
                  <a:cubicBezTo>
                    <a:pt x="722353" y="26903"/>
                    <a:pt x="728253" y="41146"/>
                    <a:pt x="728253" y="55998"/>
                  </a:cubicBezTo>
                  <a:lnTo>
                    <a:pt x="728253" y="173882"/>
                  </a:lnTo>
                  <a:cubicBezTo>
                    <a:pt x="728253" y="188734"/>
                    <a:pt x="722353" y="202977"/>
                    <a:pt x="711851" y="213479"/>
                  </a:cubicBezTo>
                  <a:cubicBezTo>
                    <a:pt x="701350" y="223980"/>
                    <a:pt x="687106" y="229880"/>
                    <a:pt x="672255" y="229880"/>
                  </a:cubicBezTo>
                  <a:lnTo>
                    <a:pt x="55998" y="229880"/>
                  </a:lnTo>
                  <a:cubicBezTo>
                    <a:pt x="41146" y="229880"/>
                    <a:pt x="26903" y="223980"/>
                    <a:pt x="16401" y="213479"/>
                  </a:cubicBezTo>
                  <a:cubicBezTo>
                    <a:pt x="5900" y="202977"/>
                    <a:pt x="0" y="188734"/>
                    <a:pt x="0" y="173882"/>
                  </a:cubicBezTo>
                  <a:lnTo>
                    <a:pt x="0" y="55998"/>
                  </a:lnTo>
                  <a:cubicBezTo>
                    <a:pt x="0" y="41146"/>
                    <a:pt x="5900" y="26903"/>
                    <a:pt x="16401" y="16401"/>
                  </a:cubicBezTo>
                  <a:cubicBezTo>
                    <a:pt x="26903" y="5900"/>
                    <a:pt x="41146" y="0"/>
                    <a:pt x="55998" y="0"/>
                  </a:cubicBezTo>
                  <a:close/>
                </a:path>
              </a:pathLst>
            </a:custGeom>
            <a:solidFill>
              <a:srgbClr val="38B6FF"/>
            </a:solidFill>
          </p:spPr>
        </p:sp>
        <p:sp>
          <p:nvSpPr>
            <p:cNvPr name="TextBox 71" id="71"/>
            <p:cNvSpPr txBox="true"/>
            <p:nvPr/>
          </p:nvSpPr>
          <p:spPr>
            <a:xfrm>
              <a:off x="0" y="9525"/>
              <a:ext cx="728253"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3.3 Analisis hasil evaluasi dan identifikasi kebutuhan tambahan</a:t>
              </a:r>
            </a:p>
          </p:txBody>
        </p:sp>
      </p:grpSp>
      <p:sp>
        <p:nvSpPr>
          <p:cNvPr name="AutoShape 72" id="72"/>
          <p:cNvSpPr/>
          <p:nvPr/>
        </p:nvSpPr>
        <p:spPr>
          <a:xfrm>
            <a:off x="8163994" y="5795424"/>
            <a:ext cx="0" cy="323850"/>
          </a:xfrm>
          <a:prstGeom prst="line">
            <a:avLst/>
          </a:prstGeom>
          <a:ln cap="rnd" w="38100">
            <a:solidFill>
              <a:srgbClr val="000000"/>
            </a:solidFill>
            <a:prstDash val="solid"/>
            <a:headEnd type="none" len="sm" w="sm"/>
            <a:tailEnd type="arrow" len="sm" w="med"/>
          </a:ln>
        </p:spPr>
      </p:sp>
      <p:sp>
        <p:nvSpPr>
          <p:cNvPr name="AutoShape 73" id="73"/>
          <p:cNvSpPr/>
          <p:nvPr/>
        </p:nvSpPr>
        <p:spPr>
          <a:xfrm>
            <a:off x="9546536" y="1835893"/>
            <a:ext cx="0" cy="386480"/>
          </a:xfrm>
          <a:prstGeom prst="line">
            <a:avLst/>
          </a:prstGeom>
          <a:ln cap="rnd" w="38100">
            <a:solidFill>
              <a:srgbClr val="000000"/>
            </a:solidFill>
            <a:prstDash val="solid"/>
            <a:headEnd type="none" len="sm" w="sm"/>
            <a:tailEnd type="arrow" len="sm" w="med"/>
          </a:ln>
        </p:spPr>
      </p:sp>
      <p:grpSp>
        <p:nvGrpSpPr>
          <p:cNvPr name="Group 74" id="74"/>
          <p:cNvGrpSpPr/>
          <p:nvPr/>
        </p:nvGrpSpPr>
        <p:grpSpPr>
          <a:xfrm rot="0">
            <a:off x="9852189" y="2656843"/>
            <a:ext cx="2340498" cy="872826"/>
            <a:chOff x="0" y="0"/>
            <a:chExt cx="616427" cy="229880"/>
          </a:xfrm>
        </p:grpSpPr>
        <p:sp>
          <p:nvSpPr>
            <p:cNvPr name="Freeform 75" id="75"/>
            <p:cNvSpPr/>
            <p:nvPr/>
          </p:nvSpPr>
          <p:spPr>
            <a:xfrm flipH="false" flipV="false" rot="0">
              <a:off x="0" y="0"/>
              <a:ext cx="616427" cy="229880"/>
            </a:xfrm>
            <a:custGeom>
              <a:avLst/>
              <a:gdLst/>
              <a:ahLst/>
              <a:cxnLst/>
              <a:rect r="r" b="b" t="t" l="l"/>
              <a:pathLst>
                <a:path h="229880" w="616427">
                  <a:moveTo>
                    <a:pt x="66156" y="0"/>
                  </a:moveTo>
                  <a:lnTo>
                    <a:pt x="550271" y="0"/>
                  </a:lnTo>
                  <a:cubicBezTo>
                    <a:pt x="567817" y="0"/>
                    <a:pt x="584644" y="6970"/>
                    <a:pt x="597051" y="19377"/>
                  </a:cubicBezTo>
                  <a:cubicBezTo>
                    <a:pt x="609457" y="31783"/>
                    <a:pt x="616427" y="48610"/>
                    <a:pt x="616427" y="66156"/>
                  </a:cubicBezTo>
                  <a:lnTo>
                    <a:pt x="616427" y="163724"/>
                  </a:lnTo>
                  <a:cubicBezTo>
                    <a:pt x="616427" y="181270"/>
                    <a:pt x="609457" y="198097"/>
                    <a:pt x="597051" y="210503"/>
                  </a:cubicBezTo>
                  <a:cubicBezTo>
                    <a:pt x="584644" y="222910"/>
                    <a:pt x="567817" y="229880"/>
                    <a:pt x="550271" y="229880"/>
                  </a:cubicBezTo>
                  <a:lnTo>
                    <a:pt x="66156" y="229880"/>
                  </a:lnTo>
                  <a:cubicBezTo>
                    <a:pt x="48610" y="229880"/>
                    <a:pt x="31783" y="222910"/>
                    <a:pt x="19377" y="210503"/>
                  </a:cubicBezTo>
                  <a:cubicBezTo>
                    <a:pt x="6970" y="198097"/>
                    <a:pt x="0" y="181270"/>
                    <a:pt x="0" y="163724"/>
                  </a:cubicBezTo>
                  <a:lnTo>
                    <a:pt x="0" y="66156"/>
                  </a:lnTo>
                  <a:cubicBezTo>
                    <a:pt x="0" y="48610"/>
                    <a:pt x="6970" y="31783"/>
                    <a:pt x="19377" y="19377"/>
                  </a:cubicBezTo>
                  <a:cubicBezTo>
                    <a:pt x="31783" y="6970"/>
                    <a:pt x="48610" y="0"/>
                    <a:pt x="66156" y="0"/>
                  </a:cubicBezTo>
                  <a:close/>
                </a:path>
              </a:pathLst>
            </a:custGeom>
            <a:solidFill>
              <a:srgbClr val="FF66C4"/>
            </a:solidFill>
          </p:spPr>
        </p:sp>
        <p:sp>
          <p:nvSpPr>
            <p:cNvPr name="TextBox 76" id="76"/>
            <p:cNvSpPr txBox="true"/>
            <p:nvPr/>
          </p:nvSpPr>
          <p:spPr>
            <a:xfrm>
              <a:off x="0" y="9525"/>
              <a:ext cx="616427"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4. Pengembangan &amp; Penyempurnaan Sistem</a:t>
              </a:r>
            </a:p>
          </p:txBody>
        </p:sp>
      </p:grpSp>
      <p:sp>
        <p:nvSpPr>
          <p:cNvPr name="AutoShape 77" id="77"/>
          <p:cNvSpPr/>
          <p:nvPr/>
        </p:nvSpPr>
        <p:spPr>
          <a:xfrm>
            <a:off x="11009754" y="2222373"/>
            <a:ext cx="12684" cy="434470"/>
          </a:xfrm>
          <a:prstGeom prst="line">
            <a:avLst/>
          </a:prstGeom>
          <a:ln cap="rnd" w="38100">
            <a:solidFill>
              <a:srgbClr val="000000"/>
            </a:solidFill>
            <a:prstDash val="solid"/>
            <a:headEnd type="none" len="sm" w="sm"/>
            <a:tailEnd type="arrow" len="sm" w="med"/>
          </a:ln>
        </p:spPr>
      </p:sp>
      <p:grpSp>
        <p:nvGrpSpPr>
          <p:cNvPr name="Group 78" id="78"/>
          <p:cNvGrpSpPr/>
          <p:nvPr/>
        </p:nvGrpSpPr>
        <p:grpSpPr>
          <a:xfrm rot="0">
            <a:off x="9852189" y="3867811"/>
            <a:ext cx="2340498" cy="872826"/>
            <a:chOff x="0" y="0"/>
            <a:chExt cx="616427" cy="229880"/>
          </a:xfrm>
        </p:grpSpPr>
        <p:sp>
          <p:nvSpPr>
            <p:cNvPr name="Freeform 79" id="79"/>
            <p:cNvSpPr/>
            <p:nvPr/>
          </p:nvSpPr>
          <p:spPr>
            <a:xfrm flipH="false" flipV="false" rot="0">
              <a:off x="0" y="0"/>
              <a:ext cx="616427" cy="229880"/>
            </a:xfrm>
            <a:custGeom>
              <a:avLst/>
              <a:gdLst/>
              <a:ahLst/>
              <a:cxnLst/>
              <a:rect r="r" b="b" t="t" l="l"/>
              <a:pathLst>
                <a:path h="229880" w="616427">
                  <a:moveTo>
                    <a:pt x="66156" y="0"/>
                  </a:moveTo>
                  <a:lnTo>
                    <a:pt x="550271" y="0"/>
                  </a:lnTo>
                  <a:cubicBezTo>
                    <a:pt x="567817" y="0"/>
                    <a:pt x="584644" y="6970"/>
                    <a:pt x="597051" y="19377"/>
                  </a:cubicBezTo>
                  <a:cubicBezTo>
                    <a:pt x="609457" y="31783"/>
                    <a:pt x="616427" y="48610"/>
                    <a:pt x="616427" y="66156"/>
                  </a:cubicBezTo>
                  <a:lnTo>
                    <a:pt x="616427" y="163724"/>
                  </a:lnTo>
                  <a:cubicBezTo>
                    <a:pt x="616427" y="181270"/>
                    <a:pt x="609457" y="198097"/>
                    <a:pt x="597051" y="210503"/>
                  </a:cubicBezTo>
                  <a:cubicBezTo>
                    <a:pt x="584644" y="222910"/>
                    <a:pt x="567817" y="229880"/>
                    <a:pt x="550271" y="229880"/>
                  </a:cubicBezTo>
                  <a:lnTo>
                    <a:pt x="66156" y="229880"/>
                  </a:lnTo>
                  <a:cubicBezTo>
                    <a:pt x="48610" y="229880"/>
                    <a:pt x="31783" y="222910"/>
                    <a:pt x="19377" y="210503"/>
                  </a:cubicBezTo>
                  <a:cubicBezTo>
                    <a:pt x="6970" y="198097"/>
                    <a:pt x="0" y="181270"/>
                    <a:pt x="0" y="163724"/>
                  </a:cubicBezTo>
                  <a:lnTo>
                    <a:pt x="0" y="66156"/>
                  </a:lnTo>
                  <a:cubicBezTo>
                    <a:pt x="0" y="48610"/>
                    <a:pt x="6970" y="31783"/>
                    <a:pt x="19377" y="19377"/>
                  </a:cubicBezTo>
                  <a:cubicBezTo>
                    <a:pt x="31783" y="6970"/>
                    <a:pt x="48610" y="0"/>
                    <a:pt x="66156" y="0"/>
                  </a:cubicBezTo>
                  <a:close/>
                </a:path>
              </a:pathLst>
            </a:custGeom>
            <a:solidFill>
              <a:srgbClr val="FF66C4"/>
            </a:solidFill>
          </p:spPr>
        </p:sp>
        <p:sp>
          <p:nvSpPr>
            <p:cNvPr name="TextBox 80" id="80"/>
            <p:cNvSpPr txBox="true"/>
            <p:nvPr/>
          </p:nvSpPr>
          <p:spPr>
            <a:xfrm>
              <a:off x="0" y="9525"/>
              <a:ext cx="616427"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4.1 Pengembangan backend dengan PHP dan MySQL</a:t>
              </a:r>
            </a:p>
          </p:txBody>
        </p:sp>
      </p:grpSp>
      <p:sp>
        <p:nvSpPr>
          <p:cNvPr name="AutoShape 81" id="81"/>
          <p:cNvSpPr/>
          <p:nvPr/>
        </p:nvSpPr>
        <p:spPr>
          <a:xfrm>
            <a:off x="11022438" y="3529669"/>
            <a:ext cx="0" cy="338142"/>
          </a:xfrm>
          <a:prstGeom prst="line">
            <a:avLst/>
          </a:prstGeom>
          <a:ln cap="rnd" w="38100">
            <a:solidFill>
              <a:srgbClr val="000000"/>
            </a:solidFill>
            <a:prstDash val="solid"/>
            <a:headEnd type="none" len="sm" w="sm"/>
            <a:tailEnd type="arrow" len="sm" w="med"/>
          </a:ln>
        </p:spPr>
      </p:sp>
      <p:grpSp>
        <p:nvGrpSpPr>
          <p:cNvPr name="Group 82" id="82"/>
          <p:cNvGrpSpPr/>
          <p:nvPr/>
        </p:nvGrpSpPr>
        <p:grpSpPr>
          <a:xfrm rot="0">
            <a:off x="9852189" y="5083536"/>
            <a:ext cx="2340498" cy="872826"/>
            <a:chOff x="0" y="0"/>
            <a:chExt cx="616427" cy="229880"/>
          </a:xfrm>
        </p:grpSpPr>
        <p:sp>
          <p:nvSpPr>
            <p:cNvPr name="Freeform 83" id="83"/>
            <p:cNvSpPr/>
            <p:nvPr/>
          </p:nvSpPr>
          <p:spPr>
            <a:xfrm flipH="false" flipV="false" rot="0">
              <a:off x="0" y="0"/>
              <a:ext cx="616427" cy="229880"/>
            </a:xfrm>
            <a:custGeom>
              <a:avLst/>
              <a:gdLst/>
              <a:ahLst/>
              <a:cxnLst/>
              <a:rect r="r" b="b" t="t" l="l"/>
              <a:pathLst>
                <a:path h="229880" w="616427">
                  <a:moveTo>
                    <a:pt x="66156" y="0"/>
                  </a:moveTo>
                  <a:lnTo>
                    <a:pt x="550271" y="0"/>
                  </a:lnTo>
                  <a:cubicBezTo>
                    <a:pt x="567817" y="0"/>
                    <a:pt x="584644" y="6970"/>
                    <a:pt x="597051" y="19377"/>
                  </a:cubicBezTo>
                  <a:cubicBezTo>
                    <a:pt x="609457" y="31783"/>
                    <a:pt x="616427" y="48610"/>
                    <a:pt x="616427" y="66156"/>
                  </a:cubicBezTo>
                  <a:lnTo>
                    <a:pt x="616427" y="163724"/>
                  </a:lnTo>
                  <a:cubicBezTo>
                    <a:pt x="616427" y="181270"/>
                    <a:pt x="609457" y="198097"/>
                    <a:pt x="597051" y="210503"/>
                  </a:cubicBezTo>
                  <a:cubicBezTo>
                    <a:pt x="584644" y="222910"/>
                    <a:pt x="567817" y="229880"/>
                    <a:pt x="550271" y="229880"/>
                  </a:cubicBezTo>
                  <a:lnTo>
                    <a:pt x="66156" y="229880"/>
                  </a:lnTo>
                  <a:cubicBezTo>
                    <a:pt x="48610" y="229880"/>
                    <a:pt x="31783" y="222910"/>
                    <a:pt x="19377" y="210503"/>
                  </a:cubicBezTo>
                  <a:cubicBezTo>
                    <a:pt x="6970" y="198097"/>
                    <a:pt x="0" y="181270"/>
                    <a:pt x="0" y="163724"/>
                  </a:cubicBezTo>
                  <a:lnTo>
                    <a:pt x="0" y="66156"/>
                  </a:lnTo>
                  <a:cubicBezTo>
                    <a:pt x="0" y="48610"/>
                    <a:pt x="6970" y="31783"/>
                    <a:pt x="19377" y="19377"/>
                  </a:cubicBezTo>
                  <a:cubicBezTo>
                    <a:pt x="31783" y="6970"/>
                    <a:pt x="48610" y="0"/>
                    <a:pt x="66156" y="0"/>
                  </a:cubicBezTo>
                  <a:close/>
                </a:path>
              </a:pathLst>
            </a:custGeom>
            <a:solidFill>
              <a:srgbClr val="FF66C4"/>
            </a:solidFill>
          </p:spPr>
        </p:sp>
        <p:sp>
          <p:nvSpPr>
            <p:cNvPr name="TextBox 84" id="84"/>
            <p:cNvSpPr txBox="true"/>
            <p:nvPr/>
          </p:nvSpPr>
          <p:spPr>
            <a:xfrm>
              <a:off x="0" y="9525"/>
              <a:ext cx="616427"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4.2 Implementasi fitur CRUD menu dan keranjang transaksi</a:t>
              </a:r>
            </a:p>
          </p:txBody>
        </p:sp>
      </p:grpSp>
      <p:sp>
        <p:nvSpPr>
          <p:cNvPr name="AutoShape 85" id="85"/>
          <p:cNvSpPr/>
          <p:nvPr/>
        </p:nvSpPr>
        <p:spPr>
          <a:xfrm>
            <a:off x="11022438" y="4740636"/>
            <a:ext cx="0" cy="342900"/>
          </a:xfrm>
          <a:prstGeom prst="line">
            <a:avLst/>
          </a:prstGeom>
          <a:ln cap="rnd" w="38100">
            <a:solidFill>
              <a:srgbClr val="000000"/>
            </a:solidFill>
            <a:prstDash val="solid"/>
            <a:headEnd type="none" len="sm" w="sm"/>
            <a:tailEnd type="arrow" len="sm" w="med"/>
          </a:ln>
        </p:spPr>
      </p:sp>
      <p:grpSp>
        <p:nvGrpSpPr>
          <p:cNvPr name="Group 86" id="86"/>
          <p:cNvGrpSpPr/>
          <p:nvPr/>
        </p:nvGrpSpPr>
        <p:grpSpPr>
          <a:xfrm rot="0">
            <a:off x="9852189" y="6299262"/>
            <a:ext cx="2340498" cy="872826"/>
            <a:chOff x="0" y="0"/>
            <a:chExt cx="616427" cy="229880"/>
          </a:xfrm>
        </p:grpSpPr>
        <p:sp>
          <p:nvSpPr>
            <p:cNvPr name="Freeform 87" id="87"/>
            <p:cNvSpPr/>
            <p:nvPr/>
          </p:nvSpPr>
          <p:spPr>
            <a:xfrm flipH="false" flipV="false" rot="0">
              <a:off x="0" y="0"/>
              <a:ext cx="616427" cy="229880"/>
            </a:xfrm>
            <a:custGeom>
              <a:avLst/>
              <a:gdLst/>
              <a:ahLst/>
              <a:cxnLst/>
              <a:rect r="r" b="b" t="t" l="l"/>
              <a:pathLst>
                <a:path h="229880" w="616427">
                  <a:moveTo>
                    <a:pt x="66156" y="0"/>
                  </a:moveTo>
                  <a:lnTo>
                    <a:pt x="550271" y="0"/>
                  </a:lnTo>
                  <a:cubicBezTo>
                    <a:pt x="567817" y="0"/>
                    <a:pt x="584644" y="6970"/>
                    <a:pt x="597051" y="19377"/>
                  </a:cubicBezTo>
                  <a:cubicBezTo>
                    <a:pt x="609457" y="31783"/>
                    <a:pt x="616427" y="48610"/>
                    <a:pt x="616427" y="66156"/>
                  </a:cubicBezTo>
                  <a:lnTo>
                    <a:pt x="616427" y="163724"/>
                  </a:lnTo>
                  <a:cubicBezTo>
                    <a:pt x="616427" y="181270"/>
                    <a:pt x="609457" y="198097"/>
                    <a:pt x="597051" y="210503"/>
                  </a:cubicBezTo>
                  <a:cubicBezTo>
                    <a:pt x="584644" y="222910"/>
                    <a:pt x="567817" y="229880"/>
                    <a:pt x="550271" y="229880"/>
                  </a:cubicBezTo>
                  <a:lnTo>
                    <a:pt x="66156" y="229880"/>
                  </a:lnTo>
                  <a:cubicBezTo>
                    <a:pt x="48610" y="229880"/>
                    <a:pt x="31783" y="222910"/>
                    <a:pt x="19377" y="210503"/>
                  </a:cubicBezTo>
                  <a:cubicBezTo>
                    <a:pt x="6970" y="198097"/>
                    <a:pt x="0" y="181270"/>
                    <a:pt x="0" y="163724"/>
                  </a:cubicBezTo>
                  <a:lnTo>
                    <a:pt x="0" y="66156"/>
                  </a:lnTo>
                  <a:cubicBezTo>
                    <a:pt x="0" y="48610"/>
                    <a:pt x="6970" y="31783"/>
                    <a:pt x="19377" y="19377"/>
                  </a:cubicBezTo>
                  <a:cubicBezTo>
                    <a:pt x="31783" y="6970"/>
                    <a:pt x="48610" y="0"/>
                    <a:pt x="66156" y="0"/>
                  </a:cubicBezTo>
                  <a:close/>
                </a:path>
              </a:pathLst>
            </a:custGeom>
            <a:solidFill>
              <a:srgbClr val="FF66C4"/>
            </a:solidFill>
          </p:spPr>
        </p:sp>
        <p:sp>
          <p:nvSpPr>
            <p:cNvPr name="TextBox 88" id="88"/>
            <p:cNvSpPr txBox="true"/>
            <p:nvPr/>
          </p:nvSpPr>
          <p:spPr>
            <a:xfrm>
              <a:off x="0" y="9525"/>
              <a:ext cx="616427"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4.3 Penambahan fitur pembayaran (Cash &amp; QRIS)</a:t>
              </a:r>
            </a:p>
          </p:txBody>
        </p:sp>
      </p:grpSp>
      <p:sp>
        <p:nvSpPr>
          <p:cNvPr name="AutoShape 89" id="89"/>
          <p:cNvSpPr/>
          <p:nvPr/>
        </p:nvSpPr>
        <p:spPr>
          <a:xfrm>
            <a:off x="11022438" y="5956362"/>
            <a:ext cx="0" cy="342900"/>
          </a:xfrm>
          <a:prstGeom prst="line">
            <a:avLst/>
          </a:prstGeom>
          <a:ln cap="rnd" w="38100">
            <a:solidFill>
              <a:srgbClr val="000000"/>
            </a:solidFill>
            <a:prstDash val="solid"/>
            <a:headEnd type="none" len="sm" w="sm"/>
            <a:tailEnd type="arrow" len="sm" w="med"/>
          </a:ln>
        </p:spPr>
      </p:sp>
      <p:grpSp>
        <p:nvGrpSpPr>
          <p:cNvPr name="Group 90" id="90"/>
          <p:cNvGrpSpPr/>
          <p:nvPr/>
        </p:nvGrpSpPr>
        <p:grpSpPr>
          <a:xfrm rot="0">
            <a:off x="9852189" y="7514987"/>
            <a:ext cx="2340498" cy="872826"/>
            <a:chOff x="0" y="0"/>
            <a:chExt cx="616427" cy="229880"/>
          </a:xfrm>
        </p:grpSpPr>
        <p:sp>
          <p:nvSpPr>
            <p:cNvPr name="Freeform 91" id="91"/>
            <p:cNvSpPr/>
            <p:nvPr/>
          </p:nvSpPr>
          <p:spPr>
            <a:xfrm flipH="false" flipV="false" rot="0">
              <a:off x="0" y="0"/>
              <a:ext cx="616427" cy="229880"/>
            </a:xfrm>
            <a:custGeom>
              <a:avLst/>
              <a:gdLst/>
              <a:ahLst/>
              <a:cxnLst/>
              <a:rect r="r" b="b" t="t" l="l"/>
              <a:pathLst>
                <a:path h="229880" w="616427">
                  <a:moveTo>
                    <a:pt x="66156" y="0"/>
                  </a:moveTo>
                  <a:lnTo>
                    <a:pt x="550271" y="0"/>
                  </a:lnTo>
                  <a:cubicBezTo>
                    <a:pt x="567817" y="0"/>
                    <a:pt x="584644" y="6970"/>
                    <a:pt x="597051" y="19377"/>
                  </a:cubicBezTo>
                  <a:cubicBezTo>
                    <a:pt x="609457" y="31783"/>
                    <a:pt x="616427" y="48610"/>
                    <a:pt x="616427" y="66156"/>
                  </a:cubicBezTo>
                  <a:lnTo>
                    <a:pt x="616427" y="163724"/>
                  </a:lnTo>
                  <a:cubicBezTo>
                    <a:pt x="616427" y="181270"/>
                    <a:pt x="609457" y="198097"/>
                    <a:pt x="597051" y="210503"/>
                  </a:cubicBezTo>
                  <a:cubicBezTo>
                    <a:pt x="584644" y="222910"/>
                    <a:pt x="567817" y="229880"/>
                    <a:pt x="550271" y="229880"/>
                  </a:cubicBezTo>
                  <a:lnTo>
                    <a:pt x="66156" y="229880"/>
                  </a:lnTo>
                  <a:cubicBezTo>
                    <a:pt x="48610" y="229880"/>
                    <a:pt x="31783" y="222910"/>
                    <a:pt x="19377" y="210503"/>
                  </a:cubicBezTo>
                  <a:cubicBezTo>
                    <a:pt x="6970" y="198097"/>
                    <a:pt x="0" y="181270"/>
                    <a:pt x="0" y="163724"/>
                  </a:cubicBezTo>
                  <a:lnTo>
                    <a:pt x="0" y="66156"/>
                  </a:lnTo>
                  <a:cubicBezTo>
                    <a:pt x="0" y="48610"/>
                    <a:pt x="6970" y="31783"/>
                    <a:pt x="19377" y="19377"/>
                  </a:cubicBezTo>
                  <a:cubicBezTo>
                    <a:pt x="31783" y="6970"/>
                    <a:pt x="48610" y="0"/>
                    <a:pt x="66156" y="0"/>
                  </a:cubicBezTo>
                  <a:close/>
                </a:path>
              </a:pathLst>
            </a:custGeom>
            <a:solidFill>
              <a:srgbClr val="FF66C4"/>
            </a:solidFill>
          </p:spPr>
        </p:sp>
        <p:sp>
          <p:nvSpPr>
            <p:cNvPr name="TextBox 92" id="92"/>
            <p:cNvSpPr txBox="true"/>
            <p:nvPr/>
          </p:nvSpPr>
          <p:spPr>
            <a:xfrm>
              <a:off x="0" y="9525"/>
              <a:ext cx="616427"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4.4 Implementasi laporan penjualan otomatis (Excel &amp; PDF)</a:t>
              </a:r>
            </a:p>
          </p:txBody>
        </p:sp>
      </p:grpSp>
      <p:sp>
        <p:nvSpPr>
          <p:cNvPr name="AutoShape 93" id="93"/>
          <p:cNvSpPr/>
          <p:nvPr/>
        </p:nvSpPr>
        <p:spPr>
          <a:xfrm>
            <a:off x="11022438" y="7172087"/>
            <a:ext cx="0" cy="342900"/>
          </a:xfrm>
          <a:prstGeom prst="line">
            <a:avLst/>
          </a:prstGeom>
          <a:ln cap="rnd" w="38100">
            <a:solidFill>
              <a:srgbClr val="000000"/>
            </a:solidFill>
            <a:prstDash val="solid"/>
            <a:headEnd type="none" len="sm" w="sm"/>
            <a:tailEnd type="arrow" len="sm" w="med"/>
          </a:ln>
        </p:spPr>
      </p:sp>
      <p:grpSp>
        <p:nvGrpSpPr>
          <p:cNvPr name="Group 94" id="94"/>
          <p:cNvGrpSpPr/>
          <p:nvPr/>
        </p:nvGrpSpPr>
        <p:grpSpPr>
          <a:xfrm rot="0">
            <a:off x="9839505" y="8730713"/>
            <a:ext cx="2340498" cy="690863"/>
            <a:chOff x="0" y="0"/>
            <a:chExt cx="616427" cy="181956"/>
          </a:xfrm>
        </p:grpSpPr>
        <p:sp>
          <p:nvSpPr>
            <p:cNvPr name="Freeform 95" id="95"/>
            <p:cNvSpPr/>
            <p:nvPr/>
          </p:nvSpPr>
          <p:spPr>
            <a:xfrm flipH="false" flipV="false" rot="0">
              <a:off x="0" y="0"/>
              <a:ext cx="616427" cy="181956"/>
            </a:xfrm>
            <a:custGeom>
              <a:avLst/>
              <a:gdLst/>
              <a:ahLst/>
              <a:cxnLst/>
              <a:rect r="r" b="b" t="t" l="l"/>
              <a:pathLst>
                <a:path h="181956" w="616427">
                  <a:moveTo>
                    <a:pt x="66156" y="0"/>
                  </a:moveTo>
                  <a:lnTo>
                    <a:pt x="550271" y="0"/>
                  </a:lnTo>
                  <a:cubicBezTo>
                    <a:pt x="567817" y="0"/>
                    <a:pt x="584644" y="6970"/>
                    <a:pt x="597051" y="19377"/>
                  </a:cubicBezTo>
                  <a:cubicBezTo>
                    <a:pt x="609457" y="31783"/>
                    <a:pt x="616427" y="48610"/>
                    <a:pt x="616427" y="66156"/>
                  </a:cubicBezTo>
                  <a:lnTo>
                    <a:pt x="616427" y="115799"/>
                  </a:lnTo>
                  <a:cubicBezTo>
                    <a:pt x="616427" y="133345"/>
                    <a:pt x="609457" y="150172"/>
                    <a:pt x="597051" y="162579"/>
                  </a:cubicBezTo>
                  <a:cubicBezTo>
                    <a:pt x="584644" y="174986"/>
                    <a:pt x="567817" y="181956"/>
                    <a:pt x="550271" y="181956"/>
                  </a:cubicBezTo>
                  <a:lnTo>
                    <a:pt x="66156" y="181956"/>
                  </a:lnTo>
                  <a:cubicBezTo>
                    <a:pt x="48610" y="181956"/>
                    <a:pt x="31783" y="174986"/>
                    <a:pt x="19377" y="162579"/>
                  </a:cubicBezTo>
                  <a:cubicBezTo>
                    <a:pt x="6970" y="150172"/>
                    <a:pt x="0" y="133345"/>
                    <a:pt x="0" y="115799"/>
                  </a:cubicBezTo>
                  <a:lnTo>
                    <a:pt x="0" y="66156"/>
                  </a:lnTo>
                  <a:cubicBezTo>
                    <a:pt x="0" y="48610"/>
                    <a:pt x="6970" y="31783"/>
                    <a:pt x="19377" y="19377"/>
                  </a:cubicBezTo>
                  <a:cubicBezTo>
                    <a:pt x="31783" y="6970"/>
                    <a:pt x="48610" y="0"/>
                    <a:pt x="66156" y="0"/>
                  </a:cubicBezTo>
                  <a:close/>
                </a:path>
              </a:pathLst>
            </a:custGeom>
            <a:solidFill>
              <a:srgbClr val="FF66C4"/>
            </a:solidFill>
          </p:spPr>
        </p:sp>
        <p:sp>
          <p:nvSpPr>
            <p:cNvPr name="TextBox 96" id="96"/>
            <p:cNvSpPr txBox="true"/>
            <p:nvPr/>
          </p:nvSpPr>
          <p:spPr>
            <a:xfrm>
              <a:off x="0" y="9525"/>
              <a:ext cx="616427"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4.5 Integrasi antar modul sistem</a:t>
              </a:r>
            </a:p>
          </p:txBody>
        </p:sp>
      </p:grpSp>
      <p:sp>
        <p:nvSpPr>
          <p:cNvPr name="AutoShape 97" id="97"/>
          <p:cNvSpPr/>
          <p:nvPr/>
        </p:nvSpPr>
        <p:spPr>
          <a:xfrm flipH="true">
            <a:off x="11009754" y="8387813"/>
            <a:ext cx="12684" cy="342900"/>
          </a:xfrm>
          <a:prstGeom prst="line">
            <a:avLst/>
          </a:prstGeom>
          <a:ln cap="rnd" w="38100">
            <a:solidFill>
              <a:srgbClr val="000000"/>
            </a:solidFill>
            <a:prstDash val="solid"/>
            <a:headEnd type="none" len="sm" w="sm"/>
            <a:tailEnd type="arrow" len="sm" w="med"/>
          </a:ln>
        </p:spPr>
      </p:sp>
      <p:grpSp>
        <p:nvGrpSpPr>
          <p:cNvPr name="Group 98" id="98"/>
          <p:cNvGrpSpPr/>
          <p:nvPr/>
        </p:nvGrpSpPr>
        <p:grpSpPr>
          <a:xfrm rot="0">
            <a:off x="12612744" y="2656843"/>
            <a:ext cx="2065729" cy="690863"/>
            <a:chOff x="0" y="0"/>
            <a:chExt cx="544060" cy="181956"/>
          </a:xfrm>
        </p:grpSpPr>
        <p:sp>
          <p:nvSpPr>
            <p:cNvPr name="Freeform 99" id="99"/>
            <p:cNvSpPr/>
            <p:nvPr/>
          </p:nvSpPr>
          <p:spPr>
            <a:xfrm flipH="false" flipV="false" rot="0">
              <a:off x="0" y="0"/>
              <a:ext cx="544060" cy="181956"/>
            </a:xfrm>
            <a:custGeom>
              <a:avLst/>
              <a:gdLst/>
              <a:ahLst/>
              <a:cxnLst/>
              <a:rect r="r" b="b" t="t" l="l"/>
              <a:pathLst>
                <a:path h="181956" w="544060">
                  <a:moveTo>
                    <a:pt x="74956" y="0"/>
                  </a:moveTo>
                  <a:lnTo>
                    <a:pt x="469105" y="0"/>
                  </a:lnTo>
                  <a:cubicBezTo>
                    <a:pt x="488984" y="0"/>
                    <a:pt x="508049" y="7897"/>
                    <a:pt x="522106" y="21954"/>
                  </a:cubicBezTo>
                  <a:cubicBezTo>
                    <a:pt x="536163" y="36011"/>
                    <a:pt x="544060" y="55076"/>
                    <a:pt x="544060" y="74956"/>
                  </a:cubicBezTo>
                  <a:lnTo>
                    <a:pt x="544060" y="107000"/>
                  </a:lnTo>
                  <a:cubicBezTo>
                    <a:pt x="544060" y="126879"/>
                    <a:pt x="536163" y="145945"/>
                    <a:pt x="522106" y="160002"/>
                  </a:cubicBezTo>
                  <a:cubicBezTo>
                    <a:pt x="508049" y="174059"/>
                    <a:pt x="488984" y="181956"/>
                    <a:pt x="469105" y="181956"/>
                  </a:cubicBezTo>
                  <a:lnTo>
                    <a:pt x="74956" y="181956"/>
                  </a:lnTo>
                  <a:cubicBezTo>
                    <a:pt x="55076" y="181956"/>
                    <a:pt x="36011" y="174059"/>
                    <a:pt x="21954" y="160002"/>
                  </a:cubicBezTo>
                  <a:cubicBezTo>
                    <a:pt x="7897" y="145945"/>
                    <a:pt x="0" y="126879"/>
                    <a:pt x="0" y="107000"/>
                  </a:cubicBezTo>
                  <a:lnTo>
                    <a:pt x="0" y="74956"/>
                  </a:lnTo>
                  <a:cubicBezTo>
                    <a:pt x="0" y="55076"/>
                    <a:pt x="7897" y="36011"/>
                    <a:pt x="21954" y="21954"/>
                  </a:cubicBezTo>
                  <a:cubicBezTo>
                    <a:pt x="36011" y="7897"/>
                    <a:pt x="55076" y="0"/>
                    <a:pt x="74956" y="0"/>
                  </a:cubicBezTo>
                  <a:close/>
                </a:path>
              </a:pathLst>
            </a:custGeom>
            <a:solidFill>
              <a:srgbClr val="E8D1B3"/>
            </a:solidFill>
          </p:spPr>
        </p:sp>
        <p:sp>
          <p:nvSpPr>
            <p:cNvPr name="TextBox 100" id="100"/>
            <p:cNvSpPr txBox="true"/>
            <p:nvPr/>
          </p:nvSpPr>
          <p:spPr>
            <a:xfrm>
              <a:off x="0" y="9525"/>
              <a:ext cx="544060"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5. Implementasi Akhir &amp; Penyerahan</a:t>
              </a:r>
            </a:p>
          </p:txBody>
        </p:sp>
      </p:grpSp>
      <p:sp>
        <p:nvSpPr>
          <p:cNvPr name="AutoShape 101" id="101"/>
          <p:cNvSpPr/>
          <p:nvPr/>
        </p:nvSpPr>
        <p:spPr>
          <a:xfrm flipH="true">
            <a:off x="13645609" y="2222373"/>
            <a:ext cx="137384" cy="434470"/>
          </a:xfrm>
          <a:prstGeom prst="line">
            <a:avLst/>
          </a:prstGeom>
          <a:ln cap="rnd" w="38100">
            <a:solidFill>
              <a:srgbClr val="000000"/>
            </a:solidFill>
            <a:prstDash val="solid"/>
            <a:headEnd type="none" len="sm" w="sm"/>
            <a:tailEnd type="arrow" len="sm" w="med"/>
          </a:ln>
        </p:spPr>
      </p:sp>
      <p:grpSp>
        <p:nvGrpSpPr>
          <p:cNvPr name="Group 102" id="102"/>
          <p:cNvGrpSpPr/>
          <p:nvPr/>
        </p:nvGrpSpPr>
        <p:grpSpPr>
          <a:xfrm rot="0">
            <a:off x="12612744" y="3668773"/>
            <a:ext cx="2065729" cy="690863"/>
            <a:chOff x="0" y="0"/>
            <a:chExt cx="544060" cy="181956"/>
          </a:xfrm>
        </p:grpSpPr>
        <p:sp>
          <p:nvSpPr>
            <p:cNvPr name="Freeform 103" id="103"/>
            <p:cNvSpPr/>
            <p:nvPr/>
          </p:nvSpPr>
          <p:spPr>
            <a:xfrm flipH="false" flipV="false" rot="0">
              <a:off x="0" y="0"/>
              <a:ext cx="544060" cy="181956"/>
            </a:xfrm>
            <a:custGeom>
              <a:avLst/>
              <a:gdLst/>
              <a:ahLst/>
              <a:cxnLst/>
              <a:rect r="r" b="b" t="t" l="l"/>
              <a:pathLst>
                <a:path h="181956" w="544060">
                  <a:moveTo>
                    <a:pt x="74956" y="0"/>
                  </a:moveTo>
                  <a:lnTo>
                    <a:pt x="469105" y="0"/>
                  </a:lnTo>
                  <a:cubicBezTo>
                    <a:pt x="488984" y="0"/>
                    <a:pt x="508049" y="7897"/>
                    <a:pt x="522106" y="21954"/>
                  </a:cubicBezTo>
                  <a:cubicBezTo>
                    <a:pt x="536163" y="36011"/>
                    <a:pt x="544060" y="55076"/>
                    <a:pt x="544060" y="74956"/>
                  </a:cubicBezTo>
                  <a:lnTo>
                    <a:pt x="544060" y="107000"/>
                  </a:lnTo>
                  <a:cubicBezTo>
                    <a:pt x="544060" y="126879"/>
                    <a:pt x="536163" y="145945"/>
                    <a:pt x="522106" y="160002"/>
                  </a:cubicBezTo>
                  <a:cubicBezTo>
                    <a:pt x="508049" y="174059"/>
                    <a:pt x="488984" y="181956"/>
                    <a:pt x="469105" y="181956"/>
                  </a:cubicBezTo>
                  <a:lnTo>
                    <a:pt x="74956" y="181956"/>
                  </a:lnTo>
                  <a:cubicBezTo>
                    <a:pt x="55076" y="181956"/>
                    <a:pt x="36011" y="174059"/>
                    <a:pt x="21954" y="160002"/>
                  </a:cubicBezTo>
                  <a:cubicBezTo>
                    <a:pt x="7897" y="145945"/>
                    <a:pt x="0" y="126879"/>
                    <a:pt x="0" y="107000"/>
                  </a:cubicBezTo>
                  <a:lnTo>
                    <a:pt x="0" y="74956"/>
                  </a:lnTo>
                  <a:cubicBezTo>
                    <a:pt x="0" y="55076"/>
                    <a:pt x="7897" y="36011"/>
                    <a:pt x="21954" y="21954"/>
                  </a:cubicBezTo>
                  <a:cubicBezTo>
                    <a:pt x="36011" y="7897"/>
                    <a:pt x="55076" y="0"/>
                    <a:pt x="74956" y="0"/>
                  </a:cubicBezTo>
                  <a:close/>
                </a:path>
              </a:pathLst>
            </a:custGeom>
            <a:solidFill>
              <a:srgbClr val="E8D1B3"/>
            </a:solidFill>
          </p:spPr>
        </p:sp>
        <p:sp>
          <p:nvSpPr>
            <p:cNvPr name="TextBox 104" id="104"/>
            <p:cNvSpPr txBox="true"/>
            <p:nvPr/>
          </p:nvSpPr>
          <p:spPr>
            <a:xfrm>
              <a:off x="0" y="9525"/>
              <a:ext cx="544060"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5.1 Deploy website ke hosting</a:t>
              </a:r>
            </a:p>
          </p:txBody>
        </p:sp>
      </p:grpSp>
      <p:sp>
        <p:nvSpPr>
          <p:cNvPr name="AutoShape 105" id="105"/>
          <p:cNvSpPr/>
          <p:nvPr/>
        </p:nvSpPr>
        <p:spPr>
          <a:xfrm flipH="true">
            <a:off x="13645609" y="3347706"/>
            <a:ext cx="0" cy="321067"/>
          </a:xfrm>
          <a:prstGeom prst="line">
            <a:avLst/>
          </a:prstGeom>
          <a:ln cap="rnd" w="38100">
            <a:solidFill>
              <a:srgbClr val="000000"/>
            </a:solidFill>
            <a:prstDash val="solid"/>
            <a:headEnd type="none" len="sm" w="sm"/>
            <a:tailEnd type="arrow" len="sm" w="med"/>
          </a:ln>
        </p:spPr>
      </p:sp>
      <p:grpSp>
        <p:nvGrpSpPr>
          <p:cNvPr name="Group 106" id="106"/>
          <p:cNvGrpSpPr/>
          <p:nvPr/>
        </p:nvGrpSpPr>
        <p:grpSpPr>
          <a:xfrm rot="0">
            <a:off x="12612744" y="4683486"/>
            <a:ext cx="2065729" cy="872826"/>
            <a:chOff x="0" y="0"/>
            <a:chExt cx="544060" cy="229880"/>
          </a:xfrm>
        </p:grpSpPr>
        <p:sp>
          <p:nvSpPr>
            <p:cNvPr name="Freeform 107" id="107"/>
            <p:cNvSpPr/>
            <p:nvPr/>
          </p:nvSpPr>
          <p:spPr>
            <a:xfrm flipH="false" flipV="false" rot="0">
              <a:off x="0" y="0"/>
              <a:ext cx="544060" cy="229880"/>
            </a:xfrm>
            <a:custGeom>
              <a:avLst/>
              <a:gdLst/>
              <a:ahLst/>
              <a:cxnLst/>
              <a:rect r="r" b="b" t="t" l="l"/>
              <a:pathLst>
                <a:path h="229880" w="544060">
                  <a:moveTo>
                    <a:pt x="74956" y="0"/>
                  </a:moveTo>
                  <a:lnTo>
                    <a:pt x="469105" y="0"/>
                  </a:lnTo>
                  <a:cubicBezTo>
                    <a:pt x="488984" y="0"/>
                    <a:pt x="508049" y="7897"/>
                    <a:pt x="522106" y="21954"/>
                  </a:cubicBezTo>
                  <a:cubicBezTo>
                    <a:pt x="536163" y="36011"/>
                    <a:pt x="544060" y="55076"/>
                    <a:pt x="544060" y="74956"/>
                  </a:cubicBezTo>
                  <a:lnTo>
                    <a:pt x="544060" y="154924"/>
                  </a:lnTo>
                  <a:cubicBezTo>
                    <a:pt x="544060" y="174804"/>
                    <a:pt x="536163" y="193869"/>
                    <a:pt x="522106" y="207926"/>
                  </a:cubicBezTo>
                  <a:cubicBezTo>
                    <a:pt x="508049" y="221983"/>
                    <a:pt x="488984" y="229880"/>
                    <a:pt x="469105" y="229880"/>
                  </a:cubicBezTo>
                  <a:lnTo>
                    <a:pt x="74956" y="229880"/>
                  </a:lnTo>
                  <a:cubicBezTo>
                    <a:pt x="55076" y="229880"/>
                    <a:pt x="36011" y="221983"/>
                    <a:pt x="21954" y="207926"/>
                  </a:cubicBezTo>
                  <a:cubicBezTo>
                    <a:pt x="7897" y="193869"/>
                    <a:pt x="0" y="174804"/>
                    <a:pt x="0" y="154924"/>
                  </a:cubicBezTo>
                  <a:lnTo>
                    <a:pt x="0" y="74956"/>
                  </a:lnTo>
                  <a:cubicBezTo>
                    <a:pt x="0" y="55076"/>
                    <a:pt x="7897" y="36011"/>
                    <a:pt x="21954" y="21954"/>
                  </a:cubicBezTo>
                  <a:cubicBezTo>
                    <a:pt x="36011" y="7897"/>
                    <a:pt x="55076" y="0"/>
                    <a:pt x="74956" y="0"/>
                  </a:cubicBezTo>
                  <a:close/>
                </a:path>
              </a:pathLst>
            </a:custGeom>
            <a:solidFill>
              <a:srgbClr val="E8D1B3"/>
            </a:solidFill>
          </p:spPr>
        </p:sp>
        <p:sp>
          <p:nvSpPr>
            <p:cNvPr name="TextBox 108" id="108"/>
            <p:cNvSpPr txBox="true"/>
            <p:nvPr/>
          </p:nvSpPr>
          <p:spPr>
            <a:xfrm>
              <a:off x="0" y="9525"/>
              <a:ext cx="544060"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5.2 Konfigurasi database dan domain</a:t>
              </a:r>
            </a:p>
          </p:txBody>
        </p:sp>
      </p:grpSp>
      <p:sp>
        <p:nvSpPr>
          <p:cNvPr name="AutoShape 109" id="109"/>
          <p:cNvSpPr/>
          <p:nvPr/>
        </p:nvSpPr>
        <p:spPr>
          <a:xfrm>
            <a:off x="13645609" y="4359636"/>
            <a:ext cx="0" cy="323850"/>
          </a:xfrm>
          <a:prstGeom prst="line">
            <a:avLst/>
          </a:prstGeom>
          <a:ln cap="rnd" w="38100">
            <a:solidFill>
              <a:srgbClr val="000000"/>
            </a:solidFill>
            <a:prstDash val="solid"/>
            <a:headEnd type="none" len="sm" w="sm"/>
            <a:tailEnd type="arrow" len="sm" w="med"/>
          </a:ln>
        </p:spPr>
      </p:sp>
      <p:grpSp>
        <p:nvGrpSpPr>
          <p:cNvPr name="Group 110" id="110"/>
          <p:cNvGrpSpPr/>
          <p:nvPr/>
        </p:nvGrpSpPr>
        <p:grpSpPr>
          <a:xfrm rot="0">
            <a:off x="12612744" y="5864824"/>
            <a:ext cx="2065729" cy="690863"/>
            <a:chOff x="0" y="0"/>
            <a:chExt cx="544060" cy="181956"/>
          </a:xfrm>
        </p:grpSpPr>
        <p:sp>
          <p:nvSpPr>
            <p:cNvPr name="Freeform 111" id="111"/>
            <p:cNvSpPr/>
            <p:nvPr/>
          </p:nvSpPr>
          <p:spPr>
            <a:xfrm flipH="false" flipV="false" rot="0">
              <a:off x="0" y="0"/>
              <a:ext cx="544060" cy="181956"/>
            </a:xfrm>
            <a:custGeom>
              <a:avLst/>
              <a:gdLst/>
              <a:ahLst/>
              <a:cxnLst/>
              <a:rect r="r" b="b" t="t" l="l"/>
              <a:pathLst>
                <a:path h="181956" w="544060">
                  <a:moveTo>
                    <a:pt x="74956" y="0"/>
                  </a:moveTo>
                  <a:lnTo>
                    <a:pt x="469105" y="0"/>
                  </a:lnTo>
                  <a:cubicBezTo>
                    <a:pt x="488984" y="0"/>
                    <a:pt x="508049" y="7897"/>
                    <a:pt x="522106" y="21954"/>
                  </a:cubicBezTo>
                  <a:cubicBezTo>
                    <a:pt x="536163" y="36011"/>
                    <a:pt x="544060" y="55076"/>
                    <a:pt x="544060" y="74956"/>
                  </a:cubicBezTo>
                  <a:lnTo>
                    <a:pt x="544060" y="107000"/>
                  </a:lnTo>
                  <a:cubicBezTo>
                    <a:pt x="544060" y="126879"/>
                    <a:pt x="536163" y="145945"/>
                    <a:pt x="522106" y="160002"/>
                  </a:cubicBezTo>
                  <a:cubicBezTo>
                    <a:pt x="508049" y="174059"/>
                    <a:pt x="488984" y="181956"/>
                    <a:pt x="469105" y="181956"/>
                  </a:cubicBezTo>
                  <a:lnTo>
                    <a:pt x="74956" y="181956"/>
                  </a:lnTo>
                  <a:cubicBezTo>
                    <a:pt x="55076" y="181956"/>
                    <a:pt x="36011" y="174059"/>
                    <a:pt x="21954" y="160002"/>
                  </a:cubicBezTo>
                  <a:cubicBezTo>
                    <a:pt x="7897" y="145945"/>
                    <a:pt x="0" y="126879"/>
                    <a:pt x="0" y="107000"/>
                  </a:cubicBezTo>
                  <a:lnTo>
                    <a:pt x="0" y="74956"/>
                  </a:lnTo>
                  <a:cubicBezTo>
                    <a:pt x="0" y="55076"/>
                    <a:pt x="7897" y="36011"/>
                    <a:pt x="21954" y="21954"/>
                  </a:cubicBezTo>
                  <a:cubicBezTo>
                    <a:pt x="36011" y="7897"/>
                    <a:pt x="55076" y="0"/>
                    <a:pt x="74956" y="0"/>
                  </a:cubicBezTo>
                  <a:close/>
                </a:path>
              </a:pathLst>
            </a:custGeom>
            <a:solidFill>
              <a:srgbClr val="E8D1B3"/>
            </a:solidFill>
          </p:spPr>
        </p:sp>
        <p:sp>
          <p:nvSpPr>
            <p:cNvPr name="TextBox 112" id="112"/>
            <p:cNvSpPr txBox="true"/>
            <p:nvPr/>
          </p:nvSpPr>
          <p:spPr>
            <a:xfrm>
              <a:off x="0" y="9525"/>
              <a:ext cx="544060"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5.3 Uji coba akses online</a:t>
              </a:r>
            </a:p>
          </p:txBody>
        </p:sp>
      </p:grpSp>
      <p:sp>
        <p:nvSpPr>
          <p:cNvPr name="AutoShape 113" id="113"/>
          <p:cNvSpPr/>
          <p:nvPr/>
        </p:nvSpPr>
        <p:spPr>
          <a:xfrm>
            <a:off x="13645609" y="5556312"/>
            <a:ext cx="0" cy="308513"/>
          </a:xfrm>
          <a:prstGeom prst="line">
            <a:avLst/>
          </a:prstGeom>
          <a:ln cap="rnd" w="38100">
            <a:solidFill>
              <a:srgbClr val="000000"/>
            </a:solidFill>
            <a:prstDash val="solid"/>
            <a:headEnd type="none" len="sm" w="sm"/>
            <a:tailEnd type="arrow" len="sm" w="med"/>
          </a:ln>
        </p:spPr>
      </p:sp>
      <p:grpSp>
        <p:nvGrpSpPr>
          <p:cNvPr name="Group 114" id="114"/>
          <p:cNvGrpSpPr/>
          <p:nvPr/>
        </p:nvGrpSpPr>
        <p:grpSpPr>
          <a:xfrm rot="0">
            <a:off x="12612744" y="6917756"/>
            <a:ext cx="2065729" cy="872826"/>
            <a:chOff x="0" y="0"/>
            <a:chExt cx="544060" cy="229880"/>
          </a:xfrm>
        </p:grpSpPr>
        <p:sp>
          <p:nvSpPr>
            <p:cNvPr name="Freeform 115" id="115"/>
            <p:cNvSpPr/>
            <p:nvPr/>
          </p:nvSpPr>
          <p:spPr>
            <a:xfrm flipH="false" flipV="false" rot="0">
              <a:off x="0" y="0"/>
              <a:ext cx="544060" cy="229880"/>
            </a:xfrm>
            <a:custGeom>
              <a:avLst/>
              <a:gdLst/>
              <a:ahLst/>
              <a:cxnLst/>
              <a:rect r="r" b="b" t="t" l="l"/>
              <a:pathLst>
                <a:path h="229880" w="544060">
                  <a:moveTo>
                    <a:pt x="74956" y="0"/>
                  </a:moveTo>
                  <a:lnTo>
                    <a:pt x="469105" y="0"/>
                  </a:lnTo>
                  <a:cubicBezTo>
                    <a:pt x="488984" y="0"/>
                    <a:pt x="508049" y="7897"/>
                    <a:pt x="522106" y="21954"/>
                  </a:cubicBezTo>
                  <a:cubicBezTo>
                    <a:pt x="536163" y="36011"/>
                    <a:pt x="544060" y="55076"/>
                    <a:pt x="544060" y="74956"/>
                  </a:cubicBezTo>
                  <a:lnTo>
                    <a:pt x="544060" y="154924"/>
                  </a:lnTo>
                  <a:cubicBezTo>
                    <a:pt x="544060" y="174804"/>
                    <a:pt x="536163" y="193869"/>
                    <a:pt x="522106" y="207926"/>
                  </a:cubicBezTo>
                  <a:cubicBezTo>
                    <a:pt x="508049" y="221983"/>
                    <a:pt x="488984" y="229880"/>
                    <a:pt x="469105" y="229880"/>
                  </a:cubicBezTo>
                  <a:lnTo>
                    <a:pt x="74956" y="229880"/>
                  </a:lnTo>
                  <a:cubicBezTo>
                    <a:pt x="55076" y="229880"/>
                    <a:pt x="36011" y="221983"/>
                    <a:pt x="21954" y="207926"/>
                  </a:cubicBezTo>
                  <a:cubicBezTo>
                    <a:pt x="7897" y="193869"/>
                    <a:pt x="0" y="174804"/>
                    <a:pt x="0" y="154924"/>
                  </a:cubicBezTo>
                  <a:lnTo>
                    <a:pt x="0" y="74956"/>
                  </a:lnTo>
                  <a:cubicBezTo>
                    <a:pt x="0" y="55076"/>
                    <a:pt x="7897" y="36011"/>
                    <a:pt x="21954" y="21954"/>
                  </a:cubicBezTo>
                  <a:cubicBezTo>
                    <a:pt x="36011" y="7897"/>
                    <a:pt x="55076" y="0"/>
                    <a:pt x="74956" y="0"/>
                  </a:cubicBezTo>
                  <a:close/>
                </a:path>
              </a:pathLst>
            </a:custGeom>
            <a:solidFill>
              <a:srgbClr val="E8D1B3"/>
            </a:solidFill>
          </p:spPr>
        </p:sp>
        <p:sp>
          <p:nvSpPr>
            <p:cNvPr name="TextBox 116" id="116"/>
            <p:cNvSpPr txBox="true"/>
            <p:nvPr/>
          </p:nvSpPr>
          <p:spPr>
            <a:xfrm>
              <a:off x="0" y="9525"/>
              <a:ext cx="544060"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5.4 Penyerahan sistem final kepada klien</a:t>
              </a:r>
            </a:p>
          </p:txBody>
        </p:sp>
      </p:grpSp>
      <p:sp>
        <p:nvSpPr>
          <p:cNvPr name="AutoShape 117" id="117"/>
          <p:cNvSpPr/>
          <p:nvPr/>
        </p:nvSpPr>
        <p:spPr>
          <a:xfrm>
            <a:off x="13645609" y="6555687"/>
            <a:ext cx="0" cy="362069"/>
          </a:xfrm>
          <a:prstGeom prst="line">
            <a:avLst/>
          </a:prstGeom>
          <a:ln cap="rnd" w="38100">
            <a:solidFill>
              <a:srgbClr val="000000"/>
            </a:solidFill>
            <a:prstDash val="solid"/>
            <a:headEnd type="none" len="sm" w="sm"/>
            <a:tailEnd type="arrow" len="sm" w="med"/>
          </a:ln>
        </p:spPr>
      </p:sp>
      <p:grpSp>
        <p:nvGrpSpPr>
          <p:cNvPr name="Group 118" id="118"/>
          <p:cNvGrpSpPr/>
          <p:nvPr/>
        </p:nvGrpSpPr>
        <p:grpSpPr>
          <a:xfrm rot="0">
            <a:off x="15097574" y="2656843"/>
            <a:ext cx="2065729" cy="690863"/>
            <a:chOff x="0" y="0"/>
            <a:chExt cx="544060" cy="181956"/>
          </a:xfrm>
        </p:grpSpPr>
        <p:sp>
          <p:nvSpPr>
            <p:cNvPr name="Freeform 119" id="119"/>
            <p:cNvSpPr/>
            <p:nvPr/>
          </p:nvSpPr>
          <p:spPr>
            <a:xfrm flipH="false" flipV="false" rot="0">
              <a:off x="0" y="0"/>
              <a:ext cx="544060" cy="181956"/>
            </a:xfrm>
            <a:custGeom>
              <a:avLst/>
              <a:gdLst/>
              <a:ahLst/>
              <a:cxnLst/>
              <a:rect r="r" b="b" t="t" l="l"/>
              <a:pathLst>
                <a:path h="181956" w="544060">
                  <a:moveTo>
                    <a:pt x="74956" y="0"/>
                  </a:moveTo>
                  <a:lnTo>
                    <a:pt x="469105" y="0"/>
                  </a:lnTo>
                  <a:cubicBezTo>
                    <a:pt x="488984" y="0"/>
                    <a:pt x="508049" y="7897"/>
                    <a:pt x="522106" y="21954"/>
                  </a:cubicBezTo>
                  <a:cubicBezTo>
                    <a:pt x="536163" y="36011"/>
                    <a:pt x="544060" y="55076"/>
                    <a:pt x="544060" y="74956"/>
                  </a:cubicBezTo>
                  <a:lnTo>
                    <a:pt x="544060" y="107000"/>
                  </a:lnTo>
                  <a:cubicBezTo>
                    <a:pt x="544060" y="126879"/>
                    <a:pt x="536163" y="145945"/>
                    <a:pt x="522106" y="160002"/>
                  </a:cubicBezTo>
                  <a:cubicBezTo>
                    <a:pt x="508049" y="174059"/>
                    <a:pt x="488984" y="181956"/>
                    <a:pt x="469105" y="181956"/>
                  </a:cubicBezTo>
                  <a:lnTo>
                    <a:pt x="74956" y="181956"/>
                  </a:lnTo>
                  <a:cubicBezTo>
                    <a:pt x="55076" y="181956"/>
                    <a:pt x="36011" y="174059"/>
                    <a:pt x="21954" y="160002"/>
                  </a:cubicBezTo>
                  <a:cubicBezTo>
                    <a:pt x="7897" y="145945"/>
                    <a:pt x="0" y="126879"/>
                    <a:pt x="0" y="107000"/>
                  </a:cubicBezTo>
                  <a:lnTo>
                    <a:pt x="0" y="74956"/>
                  </a:lnTo>
                  <a:cubicBezTo>
                    <a:pt x="0" y="55076"/>
                    <a:pt x="7897" y="36011"/>
                    <a:pt x="21954" y="21954"/>
                  </a:cubicBezTo>
                  <a:cubicBezTo>
                    <a:pt x="36011" y="7897"/>
                    <a:pt x="55076" y="0"/>
                    <a:pt x="74956" y="0"/>
                  </a:cubicBezTo>
                  <a:close/>
                </a:path>
              </a:pathLst>
            </a:custGeom>
            <a:solidFill>
              <a:srgbClr val="DADEE5"/>
            </a:solidFill>
          </p:spPr>
        </p:sp>
        <p:sp>
          <p:nvSpPr>
            <p:cNvPr name="TextBox 120" id="120"/>
            <p:cNvSpPr txBox="true"/>
            <p:nvPr/>
          </p:nvSpPr>
          <p:spPr>
            <a:xfrm>
              <a:off x="0" y="9525"/>
              <a:ext cx="544060" cy="172431"/>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6. Pelatihan &amp; Pemeliharaan</a:t>
              </a:r>
            </a:p>
          </p:txBody>
        </p:sp>
      </p:grpSp>
      <p:grpSp>
        <p:nvGrpSpPr>
          <p:cNvPr name="Group 121" id="121"/>
          <p:cNvGrpSpPr/>
          <p:nvPr/>
        </p:nvGrpSpPr>
        <p:grpSpPr>
          <a:xfrm rot="0">
            <a:off x="14816254" y="3725923"/>
            <a:ext cx="2628369" cy="872826"/>
            <a:chOff x="0" y="0"/>
            <a:chExt cx="692245" cy="229880"/>
          </a:xfrm>
        </p:grpSpPr>
        <p:sp>
          <p:nvSpPr>
            <p:cNvPr name="Freeform 122" id="122"/>
            <p:cNvSpPr/>
            <p:nvPr/>
          </p:nvSpPr>
          <p:spPr>
            <a:xfrm flipH="false" flipV="false" rot="0">
              <a:off x="0" y="0"/>
              <a:ext cx="692245" cy="229880"/>
            </a:xfrm>
            <a:custGeom>
              <a:avLst/>
              <a:gdLst/>
              <a:ahLst/>
              <a:cxnLst/>
              <a:rect r="r" b="b" t="t" l="l"/>
              <a:pathLst>
                <a:path h="229880" w="692245">
                  <a:moveTo>
                    <a:pt x="58910" y="0"/>
                  </a:moveTo>
                  <a:lnTo>
                    <a:pt x="633335" y="0"/>
                  </a:lnTo>
                  <a:cubicBezTo>
                    <a:pt x="665870" y="0"/>
                    <a:pt x="692245" y="26375"/>
                    <a:pt x="692245" y="58910"/>
                  </a:cubicBezTo>
                  <a:lnTo>
                    <a:pt x="692245" y="170970"/>
                  </a:lnTo>
                  <a:cubicBezTo>
                    <a:pt x="692245" y="203505"/>
                    <a:pt x="665870" y="229880"/>
                    <a:pt x="633335" y="229880"/>
                  </a:cubicBezTo>
                  <a:lnTo>
                    <a:pt x="58910" y="229880"/>
                  </a:lnTo>
                  <a:cubicBezTo>
                    <a:pt x="26375" y="229880"/>
                    <a:pt x="0" y="203505"/>
                    <a:pt x="0" y="170970"/>
                  </a:cubicBezTo>
                  <a:lnTo>
                    <a:pt x="0" y="58910"/>
                  </a:lnTo>
                  <a:cubicBezTo>
                    <a:pt x="0" y="26375"/>
                    <a:pt x="26375" y="0"/>
                    <a:pt x="58910" y="0"/>
                  </a:cubicBezTo>
                  <a:close/>
                </a:path>
              </a:pathLst>
            </a:custGeom>
            <a:solidFill>
              <a:srgbClr val="DADEE5"/>
            </a:solidFill>
          </p:spPr>
        </p:sp>
        <p:sp>
          <p:nvSpPr>
            <p:cNvPr name="TextBox 123" id="123"/>
            <p:cNvSpPr txBox="true"/>
            <p:nvPr/>
          </p:nvSpPr>
          <p:spPr>
            <a:xfrm>
              <a:off x="0" y="9525"/>
              <a:ext cx="692245"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6.1 Pelatihan penggunaan sistem bagi pemilik Kedai Takosai</a:t>
              </a:r>
            </a:p>
          </p:txBody>
        </p:sp>
      </p:grpSp>
      <p:sp>
        <p:nvSpPr>
          <p:cNvPr name="AutoShape 124" id="124"/>
          <p:cNvSpPr/>
          <p:nvPr/>
        </p:nvSpPr>
        <p:spPr>
          <a:xfrm flipH="true">
            <a:off x="16130438" y="3347706"/>
            <a:ext cx="0" cy="378217"/>
          </a:xfrm>
          <a:prstGeom prst="line">
            <a:avLst/>
          </a:prstGeom>
          <a:ln cap="rnd" w="38100">
            <a:solidFill>
              <a:srgbClr val="000000"/>
            </a:solidFill>
            <a:prstDash val="solid"/>
            <a:headEnd type="none" len="sm" w="sm"/>
            <a:tailEnd type="arrow" len="sm" w="med"/>
          </a:ln>
        </p:spPr>
      </p:sp>
      <p:grpSp>
        <p:nvGrpSpPr>
          <p:cNvPr name="Group 125" id="125"/>
          <p:cNvGrpSpPr/>
          <p:nvPr/>
        </p:nvGrpSpPr>
        <p:grpSpPr>
          <a:xfrm rot="0">
            <a:off x="14816254" y="4979749"/>
            <a:ext cx="2628369" cy="872826"/>
            <a:chOff x="0" y="0"/>
            <a:chExt cx="692245" cy="229880"/>
          </a:xfrm>
        </p:grpSpPr>
        <p:sp>
          <p:nvSpPr>
            <p:cNvPr name="Freeform 126" id="126"/>
            <p:cNvSpPr/>
            <p:nvPr/>
          </p:nvSpPr>
          <p:spPr>
            <a:xfrm flipH="false" flipV="false" rot="0">
              <a:off x="0" y="0"/>
              <a:ext cx="692245" cy="229880"/>
            </a:xfrm>
            <a:custGeom>
              <a:avLst/>
              <a:gdLst/>
              <a:ahLst/>
              <a:cxnLst/>
              <a:rect r="r" b="b" t="t" l="l"/>
              <a:pathLst>
                <a:path h="229880" w="692245">
                  <a:moveTo>
                    <a:pt x="58910" y="0"/>
                  </a:moveTo>
                  <a:lnTo>
                    <a:pt x="633335" y="0"/>
                  </a:lnTo>
                  <a:cubicBezTo>
                    <a:pt x="665870" y="0"/>
                    <a:pt x="692245" y="26375"/>
                    <a:pt x="692245" y="58910"/>
                  </a:cubicBezTo>
                  <a:lnTo>
                    <a:pt x="692245" y="170970"/>
                  </a:lnTo>
                  <a:cubicBezTo>
                    <a:pt x="692245" y="203505"/>
                    <a:pt x="665870" y="229880"/>
                    <a:pt x="633335" y="229880"/>
                  </a:cubicBezTo>
                  <a:lnTo>
                    <a:pt x="58910" y="229880"/>
                  </a:lnTo>
                  <a:cubicBezTo>
                    <a:pt x="26375" y="229880"/>
                    <a:pt x="0" y="203505"/>
                    <a:pt x="0" y="170970"/>
                  </a:cubicBezTo>
                  <a:lnTo>
                    <a:pt x="0" y="58910"/>
                  </a:lnTo>
                  <a:cubicBezTo>
                    <a:pt x="0" y="26375"/>
                    <a:pt x="26375" y="0"/>
                    <a:pt x="58910" y="0"/>
                  </a:cubicBezTo>
                  <a:close/>
                </a:path>
              </a:pathLst>
            </a:custGeom>
            <a:solidFill>
              <a:srgbClr val="DADEE5"/>
            </a:solidFill>
          </p:spPr>
        </p:sp>
        <p:sp>
          <p:nvSpPr>
            <p:cNvPr name="TextBox 127" id="127"/>
            <p:cNvSpPr txBox="true"/>
            <p:nvPr/>
          </p:nvSpPr>
          <p:spPr>
            <a:xfrm>
              <a:off x="0" y="9525"/>
              <a:ext cx="692245"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6.2 Pembuatan panduan teknis dan dokumentasi pengguna</a:t>
              </a:r>
            </a:p>
          </p:txBody>
        </p:sp>
      </p:grpSp>
      <p:sp>
        <p:nvSpPr>
          <p:cNvPr name="AutoShape 128" id="128"/>
          <p:cNvSpPr/>
          <p:nvPr/>
        </p:nvSpPr>
        <p:spPr>
          <a:xfrm>
            <a:off x="16130438" y="4598749"/>
            <a:ext cx="0" cy="381000"/>
          </a:xfrm>
          <a:prstGeom prst="line">
            <a:avLst/>
          </a:prstGeom>
          <a:ln cap="rnd" w="38100">
            <a:solidFill>
              <a:srgbClr val="000000"/>
            </a:solidFill>
            <a:prstDash val="solid"/>
            <a:headEnd type="none" len="sm" w="sm"/>
            <a:tailEnd type="arrow" len="sm" w="med"/>
          </a:ln>
        </p:spPr>
      </p:sp>
      <p:grpSp>
        <p:nvGrpSpPr>
          <p:cNvPr name="Group 129" id="129"/>
          <p:cNvGrpSpPr/>
          <p:nvPr/>
        </p:nvGrpSpPr>
        <p:grpSpPr>
          <a:xfrm rot="0">
            <a:off x="14811388" y="6233574"/>
            <a:ext cx="2628369" cy="872826"/>
            <a:chOff x="0" y="0"/>
            <a:chExt cx="692245" cy="229880"/>
          </a:xfrm>
        </p:grpSpPr>
        <p:sp>
          <p:nvSpPr>
            <p:cNvPr name="Freeform 130" id="130"/>
            <p:cNvSpPr/>
            <p:nvPr/>
          </p:nvSpPr>
          <p:spPr>
            <a:xfrm flipH="false" flipV="false" rot="0">
              <a:off x="0" y="0"/>
              <a:ext cx="692245" cy="229880"/>
            </a:xfrm>
            <a:custGeom>
              <a:avLst/>
              <a:gdLst/>
              <a:ahLst/>
              <a:cxnLst/>
              <a:rect r="r" b="b" t="t" l="l"/>
              <a:pathLst>
                <a:path h="229880" w="692245">
                  <a:moveTo>
                    <a:pt x="58910" y="0"/>
                  </a:moveTo>
                  <a:lnTo>
                    <a:pt x="633335" y="0"/>
                  </a:lnTo>
                  <a:cubicBezTo>
                    <a:pt x="665870" y="0"/>
                    <a:pt x="692245" y="26375"/>
                    <a:pt x="692245" y="58910"/>
                  </a:cubicBezTo>
                  <a:lnTo>
                    <a:pt x="692245" y="170970"/>
                  </a:lnTo>
                  <a:cubicBezTo>
                    <a:pt x="692245" y="203505"/>
                    <a:pt x="665870" y="229880"/>
                    <a:pt x="633335" y="229880"/>
                  </a:cubicBezTo>
                  <a:lnTo>
                    <a:pt x="58910" y="229880"/>
                  </a:lnTo>
                  <a:cubicBezTo>
                    <a:pt x="26375" y="229880"/>
                    <a:pt x="0" y="203505"/>
                    <a:pt x="0" y="170970"/>
                  </a:cubicBezTo>
                  <a:lnTo>
                    <a:pt x="0" y="58910"/>
                  </a:lnTo>
                  <a:cubicBezTo>
                    <a:pt x="0" y="26375"/>
                    <a:pt x="26375" y="0"/>
                    <a:pt x="58910" y="0"/>
                  </a:cubicBezTo>
                  <a:close/>
                </a:path>
              </a:pathLst>
            </a:custGeom>
            <a:solidFill>
              <a:srgbClr val="DADEE5"/>
            </a:solidFill>
          </p:spPr>
        </p:sp>
        <p:sp>
          <p:nvSpPr>
            <p:cNvPr name="TextBox 131" id="131"/>
            <p:cNvSpPr txBox="true"/>
            <p:nvPr/>
          </p:nvSpPr>
          <p:spPr>
            <a:xfrm>
              <a:off x="0" y="9525"/>
              <a:ext cx="692245" cy="220355"/>
            </a:xfrm>
            <a:prstGeom prst="rect">
              <a:avLst/>
            </a:prstGeom>
          </p:spPr>
          <p:txBody>
            <a:bodyPr anchor="ctr" rtlCol="false" tIns="50800" lIns="50800" bIns="50800" rIns="50800"/>
            <a:lstStyle/>
            <a:p>
              <a:pPr algn="ctr">
                <a:lnSpc>
                  <a:spcPts val="1687"/>
                </a:lnSpc>
              </a:pPr>
              <a:r>
                <a:rPr lang="en-US" b="true" sz="1534">
                  <a:solidFill>
                    <a:srgbClr val="000000"/>
                  </a:solidFill>
                  <a:latin typeface="Poppins Medium"/>
                  <a:ea typeface="Poppins Medium"/>
                  <a:cs typeface="Poppins Medium"/>
                  <a:sym typeface="Poppins Medium"/>
                </a:rPr>
                <a:t>6.3 Pemeliharaan minor dan pembaruan sistem berdasarkan kebutuhan</a:t>
              </a:r>
            </a:p>
          </p:txBody>
        </p:sp>
      </p:grpSp>
      <p:sp>
        <p:nvSpPr>
          <p:cNvPr name="AutoShape 132" id="132"/>
          <p:cNvSpPr/>
          <p:nvPr/>
        </p:nvSpPr>
        <p:spPr>
          <a:xfrm flipH="true">
            <a:off x="16125573" y="5852574"/>
            <a:ext cx="4866" cy="381000"/>
          </a:xfrm>
          <a:prstGeom prst="line">
            <a:avLst/>
          </a:prstGeom>
          <a:ln cap="rnd" w="38100">
            <a:solidFill>
              <a:srgbClr val="000000"/>
            </a:solidFill>
            <a:prstDash val="solid"/>
            <a:headEnd type="none" len="sm" w="sm"/>
            <a:tailEnd type="arrow" len="sm" w="med"/>
          </a:ln>
        </p:spPr>
      </p:sp>
      <p:sp>
        <p:nvSpPr>
          <p:cNvPr name="Freeform 133" id="133"/>
          <p:cNvSpPr/>
          <p:nvPr/>
        </p:nvSpPr>
        <p:spPr>
          <a:xfrm flipH="false" flipV="false" rot="0">
            <a:off x="7877405" y="1835893"/>
            <a:ext cx="6290065" cy="6290065"/>
          </a:xfrm>
          <a:custGeom>
            <a:avLst/>
            <a:gdLst/>
            <a:ahLst/>
            <a:cxnLst/>
            <a:rect r="r" b="b" t="t" l="l"/>
            <a:pathLst>
              <a:path h="6290065" w="6290065">
                <a:moveTo>
                  <a:pt x="0" y="0"/>
                </a:moveTo>
                <a:lnTo>
                  <a:pt x="6290065" y="0"/>
                </a:lnTo>
                <a:lnTo>
                  <a:pt x="6290065" y="6290065"/>
                </a:lnTo>
                <a:lnTo>
                  <a:pt x="0" y="629006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4" id="134"/>
          <p:cNvSpPr/>
          <p:nvPr/>
        </p:nvSpPr>
        <p:spPr>
          <a:xfrm flipH="false" flipV="false" rot="0">
            <a:off x="14299591" y="2097748"/>
            <a:ext cx="6290065" cy="6290065"/>
          </a:xfrm>
          <a:custGeom>
            <a:avLst/>
            <a:gdLst/>
            <a:ahLst/>
            <a:cxnLst/>
            <a:rect r="r" b="b" t="t" l="l"/>
            <a:pathLst>
              <a:path h="6290065" w="6290065">
                <a:moveTo>
                  <a:pt x="0" y="0"/>
                </a:moveTo>
                <a:lnTo>
                  <a:pt x="6290064" y="0"/>
                </a:lnTo>
                <a:lnTo>
                  <a:pt x="6290064" y="6290065"/>
                </a:lnTo>
                <a:lnTo>
                  <a:pt x="0" y="629006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5" id="135"/>
          <p:cNvSpPr/>
          <p:nvPr/>
        </p:nvSpPr>
        <p:spPr>
          <a:xfrm flipH="false" flipV="false" rot="0">
            <a:off x="12180003" y="6013512"/>
            <a:ext cx="6290065" cy="6290065"/>
          </a:xfrm>
          <a:custGeom>
            <a:avLst/>
            <a:gdLst/>
            <a:ahLst/>
            <a:cxnLst/>
            <a:rect r="r" b="b" t="t" l="l"/>
            <a:pathLst>
              <a:path h="6290065" w="6290065">
                <a:moveTo>
                  <a:pt x="0" y="0"/>
                </a:moveTo>
                <a:lnTo>
                  <a:pt x="6290065" y="0"/>
                </a:lnTo>
                <a:lnTo>
                  <a:pt x="6290065" y="6290064"/>
                </a:lnTo>
                <a:lnTo>
                  <a:pt x="0" y="629006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6" id="136"/>
          <p:cNvSpPr/>
          <p:nvPr/>
        </p:nvSpPr>
        <p:spPr>
          <a:xfrm flipH="false" flipV="false" rot="0">
            <a:off x="-352959" y="5346762"/>
            <a:ext cx="6290065" cy="6290065"/>
          </a:xfrm>
          <a:custGeom>
            <a:avLst/>
            <a:gdLst/>
            <a:ahLst/>
            <a:cxnLst/>
            <a:rect r="r" b="b" t="t" l="l"/>
            <a:pathLst>
              <a:path h="6290065" w="6290065">
                <a:moveTo>
                  <a:pt x="0" y="0"/>
                </a:moveTo>
                <a:lnTo>
                  <a:pt x="6290065" y="0"/>
                </a:lnTo>
                <a:lnTo>
                  <a:pt x="6290065" y="6290064"/>
                </a:lnTo>
                <a:lnTo>
                  <a:pt x="0" y="629006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7" id="137"/>
          <p:cNvSpPr/>
          <p:nvPr/>
        </p:nvSpPr>
        <p:spPr>
          <a:xfrm flipH="false" flipV="false" rot="0">
            <a:off x="623004" y="5346762"/>
            <a:ext cx="6290065" cy="6290065"/>
          </a:xfrm>
          <a:custGeom>
            <a:avLst/>
            <a:gdLst/>
            <a:ahLst/>
            <a:cxnLst/>
            <a:rect r="r" b="b" t="t" l="l"/>
            <a:pathLst>
              <a:path h="6290065" w="6290065">
                <a:moveTo>
                  <a:pt x="0" y="0"/>
                </a:moveTo>
                <a:lnTo>
                  <a:pt x="6290064" y="0"/>
                </a:lnTo>
                <a:lnTo>
                  <a:pt x="6290064" y="6290064"/>
                </a:lnTo>
                <a:lnTo>
                  <a:pt x="0" y="629006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8" id="138"/>
          <p:cNvSpPr/>
          <p:nvPr/>
        </p:nvSpPr>
        <p:spPr>
          <a:xfrm flipH="false" flipV="false" rot="0">
            <a:off x="-828164" y="-702334"/>
            <a:ext cx="6290065" cy="6290065"/>
          </a:xfrm>
          <a:custGeom>
            <a:avLst/>
            <a:gdLst/>
            <a:ahLst/>
            <a:cxnLst/>
            <a:rect r="r" b="b" t="t" l="l"/>
            <a:pathLst>
              <a:path h="6290065" w="6290065">
                <a:moveTo>
                  <a:pt x="0" y="0"/>
                </a:moveTo>
                <a:lnTo>
                  <a:pt x="6290065" y="0"/>
                </a:lnTo>
                <a:lnTo>
                  <a:pt x="6290065" y="6290065"/>
                </a:lnTo>
                <a:lnTo>
                  <a:pt x="0" y="629006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9" id="139"/>
          <p:cNvSpPr/>
          <p:nvPr/>
        </p:nvSpPr>
        <p:spPr>
          <a:xfrm flipH="false" flipV="false" rot="0">
            <a:off x="5018961" y="-245134"/>
            <a:ext cx="6290065" cy="6290065"/>
          </a:xfrm>
          <a:custGeom>
            <a:avLst/>
            <a:gdLst/>
            <a:ahLst/>
            <a:cxnLst/>
            <a:rect r="r" b="b" t="t" l="l"/>
            <a:pathLst>
              <a:path h="6290065" w="6290065">
                <a:moveTo>
                  <a:pt x="0" y="0"/>
                </a:moveTo>
                <a:lnTo>
                  <a:pt x="6290065" y="0"/>
                </a:lnTo>
                <a:lnTo>
                  <a:pt x="6290065" y="6290065"/>
                </a:lnTo>
                <a:lnTo>
                  <a:pt x="0" y="6290065"/>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CA52"/>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329793">
            <a:off x="14130313" y="-2606623"/>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329793">
            <a:off x="-2109220" y="8569371"/>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09157" y="4130257"/>
            <a:ext cx="10612799" cy="1127610"/>
          </a:xfrm>
          <a:custGeom>
            <a:avLst/>
            <a:gdLst/>
            <a:ahLst/>
            <a:cxnLst/>
            <a:rect r="r" b="b" t="t" l="l"/>
            <a:pathLst>
              <a:path h="1127610" w="10612799">
                <a:moveTo>
                  <a:pt x="0" y="0"/>
                </a:moveTo>
                <a:lnTo>
                  <a:pt x="10612799" y="0"/>
                </a:lnTo>
                <a:lnTo>
                  <a:pt x="10612799" y="1127610"/>
                </a:lnTo>
                <a:lnTo>
                  <a:pt x="0" y="1127610"/>
                </a:lnTo>
                <a:lnTo>
                  <a:pt x="0" y="0"/>
                </a:lnTo>
                <a:close/>
              </a:path>
            </a:pathLst>
          </a:custGeom>
          <a:blipFill>
            <a:blip r:embed="rId6"/>
            <a:stretch>
              <a:fillRect l="0" t="0" r="0" b="0"/>
            </a:stretch>
          </a:blipFill>
        </p:spPr>
      </p:sp>
      <p:sp>
        <p:nvSpPr>
          <p:cNvPr name="Freeform 6" id="6"/>
          <p:cNvSpPr/>
          <p:nvPr/>
        </p:nvSpPr>
        <p:spPr>
          <a:xfrm flipH="false" flipV="false" rot="0">
            <a:off x="14027024" y="3646149"/>
            <a:ext cx="3144893" cy="288203"/>
          </a:xfrm>
          <a:custGeom>
            <a:avLst/>
            <a:gdLst/>
            <a:ahLst/>
            <a:cxnLst/>
            <a:rect r="r" b="b" t="t" l="l"/>
            <a:pathLst>
              <a:path h="288203" w="3144893">
                <a:moveTo>
                  <a:pt x="0" y="0"/>
                </a:moveTo>
                <a:lnTo>
                  <a:pt x="3144893" y="0"/>
                </a:lnTo>
                <a:lnTo>
                  <a:pt x="3144893" y="288203"/>
                </a:lnTo>
                <a:lnTo>
                  <a:pt x="0" y="288203"/>
                </a:lnTo>
                <a:lnTo>
                  <a:pt x="0" y="0"/>
                </a:lnTo>
                <a:close/>
              </a:path>
            </a:pathLst>
          </a:custGeom>
          <a:blipFill>
            <a:blip r:embed="rId7"/>
            <a:stretch>
              <a:fillRect l="-57996" t="0" r="-66457" b="-2797"/>
            </a:stretch>
          </a:blipFill>
        </p:spPr>
      </p:sp>
      <p:sp>
        <p:nvSpPr>
          <p:cNvPr name="Freeform 7" id="7"/>
          <p:cNvSpPr/>
          <p:nvPr/>
        </p:nvSpPr>
        <p:spPr>
          <a:xfrm flipH="false" flipV="false" rot="0">
            <a:off x="11821956" y="3645640"/>
            <a:ext cx="2205068" cy="288712"/>
          </a:xfrm>
          <a:custGeom>
            <a:avLst/>
            <a:gdLst/>
            <a:ahLst/>
            <a:cxnLst/>
            <a:rect r="r" b="b" t="t" l="l"/>
            <a:pathLst>
              <a:path h="288712" w="2205068">
                <a:moveTo>
                  <a:pt x="0" y="0"/>
                </a:moveTo>
                <a:lnTo>
                  <a:pt x="2205068" y="0"/>
                </a:lnTo>
                <a:lnTo>
                  <a:pt x="2205068" y="288712"/>
                </a:lnTo>
                <a:lnTo>
                  <a:pt x="0" y="288712"/>
                </a:lnTo>
                <a:lnTo>
                  <a:pt x="0" y="0"/>
                </a:lnTo>
                <a:close/>
              </a:path>
            </a:pathLst>
          </a:custGeom>
          <a:blipFill>
            <a:blip r:embed="rId8"/>
            <a:stretch>
              <a:fillRect l="-19345" t="0" r="-19345" b="0"/>
            </a:stretch>
          </a:blipFill>
        </p:spPr>
      </p:sp>
      <p:sp>
        <p:nvSpPr>
          <p:cNvPr name="Freeform 8" id="8"/>
          <p:cNvSpPr/>
          <p:nvPr/>
        </p:nvSpPr>
        <p:spPr>
          <a:xfrm flipH="false" flipV="false" rot="0">
            <a:off x="1209157" y="3618934"/>
            <a:ext cx="10612799" cy="504108"/>
          </a:xfrm>
          <a:custGeom>
            <a:avLst/>
            <a:gdLst/>
            <a:ahLst/>
            <a:cxnLst/>
            <a:rect r="r" b="b" t="t" l="l"/>
            <a:pathLst>
              <a:path h="504108" w="10612799">
                <a:moveTo>
                  <a:pt x="0" y="0"/>
                </a:moveTo>
                <a:lnTo>
                  <a:pt x="10612799" y="0"/>
                </a:lnTo>
                <a:lnTo>
                  <a:pt x="10612799" y="504108"/>
                </a:lnTo>
                <a:lnTo>
                  <a:pt x="0" y="504108"/>
                </a:lnTo>
                <a:lnTo>
                  <a:pt x="0" y="0"/>
                </a:lnTo>
                <a:close/>
              </a:path>
            </a:pathLst>
          </a:custGeom>
          <a:blipFill>
            <a:blip r:embed="rId9"/>
            <a:stretch>
              <a:fillRect l="0" t="0" r="0" b="0"/>
            </a:stretch>
          </a:blipFill>
        </p:spPr>
      </p:sp>
      <p:sp>
        <p:nvSpPr>
          <p:cNvPr name="Freeform 9" id="9"/>
          <p:cNvSpPr/>
          <p:nvPr/>
        </p:nvSpPr>
        <p:spPr>
          <a:xfrm flipH="false" flipV="false" rot="0">
            <a:off x="1209157" y="1575155"/>
            <a:ext cx="16230600" cy="1805654"/>
          </a:xfrm>
          <a:custGeom>
            <a:avLst/>
            <a:gdLst/>
            <a:ahLst/>
            <a:cxnLst/>
            <a:rect r="r" b="b" t="t" l="l"/>
            <a:pathLst>
              <a:path h="1805654" w="16230600">
                <a:moveTo>
                  <a:pt x="0" y="0"/>
                </a:moveTo>
                <a:lnTo>
                  <a:pt x="16230600" y="0"/>
                </a:lnTo>
                <a:lnTo>
                  <a:pt x="16230600" y="1805654"/>
                </a:lnTo>
                <a:lnTo>
                  <a:pt x="0" y="1805654"/>
                </a:lnTo>
                <a:lnTo>
                  <a:pt x="0" y="0"/>
                </a:lnTo>
                <a:close/>
              </a:path>
            </a:pathLst>
          </a:custGeom>
          <a:blipFill>
            <a:blip r:embed="rId10"/>
            <a:stretch>
              <a:fillRect l="0" t="0" r="0" b="0"/>
            </a:stretch>
          </a:blipFill>
        </p:spPr>
      </p:sp>
      <p:sp>
        <p:nvSpPr>
          <p:cNvPr name="Freeform 10" id="10"/>
          <p:cNvSpPr/>
          <p:nvPr/>
        </p:nvSpPr>
        <p:spPr>
          <a:xfrm flipH="false" flipV="false" rot="0">
            <a:off x="11821956" y="3934352"/>
            <a:ext cx="5349961" cy="1327122"/>
          </a:xfrm>
          <a:custGeom>
            <a:avLst/>
            <a:gdLst/>
            <a:ahLst/>
            <a:cxnLst/>
            <a:rect r="r" b="b" t="t" l="l"/>
            <a:pathLst>
              <a:path h="1327122" w="5349961">
                <a:moveTo>
                  <a:pt x="0" y="0"/>
                </a:moveTo>
                <a:lnTo>
                  <a:pt x="5349961" y="0"/>
                </a:lnTo>
                <a:lnTo>
                  <a:pt x="5349961" y="1327122"/>
                </a:lnTo>
                <a:lnTo>
                  <a:pt x="0" y="1327122"/>
                </a:lnTo>
                <a:lnTo>
                  <a:pt x="0" y="0"/>
                </a:lnTo>
                <a:close/>
              </a:path>
            </a:pathLst>
          </a:custGeom>
          <a:blipFill>
            <a:blip r:embed="rId11"/>
            <a:stretch>
              <a:fillRect l="0" t="0" r="0" b="0"/>
            </a:stretch>
          </a:blipFill>
        </p:spPr>
      </p:sp>
      <p:sp>
        <p:nvSpPr>
          <p:cNvPr name="Freeform 11" id="11"/>
          <p:cNvSpPr/>
          <p:nvPr/>
        </p:nvSpPr>
        <p:spPr>
          <a:xfrm flipH="false" flipV="false" rot="0">
            <a:off x="12510416" y="5991347"/>
            <a:ext cx="2634300" cy="1045827"/>
          </a:xfrm>
          <a:custGeom>
            <a:avLst/>
            <a:gdLst/>
            <a:ahLst/>
            <a:cxnLst/>
            <a:rect r="r" b="b" t="t" l="l"/>
            <a:pathLst>
              <a:path h="1045827" w="2634300">
                <a:moveTo>
                  <a:pt x="0" y="0"/>
                </a:moveTo>
                <a:lnTo>
                  <a:pt x="2634300" y="0"/>
                </a:lnTo>
                <a:lnTo>
                  <a:pt x="2634300" y="1045827"/>
                </a:lnTo>
                <a:lnTo>
                  <a:pt x="0" y="1045827"/>
                </a:lnTo>
                <a:lnTo>
                  <a:pt x="0" y="0"/>
                </a:lnTo>
                <a:close/>
              </a:path>
            </a:pathLst>
          </a:custGeom>
          <a:blipFill>
            <a:blip r:embed="rId12"/>
            <a:stretch>
              <a:fillRect l="0" t="0" r="0" b="0"/>
            </a:stretch>
          </a:blipFill>
        </p:spPr>
      </p:sp>
      <p:sp>
        <p:nvSpPr>
          <p:cNvPr name="Freeform 12" id="12"/>
          <p:cNvSpPr/>
          <p:nvPr/>
        </p:nvSpPr>
        <p:spPr>
          <a:xfrm flipH="false" flipV="false" rot="0">
            <a:off x="12510416" y="5666896"/>
            <a:ext cx="2634300" cy="324451"/>
          </a:xfrm>
          <a:custGeom>
            <a:avLst/>
            <a:gdLst/>
            <a:ahLst/>
            <a:cxnLst/>
            <a:rect r="r" b="b" t="t" l="l"/>
            <a:pathLst>
              <a:path h="324451" w="2634300">
                <a:moveTo>
                  <a:pt x="0" y="0"/>
                </a:moveTo>
                <a:lnTo>
                  <a:pt x="2634300" y="0"/>
                </a:lnTo>
                <a:lnTo>
                  <a:pt x="2634300" y="324451"/>
                </a:lnTo>
                <a:lnTo>
                  <a:pt x="0" y="324451"/>
                </a:lnTo>
                <a:lnTo>
                  <a:pt x="0" y="0"/>
                </a:lnTo>
                <a:close/>
              </a:path>
            </a:pathLst>
          </a:custGeom>
          <a:blipFill>
            <a:blip r:embed="rId7"/>
            <a:stretch>
              <a:fillRect l="-101481" t="-4365" r="-104779" b="0"/>
            </a:stretch>
          </a:blipFill>
        </p:spPr>
      </p:sp>
      <p:sp>
        <p:nvSpPr>
          <p:cNvPr name="Freeform 13" id="13"/>
          <p:cNvSpPr/>
          <p:nvPr/>
        </p:nvSpPr>
        <p:spPr>
          <a:xfrm flipH="false" flipV="false" rot="0">
            <a:off x="1209157" y="5666896"/>
            <a:ext cx="11301259" cy="1370278"/>
          </a:xfrm>
          <a:custGeom>
            <a:avLst/>
            <a:gdLst/>
            <a:ahLst/>
            <a:cxnLst/>
            <a:rect r="r" b="b" t="t" l="l"/>
            <a:pathLst>
              <a:path h="1370278" w="11301259">
                <a:moveTo>
                  <a:pt x="0" y="0"/>
                </a:moveTo>
                <a:lnTo>
                  <a:pt x="11301259" y="0"/>
                </a:lnTo>
                <a:lnTo>
                  <a:pt x="11301259" y="1370278"/>
                </a:lnTo>
                <a:lnTo>
                  <a:pt x="0" y="1370278"/>
                </a:lnTo>
                <a:lnTo>
                  <a:pt x="0" y="0"/>
                </a:lnTo>
                <a:close/>
              </a:path>
            </a:pathLst>
          </a:custGeom>
          <a:blipFill>
            <a:blip r:embed="rId13"/>
            <a:stretch>
              <a:fillRect l="0" t="0" r="0" b="0"/>
            </a:stretch>
          </a:blipFill>
        </p:spPr>
      </p:sp>
      <p:sp>
        <p:nvSpPr>
          <p:cNvPr name="Freeform 14" id="14"/>
          <p:cNvSpPr/>
          <p:nvPr/>
        </p:nvSpPr>
        <p:spPr>
          <a:xfrm flipH="false" flipV="false" rot="0">
            <a:off x="1209157" y="7981253"/>
            <a:ext cx="9899911" cy="1658235"/>
          </a:xfrm>
          <a:custGeom>
            <a:avLst/>
            <a:gdLst/>
            <a:ahLst/>
            <a:cxnLst/>
            <a:rect r="r" b="b" t="t" l="l"/>
            <a:pathLst>
              <a:path h="1658235" w="9899911">
                <a:moveTo>
                  <a:pt x="0" y="0"/>
                </a:moveTo>
                <a:lnTo>
                  <a:pt x="9899911" y="0"/>
                </a:lnTo>
                <a:lnTo>
                  <a:pt x="9899911" y="1658235"/>
                </a:lnTo>
                <a:lnTo>
                  <a:pt x="0" y="1658235"/>
                </a:lnTo>
                <a:lnTo>
                  <a:pt x="0" y="0"/>
                </a:lnTo>
                <a:close/>
              </a:path>
            </a:pathLst>
          </a:custGeom>
          <a:blipFill>
            <a:blip r:embed="rId14"/>
            <a:stretch>
              <a:fillRect l="0" t="0" r="0" b="0"/>
            </a:stretch>
          </a:blipFill>
        </p:spPr>
      </p:sp>
      <p:sp>
        <p:nvSpPr>
          <p:cNvPr name="Freeform 15" id="15"/>
          <p:cNvSpPr/>
          <p:nvPr/>
        </p:nvSpPr>
        <p:spPr>
          <a:xfrm flipH="false" flipV="false" rot="0">
            <a:off x="11109068" y="8266157"/>
            <a:ext cx="6373419" cy="1373332"/>
          </a:xfrm>
          <a:custGeom>
            <a:avLst/>
            <a:gdLst/>
            <a:ahLst/>
            <a:cxnLst/>
            <a:rect r="r" b="b" t="t" l="l"/>
            <a:pathLst>
              <a:path h="1373332" w="6373419">
                <a:moveTo>
                  <a:pt x="0" y="0"/>
                </a:moveTo>
                <a:lnTo>
                  <a:pt x="6373419" y="0"/>
                </a:lnTo>
                <a:lnTo>
                  <a:pt x="6373419" y="1373331"/>
                </a:lnTo>
                <a:lnTo>
                  <a:pt x="0" y="1373331"/>
                </a:lnTo>
                <a:lnTo>
                  <a:pt x="0" y="0"/>
                </a:lnTo>
                <a:close/>
              </a:path>
            </a:pathLst>
          </a:custGeom>
          <a:blipFill>
            <a:blip r:embed="rId15"/>
            <a:stretch>
              <a:fillRect l="0" t="0" r="0" b="0"/>
            </a:stretch>
          </a:blipFill>
        </p:spPr>
      </p:sp>
      <p:sp>
        <p:nvSpPr>
          <p:cNvPr name="Freeform 16" id="16"/>
          <p:cNvSpPr/>
          <p:nvPr/>
        </p:nvSpPr>
        <p:spPr>
          <a:xfrm flipH="false" flipV="false" rot="0">
            <a:off x="11109068" y="7981253"/>
            <a:ext cx="6373419" cy="284903"/>
          </a:xfrm>
          <a:custGeom>
            <a:avLst/>
            <a:gdLst/>
            <a:ahLst/>
            <a:cxnLst/>
            <a:rect r="r" b="b" t="t" l="l"/>
            <a:pathLst>
              <a:path h="284903" w="6373419">
                <a:moveTo>
                  <a:pt x="0" y="0"/>
                </a:moveTo>
                <a:lnTo>
                  <a:pt x="6373419" y="0"/>
                </a:lnTo>
                <a:lnTo>
                  <a:pt x="6373419" y="284904"/>
                </a:lnTo>
                <a:lnTo>
                  <a:pt x="0" y="284904"/>
                </a:lnTo>
                <a:lnTo>
                  <a:pt x="0" y="0"/>
                </a:lnTo>
                <a:close/>
              </a:path>
            </a:pathLst>
          </a:custGeom>
          <a:blipFill>
            <a:blip r:embed="rId16"/>
            <a:stretch>
              <a:fillRect l="-14526" t="0" r="-14526" b="0"/>
            </a:stretch>
          </a:blipFill>
        </p:spPr>
      </p:sp>
      <p:sp>
        <p:nvSpPr>
          <p:cNvPr name="TextBox 17" id="17"/>
          <p:cNvSpPr txBox="true"/>
          <p:nvPr/>
        </p:nvSpPr>
        <p:spPr>
          <a:xfrm rot="0">
            <a:off x="4915267" y="377189"/>
            <a:ext cx="8864009" cy="651511"/>
          </a:xfrm>
          <a:prstGeom prst="rect">
            <a:avLst/>
          </a:prstGeom>
        </p:spPr>
        <p:txBody>
          <a:bodyPr anchor="t" rtlCol="false" tIns="0" lIns="0" bIns="0" rIns="0">
            <a:spAutoFit/>
          </a:bodyPr>
          <a:lstStyle/>
          <a:p>
            <a:pPr algn="ctr" marL="0" indent="0" lvl="0">
              <a:lnSpc>
                <a:spcPts val="5039"/>
              </a:lnSpc>
              <a:spcBef>
                <a:spcPct val="0"/>
              </a:spcBef>
            </a:pPr>
            <a:r>
              <a:rPr lang="en-US" b="true" sz="3599" strike="noStrike" u="none">
                <a:solidFill>
                  <a:srgbClr val="000000"/>
                </a:solidFill>
                <a:latin typeface="Poppins Bold"/>
                <a:ea typeface="Poppins Bold"/>
                <a:cs typeface="Poppins Bold"/>
                <a:sym typeface="Poppins Bold"/>
              </a:rPr>
              <a:t>GANTT CHART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CA52"/>
        </a:solidFill>
      </p:bgPr>
    </p:bg>
    <p:spTree>
      <p:nvGrpSpPr>
        <p:cNvPr id="1" name=""/>
        <p:cNvGrpSpPr/>
        <p:nvPr/>
      </p:nvGrpSpPr>
      <p:grpSpPr>
        <a:xfrm>
          <a:off x="0" y="0"/>
          <a:ext cx="0" cy="0"/>
          <a:chOff x="0" y="0"/>
          <a:chExt cx="0" cy="0"/>
        </a:xfrm>
      </p:grpSpPr>
      <p:sp>
        <p:nvSpPr>
          <p:cNvPr name="Freeform 2" id="2"/>
          <p:cNvSpPr/>
          <p:nvPr/>
        </p:nvSpPr>
        <p:spPr>
          <a:xfrm flipH="false" flipV="false" rot="0">
            <a:off x="28575" y="-698391"/>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329793">
            <a:off x="14130313" y="-2606623"/>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329793">
            <a:off x="-2109220" y="8569371"/>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47750" y="2673103"/>
            <a:ext cx="11301259" cy="890044"/>
          </a:xfrm>
          <a:custGeom>
            <a:avLst/>
            <a:gdLst/>
            <a:ahLst/>
            <a:cxnLst/>
            <a:rect r="r" b="b" t="t" l="l"/>
            <a:pathLst>
              <a:path h="890044" w="11301259">
                <a:moveTo>
                  <a:pt x="0" y="0"/>
                </a:moveTo>
                <a:lnTo>
                  <a:pt x="11301259" y="0"/>
                </a:lnTo>
                <a:lnTo>
                  <a:pt x="11301259" y="890043"/>
                </a:lnTo>
                <a:lnTo>
                  <a:pt x="0" y="890043"/>
                </a:lnTo>
                <a:lnTo>
                  <a:pt x="0" y="0"/>
                </a:lnTo>
                <a:close/>
              </a:path>
            </a:pathLst>
          </a:custGeom>
          <a:blipFill>
            <a:blip r:embed="rId6"/>
            <a:stretch>
              <a:fillRect l="0" t="0" r="0" b="-3166"/>
            </a:stretch>
          </a:blipFill>
        </p:spPr>
      </p:sp>
      <p:sp>
        <p:nvSpPr>
          <p:cNvPr name="Freeform 6" id="6"/>
          <p:cNvSpPr/>
          <p:nvPr/>
        </p:nvSpPr>
        <p:spPr>
          <a:xfrm flipH="false" flipV="false" rot="0">
            <a:off x="1028700" y="5506246"/>
            <a:ext cx="11301259" cy="692202"/>
          </a:xfrm>
          <a:custGeom>
            <a:avLst/>
            <a:gdLst/>
            <a:ahLst/>
            <a:cxnLst/>
            <a:rect r="r" b="b" t="t" l="l"/>
            <a:pathLst>
              <a:path h="692202" w="11301259">
                <a:moveTo>
                  <a:pt x="0" y="0"/>
                </a:moveTo>
                <a:lnTo>
                  <a:pt x="11301259" y="0"/>
                </a:lnTo>
                <a:lnTo>
                  <a:pt x="11301259" y="692202"/>
                </a:lnTo>
                <a:lnTo>
                  <a:pt x="0" y="692202"/>
                </a:lnTo>
                <a:lnTo>
                  <a:pt x="0" y="0"/>
                </a:lnTo>
                <a:close/>
              </a:path>
            </a:pathLst>
          </a:custGeom>
          <a:blipFill>
            <a:blip r:embed="rId7"/>
            <a:stretch>
              <a:fillRect l="0" t="0" r="0" b="0"/>
            </a:stretch>
          </a:blipFill>
        </p:spPr>
      </p:sp>
      <p:sp>
        <p:nvSpPr>
          <p:cNvPr name="Freeform 7" id="7"/>
          <p:cNvSpPr/>
          <p:nvPr/>
        </p:nvSpPr>
        <p:spPr>
          <a:xfrm flipH="false" flipV="false" rot="0">
            <a:off x="1038225" y="2154890"/>
            <a:ext cx="11310784" cy="537262"/>
          </a:xfrm>
          <a:custGeom>
            <a:avLst/>
            <a:gdLst/>
            <a:ahLst/>
            <a:cxnLst/>
            <a:rect r="r" b="b" t="t" l="l"/>
            <a:pathLst>
              <a:path h="537262" w="11310784">
                <a:moveTo>
                  <a:pt x="0" y="0"/>
                </a:moveTo>
                <a:lnTo>
                  <a:pt x="11310784" y="0"/>
                </a:lnTo>
                <a:lnTo>
                  <a:pt x="11310784" y="537263"/>
                </a:lnTo>
                <a:lnTo>
                  <a:pt x="0" y="537263"/>
                </a:lnTo>
                <a:lnTo>
                  <a:pt x="0" y="0"/>
                </a:lnTo>
                <a:close/>
              </a:path>
            </a:pathLst>
          </a:custGeom>
          <a:blipFill>
            <a:blip r:embed="rId8"/>
            <a:stretch>
              <a:fillRect l="0" t="0" r="0" b="0"/>
            </a:stretch>
          </a:blipFill>
        </p:spPr>
      </p:sp>
      <p:sp>
        <p:nvSpPr>
          <p:cNvPr name="Freeform 8" id="8"/>
          <p:cNvSpPr/>
          <p:nvPr/>
        </p:nvSpPr>
        <p:spPr>
          <a:xfrm flipH="false" flipV="false" rot="0">
            <a:off x="1038225" y="4968984"/>
            <a:ext cx="11310784" cy="537262"/>
          </a:xfrm>
          <a:custGeom>
            <a:avLst/>
            <a:gdLst/>
            <a:ahLst/>
            <a:cxnLst/>
            <a:rect r="r" b="b" t="t" l="l"/>
            <a:pathLst>
              <a:path h="537262" w="11310784">
                <a:moveTo>
                  <a:pt x="0" y="0"/>
                </a:moveTo>
                <a:lnTo>
                  <a:pt x="11310784" y="0"/>
                </a:lnTo>
                <a:lnTo>
                  <a:pt x="11310784" y="537262"/>
                </a:lnTo>
                <a:lnTo>
                  <a:pt x="0" y="537262"/>
                </a:lnTo>
                <a:lnTo>
                  <a:pt x="0" y="0"/>
                </a:lnTo>
                <a:close/>
              </a:path>
            </a:pathLst>
          </a:custGeom>
          <a:blipFill>
            <a:blip r:embed="rId8"/>
            <a:stretch>
              <a:fillRect l="0" t="0" r="0" b="0"/>
            </a:stretch>
          </a:blipFill>
        </p:spPr>
      </p:sp>
      <p:sp>
        <p:nvSpPr>
          <p:cNvPr name="Freeform 9" id="9"/>
          <p:cNvSpPr/>
          <p:nvPr/>
        </p:nvSpPr>
        <p:spPr>
          <a:xfrm flipH="false" flipV="false" rot="0">
            <a:off x="12349009" y="2706255"/>
            <a:ext cx="4583562" cy="856892"/>
          </a:xfrm>
          <a:custGeom>
            <a:avLst/>
            <a:gdLst/>
            <a:ahLst/>
            <a:cxnLst/>
            <a:rect r="r" b="b" t="t" l="l"/>
            <a:pathLst>
              <a:path h="856892" w="4583562">
                <a:moveTo>
                  <a:pt x="0" y="0"/>
                </a:moveTo>
                <a:lnTo>
                  <a:pt x="4583562" y="0"/>
                </a:lnTo>
                <a:lnTo>
                  <a:pt x="4583562" y="856891"/>
                </a:lnTo>
                <a:lnTo>
                  <a:pt x="0" y="856891"/>
                </a:lnTo>
                <a:lnTo>
                  <a:pt x="0" y="0"/>
                </a:lnTo>
                <a:close/>
              </a:path>
            </a:pathLst>
          </a:custGeom>
          <a:blipFill>
            <a:blip r:embed="rId9"/>
            <a:stretch>
              <a:fillRect l="0" t="0" r="0" b="0"/>
            </a:stretch>
          </a:blipFill>
        </p:spPr>
      </p:sp>
      <p:sp>
        <p:nvSpPr>
          <p:cNvPr name="Freeform 10" id="10"/>
          <p:cNvSpPr/>
          <p:nvPr/>
        </p:nvSpPr>
        <p:spPr>
          <a:xfrm flipH="false" flipV="false" rot="0">
            <a:off x="12349009" y="2520653"/>
            <a:ext cx="4583562" cy="185602"/>
          </a:xfrm>
          <a:custGeom>
            <a:avLst/>
            <a:gdLst/>
            <a:ahLst/>
            <a:cxnLst/>
            <a:rect r="r" b="b" t="t" l="l"/>
            <a:pathLst>
              <a:path h="185602" w="4583562">
                <a:moveTo>
                  <a:pt x="0" y="0"/>
                </a:moveTo>
                <a:lnTo>
                  <a:pt x="4583562" y="0"/>
                </a:lnTo>
                <a:lnTo>
                  <a:pt x="4583562" y="185602"/>
                </a:lnTo>
                <a:lnTo>
                  <a:pt x="0" y="185602"/>
                </a:lnTo>
                <a:lnTo>
                  <a:pt x="0" y="0"/>
                </a:lnTo>
                <a:close/>
              </a:path>
            </a:pathLst>
          </a:custGeom>
          <a:blipFill>
            <a:blip r:embed="rId10"/>
            <a:stretch>
              <a:fillRect l="0" t="0" r="0" b="0"/>
            </a:stretch>
          </a:blipFill>
        </p:spPr>
      </p:sp>
      <p:sp>
        <p:nvSpPr>
          <p:cNvPr name="Freeform 11" id="11"/>
          <p:cNvSpPr/>
          <p:nvPr/>
        </p:nvSpPr>
        <p:spPr>
          <a:xfrm flipH="false" flipV="false" rot="0">
            <a:off x="12329959" y="5550267"/>
            <a:ext cx="3387483" cy="667232"/>
          </a:xfrm>
          <a:custGeom>
            <a:avLst/>
            <a:gdLst/>
            <a:ahLst/>
            <a:cxnLst/>
            <a:rect r="r" b="b" t="t" l="l"/>
            <a:pathLst>
              <a:path h="667232" w="3387483">
                <a:moveTo>
                  <a:pt x="0" y="0"/>
                </a:moveTo>
                <a:lnTo>
                  <a:pt x="3387483" y="0"/>
                </a:lnTo>
                <a:lnTo>
                  <a:pt x="3387483" y="667231"/>
                </a:lnTo>
                <a:lnTo>
                  <a:pt x="0" y="667231"/>
                </a:lnTo>
                <a:lnTo>
                  <a:pt x="0" y="0"/>
                </a:lnTo>
                <a:close/>
              </a:path>
            </a:pathLst>
          </a:custGeom>
          <a:blipFill>
            <a:blip r:embed="rId11"/>
            <a:stretch>
              <a:fillRect l="0" t="0" r="0" b="0"/>
            </a:stretch>
          </a:blipFill>
        </p:spPr>
      </p:sp>
      <p:sp>
        <p:nvSpPr>
          <p:cNvPr name="Freeform 12" id="12"/>
          <p:cNvSpPr/>
          <p:nvPr/>
        </p:nvSpPr>
        <p:spPr>
          <a:xfrm flipH="false" flipV="false" rot="0">
            <a:off x="12349009" y="5336161"/>
            <a:ext cx="3368433" cy="223630"/>
          </a:xfrm>
          <a:custGeom>
            <a:avLst/>
            <a:gdLst/>
            <a:ahLst/>
            <a:cxnLst/>
            <a:rect r="r" b="b" t="t" l="l"/>
            <a:pathLst>
              <a:path h="223630" w="3368433">
                <a:moveTo>
                  <a:pt x="0" y="0"/>
                </a:moveTo>
                <a:lnTo>
                  <a:pt x="3368433" y="0"/>
                </a:lnTo>
                <a:lnTo>
                  <a:pt x="3368433" y="223631"/>
                </a:lnTo>
                <a:lnTo>
                  <a:pt x="0" y="223631"/>
                </a:lnTo>
                <a:lnTo>
                  <a:pt x="0" y="0"/>
                </a:lnTo>
                <a:close/>
              </a:path>
            </a:pathLst>
          </a:custGeom>
          <a:blipFill>
            <a:blip r:embed="rId12"/>
            <a:stretch>
              <a:fillRect l="0" t="0" r="0" b="0"/>
            </a:stretch>
          </a:blipFill>
        </p:spPr>
      </p:sp>
      <p:sp>
        <p:nvSpPr>
          <p:cNvPr name="Freeform 13" id="13"/>
          <p:cNvSpPr/>
          <p:nvPr/>
        </p:nvSpPr>
        <p:spPr>
          <a:xfrm flipH="false" flipV="false" rot="0">
            <a:off x="14803712" y="2248160"/>
            <a:ext cx="2157094" cy="272493"/>
          </a:xfrm>
          <a:custGeom>
            <a:avLst/>
            <a:gdLst/>
            <a:ahLst/>
            <a:cxnLst/>
            <a:rect r="r" b="b" t="t" l="l"/>
            <a:pathLst>
              <a:path h="272493" w="2157094">
                <a:moveTo>
                  <a:pt x="0" y="0"/>
                </a:moveTo>
                <a:lnTo>
                  <a:pt x="2157094" y="0"/>
                </a:lnTo>
                <a:lnTo>
                  <a:pt x="2157094" y="272493"/>
                </a:lnTo>
                <a:lnTo>
                  <a:pt x="0" y="272493"/>
                </a:lnTo>
                <a:lnTo>
                  <a:pt x="0" y="0"/>
                </a:lnTo>
                <a:close/>
              </a:path>
            </a:pathLst>
          </a:custGeom>
          <a:blipFill>
            <a:blip r:embed="rId13"/>
            <a:stretch>
              <a:fillRect l="-72207" t="0" r="-77492" b="0"/>
            </a:stretch>
          </a:blipFill>
        </p:spPr>
      </p:sp>
      <p:sp>
        <p:nvSpPr>
          <p:cNvPr name="Freeform 14" id="14"/>
          <p:cNvSpPr/>
          <p:nvPr/>
        </p:nvSpPr>
        <p:spPr>
          <a:xfrm flipH="false" flipV="false" rot="0">
            <a:off x="12349009" y="4968984"/>
            <a:ext cx="3368433" cy="367177"/>
          </a:xfrm>
          <a:custGeom>
            <a:avLst/>
            <a:gdLst/>
            <a:ahLst/>
            <a:cxnLst/>
            <a:rect r="r" b="b" t="t" l="l"/>
            <a:pathLst>
              <a:path h="367177" w="3368433">
                <a:moveTo>
                  <a:pt x="0" y="0"/>
                </a:moveTo>
                <a:lnTo>
                  <a:pt x="3368433" y="0"/>
                </a:lnTo>
                <a:lnTo>
                  <a:pt x="3368433" y="367177"/>
                </a:lnTo>
                <a:lnTo>
                  <a:pt x="0" y="367177"/>
                </a:lnTo>
                <a:lnTo>
                  <a:pt x="0" y="0"/>
                </a:lnTo>
                <a:close/>
              </a:path>
            </a:pathLst>
          </a:custGeom>
          <a:blipFill>
            <a:blip r:embed="rId13"/>
            <a:stretch>
              <a:fillRect l="-56557" t="0" r="-58909" b="0"/>
            </a:stretch>
          </a:blipFill>
        </p:spPr>
      </p:sp>
      <p:sp>
        <p:nvSpPr>
          <p:cNvPr name="Freeform 15" id="15"/>
          <p:cNvSpPr/>
          <p:nvPr/>
        </p:nvSpPr>
        <p:spPr>
          <a:xfrm flipH="false" flipV="false" rot="0">
            <a:off x="12362583" y="2264760"/>
            <a:ext cx="2431604" cy="239293"/>
          </a:xfrm>
          <a:custGeom>
            <a:avLst/>
            <a:gdLst/>
            <a:ahLst/>
            <a:cxnLst/>
            <a:rect r="r" b="b" t="t" l="l"/>
            <a:pathLst>
              <a:path h="239293" w="2431604">
                <a:moveTo>
                  <a:pt x="0" y="0"/>
                </a:moveTo>
                <a:lnTo>
                  <a:pt x="2431604" y="0"/>
                </a:lnTo>
                <a:lnTo>
                  <a:pt x="2431604" y="239293"/>
                </a:lnTo>
                <a:lnTo>
                  <a:pt x="0" y="239293"/>
                </a:lnTo>
                <a:lnTo>
                  <a:pt x="0" y="0"/>
                </a:lnTo>
                <a:close/>
              </a:path>
            </a:pathLst>
          </a:custGeom>
          <a:blipFill>
            <a:blip r:embed="rId14"/>
            <a:stretch>
              <a:fillRect l="-85742" t="0" r="-89074" b="0"/>
            </a:stretch>
          </a:blipFill>
        </p:spPr>
      </p:sp>
      <p:sp>
        <p:nvSpPr>
          <p:cNvPr name="TextBox 16" id="16"/>
          <p:cNvSpPr txBox="true"/>
          <p:nvPr/>
        </p:nvSpPr>
        <p:spPr>
          <a:xfrm rot="0">
            <a:off x="4915267" y="377189"/>
            <a:ext cx="8864009" cy="651511"/>
          </a:xfrm>
          <a:prstGeom prst="rect">
            <a:avLst/>
          </a:prstGeom>
        </p:spPr>
        <p:txBody>
          <a:bodyPr anchor="t" rtlCol="false" tIns="0" lIns="0" bIns="0" rIns="0">
            <a:spAutoFit/>
          </a:bodyPr>
          <a:lstStyle/>
          <a:p>
            <a:pPr algn="ctr" marL="0" indent="0" lvl="0">
              <a:lnSpc>
                <a:spcPts val="5039"/>
              </a:lnSpc>
              <a:spcBef>
                <a:spcPct val="0"/>
              </a:spcBef>
            </a:pPr>
            <a:r>
              <a:rPr lang="en-US" b="true" sz="3599" strike="noStrike" u="none">
                <a:solidFill>
                  <a:srgbClr val="000000"/>
                </a:solidFill>
                <a:latin typeface="Poppins Bold"/>
                <a:ea typeface="Poppins Bold"/>
                <a:cs typeface="Poppins Bold"/>
                <a:sym typeface="Poppins Bold"/>
              </a:rPr>
              <a:t>GANTT CHART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CA52"/>
        </a:solidFill>
      </p:bgPr>
    </p:bg>
    <p:spTree>
      <p:nvGrpSpPr>
        <p:cNvPr id="1" name=""/>
        <p:cNvGrpSpPr/>
        <p:nvPr/>
      </p:nvGrpSpPr>
      <p:grpSpPr>
        <a:xfrm>
          <a:off x="0" y="0"/>
          <a:ext cx="0" cy="0"/>
          <a:chOff x="0" y="0"/>
          <a:chExt cx="0" cy="0"/>
        </a:xfrm>
      </p:grpSpPr>
      <p:sp>
        <p:nvSpPr>
          <p:cNvPr name="Freeform 2" id="2"/>
          <p:cNvSpPr/>
          <p:nvPr/>
        </p:nvSpPr>
        <p:spPr>
          <a:xfrm flipH="false" flipV="false" rot="0">
            <a:off x="2313246" y="484867"/>
            <a:ext cx="13661509" cy="9802133"/>
          </a:xfrm>
          <a:custGeom>
            <a:avLst/>
            <a:gdLst/>
            <a:ahLst/>
            <a:cxnLst/>
            <a:rect r="r" b="b" t="t" l="l"/>
            <a:pathLst>
              <a:path h="9802133" w="13661509">
                <a:moveTo>
                  <a:pt x="0" y="0"/>
                </a:moveTo>
                <a:lnTo>
                  <a:pt x="13661508" y="0"/>
                </a:lnTo>
                <a:lnTo>
                  <a:pt x="13661508" y="9802133"/>
                </a:lnTo>
                <a:lnTo>
                  <a:pt x="0" y="9802133"/>
                </a:lnTo>
                <a:lnTo>
                  <a:pt x="0" y="0"/>
                </a:lnTo>
                <a:close/>
              </a:path>
            </a:pathLst>
          </a:custGeom>
          <a:blipFill>
            <a:blip r:embed="rId2"/>
            <a:stretch>
              <a:fillRect l="0" t="0" r="0" b="0"/>
            </a:stretch>
          </a:blipFill>
        </p:spPr>
      </p:sp>
      <p:sp>
        <p:nvSpPr>
          <p:cNvPr name="TextBox 3" id="3"/>
          <p:cNvSpPr txBox="true"/>
          <p:nvPr/>
        </p:nvSpPr>
        <p:spPr>
          <a:xfrm rot="0">
            <a:off x="0" y="3461888"/>
            <a:ext cx="2313246" cy="2217319"/>
          </a:xfrm>
          <a:prstGeom prst="rect">
            <a:avLst/>
          </a:prstGeom>
        </p:spPr>
        <p:txBody>
          <a:bodyPr anchor="t" rtlCol="false" tIns="0" lIns="0" bIns="0" rIns="0">
            <a:spAutoFit/>
          </a:bodyPr>
          <a:lstStyle/>
          <a:p>
            <a:pPr algn="ctr">
              <a:lnSpc>
                <a:spcPts val="3507"/>
              </a:lnSpc>
              <a:spcBef>
                <a:spcPct val="0"/>
              </a:spcBef>
            </a:pPr>
            <a:r>
              <a:rPr lang="en-US" b="true" sz="2505">
                <a:solidFill>
                  <a:srgbClr val="000000"/>
                </a:solidFill>
                <a:latin typeface="Poppins Bold"/>
                <a:ea typeface="Poppins Bold"/>
                <a:cs typeface="Poppins Bold"/>
                <a:sym typeface="Poppins Bold"/>
              </a:rPr>
              <a:t>PR</a:t>
            </a:r>
            <a:r>
              <a:rPr lang="en-US" b="true" sz="2505">
                <a:solidFill>
                  <a:srgbClr val="000000"/>
                </a:solidFill>
                <a:latin typeface="Poppins Bold"/>
                <a:ea typeface="Poppins Bold"/>
                <a:cs typeface="Poppins Bold"/>
                <a:sym typeface="Poppins Bold"/>
              </a:rPr>
              <a:t>OGRAM EVALUATION AND REVIEW TECHNIQUE</a:t>
            </a:r>
          </a:p>
          <a:p>
            <a:pPr algn="ctr">
              <a:lnSpc>
                <a:spcPts val="3507"/>
              </a:lnSpc>
              <a:spcBef>
                <a:spcPct val="0"/>
              </a:spcBef>
            </a:pPr>
            <a:r>
              <a:rPr lang="en-US" b="true" sz="2505">
                <a:solidFill>
                  <a:srgbClr val="000000"/>
                </a:solidFill>
                <a:latin typeface="Poppins Bold"/>
                <a:ea typeface="Poppins Bold"/>
                <a:cs typeface="Poppins Bold"/>
                <a:sym typeface="Poppins Bold"/>
              </a:rPr>
              <a:t>(PERT)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CA5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289604">
            <a:off x="-348403" y="5844319"/>
            <a:ext cx="18517655" cy="15083471"/>
          </a:xfrm>
          <a:custGeom>
            <a:avLst/>
            <a:gdLst/>
            <a:ahLst/>
            <a:cxnLst/>
            <a:rect r="r" b="b" t="t" l="l"/>
            <a:pathLst>
              <a:path h="15083471" w="18517655">
                <a:moveTo>
                  <a:pt x="0" y="0"/>
                </a:moveTo>
                <a:lnTo>
                  <a:pt x="18517655" y="0"/>
                </a:lnTo>
                <a:lnTo>
                  <a:pt x="18517655" y="15083472"/>
                </a:lnTo>
                <a:lnTo>
                  <a:pt x="0" y="150834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83800" y="5508910"/>
            <a:ext cx="5019380" cy="5019380"/>
          </a:xfrm>
          <a:custGeom>
            <a:avLst/>
            <a:gdLst/>
            <a:ahLst/>
            <a:cxnLst/>
            <a:rect r="r" b="b" t="t" l="l"/>
            <a:pathLst>
              <a:path h="5019380" w="5019380">
                <a:moveTo>
                  <a:pt x="0" y="0"/>
                </a:moveTo>
                <a:lnTo>
                  <a:pt x="5019380" y="0"/>
                </a:lnTo>
                <a:lnTo>
                  <a:pt x="5019380" y="5019380"/>
                </a:lnTo>
                <a:lnTo>
                  <a:pt x="0" y="50193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0329793">
            <a:off x="14497081" y="-2644459"/>
            <a:ext cx="6901683" cy="5621735"/>
          </a:xfrm>
          <a:custGeom>
            <a:avLst/>
            <a:gdLst/>
            <a:ahLst/>
            <a:cxnLst/>
            <a:rect r="r" b="b" t="t" l="l"/>
            <a:pathLst>
              <a:path h="5621735" w="6901683">
                <a:moveTo>
                  <a:pt x="0" y="0"/>
                </a:moveTo>
                <a:lnTo>
                  <a:pt x="6901683" y="0"/>
                </a:lnTo>
                <a:lnTo>
                  <a:pt x="6901683" y="5621735"/>
                </a:lnTo>
                <a:lnTo>
                  <a:pt x="0" y="56217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614675" y="3245041"/>
            <a:ext cx="9824419" cy="5617309"/>
          </a:xfrm>
          <a:custGeom>
            <a:avLst/>
            <a:gdLst/>
            <a:ahLst/>
            <a:cxnLst/>
            <a:rect r="r" b="b" t="t" l="l"/>
            <a:pathLst>
              <a:path h="5617309" w="9824419">
                <a:moveTo>
                  <a:pt x="0" y="0"/>
                </a:moveTo>
                <a:lnTo>
                  <a:pt x="9824419" y="0"/>
                </a:lnTo>
                <a:lnTo>
                  <a:pt x="9824419" y="5617309"/>
                </a:lnTo>
                <a:lnTo>
                  <a:pt x="0" y="5617309"/>
                </a:lnTo>
                <a:lnTo>
                  <a:pt x="0" y="0"/>
                </a:lnTo>
                <a:close/>
              </a:path>
            </a:pathLst>
          </a:custGeom>
          <a:blipFill>
            <a:blip r:embed="rId10"/>
            <a:stretch>
              <a:fillRect l="0" t="-37447" r="0" b="-37447"/>
            </a:stretch>
          </a:blipFill>
        </p:spPr>
      </p:sp>
      <p:sp>
        <p:nvSpPr>
          <p:cNvPr name="TextBox 7" id="7"/>
          <p:cNvSpPr txBox="true"/>
          <p:nvPr/>
        </p:nvSpPr>
        <p:spPr>
          <a:xfrm rot="0">
            <a:off x="4614675" y="2085476"/>
            <a:ext cx="9531370" cy="1595824"/>
          </a:xfrm>
          <a:prstGeom prst="rect">
            <a:avLst/>
          </a:prstGeom>
        </p:spPr>
        <p:txBody>
          <a:bodyPr anchor="t" rtlCol="false" tIns="0" lIns="0" bIns="0" rIns="0">
            <a:spAutoFit/>
          </a:bodyPr>
          <a:lstStyle/>
          <a:p>
            <a:pPr algn="ctr" marL="0" indent="0" lvl="0">
              <a:lnSpc>
                <a:spcPts val="11450"/>
              </a:lnSpc>
            </a:pPr>
            <a:r>
              <a:rPr lang="en-US" b="true" sz="10701">
                <a:solidFill>
                  <a:srgbClr val="0A6847"/>
                </a:solidFill>
                <a:latin typeface="Poppins Bold"/>
                <a:ea typeface="Poppins Bold"/>
                <a:cs typeface="Poppins Bold"/>
                <a:sym typeface="Poppins Bold"/>
              </a:rPr>
              <a:t>THANK YOU</a:t>
            </a:r>
          </a:p>
        </p:txBody>
      </p:sp>
      <p:sp>
        <p:nvSpPr>
          <p:cNvPr name="Freeform 8" id="8"/>
          <p:cNvSpPr/>
          <p:nvPr/>
        </p:nvSpPr>
        <p:spPr>
          <a:xfrm flipH="false" flipV="false" rot="-1626076">
            <a:off x="5306565" y="3542796"/>
            <a:ext cx="5021799" cy="5021799"/>
          </a:xfrm>
          <a:custGeom>
            <a:avLst/>
            <a:gdLst/>
            <a:ahLst/>
            <a:cxnLst/>
            <a:rect r="r" b="b" t="t" l="l"/>
            <a:pathLst>
              <a:path h="5021799" w="5021799">
                <a:moveTo>
                  <a:pt x="0" y="0"/>
                </a:moveTo>
                <a:lnTo>
                  <a:pt x="5021799" y="0"/>
                </a:lnTo>
                <a:lnTo>
                  <a:pt x="5021799" y="5021799"/>
                </a:lnTo>
                <a:lnTo>
                  <a:pt x="0" y="5021799"/>
                </a:lnTo>
                <a:lnTo>
                  <a:pt x="0" y="0"/>
                </a:lnTo>
                <a:close/>
              </a:path>
            </a:pathLst>
          </a:custGeom>
          <a:blipFill>
            <a:blip r:embed="rId11"/>
            <a:stretch>
              <a:fillRect l="0" t="0" r="0" b="0"/>
            </a:stretch>
          </a:blipFill>
        </p:spPr>
      </p:sp>
      <p:sp>
        <p:nvSpPr>
          <p:cNvPr name="Freeform 9" id="9"/>
          <p:cNvSpPr/>
          <p:nvPr/>
        </p:nvSpPr>
        <p:spPr>
          <a:xfrm flipH="false" flipV="false" rot="-928662">
            <a:off x="8910425" y="3681301"/>
            <a:ext cx="4572253" cy="4572253"/>
          </a:xfrm>
          <a:custGeom>
            <a:avLst/>
            <a:gdLst/>
            <a:ahLst/>
            <a:cxnLst/>
            <a:rect r="r" b="b" t="t" l="l"/>
            <a:pathLst>
              <a:path h="4572253" w="4572253">
                <a:moveTo>
                  <a:pt x="0" y="0"/>
                </a:moveTo>
                <a:lnTo>
                  <a:pt x="4572253" y="0"/>
                </a:lnTo>
                <a:lnTo>
                  <a:pt x="4572253" y="4572252"/>
                </a:lnTo>
                <a:lnTo>
                  <a:pt x="0" y="4572252"/>
                </a:lnTo>
                <a:lnTo>
                  <a:pt x="0" y="0"/>
                </a:lnTo>
                <a:close/>
              </a:path>
            </a:pathLst>
          </a:custGeom>
          <a:blipFill>
            <a:blip r:embed="rId1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DAG2O4YCmSg</dc:identifier>
  <dcterms:modified xsi:type="dcterms:W3CDTF">2011-08-01T06:04:30Z</dcterms:modified>
  <cp:revision>1</cp:revision>
  <dc:title>WBS DAN GANT CHARTT</dc:title>
</cp:coreProperties>
</file>