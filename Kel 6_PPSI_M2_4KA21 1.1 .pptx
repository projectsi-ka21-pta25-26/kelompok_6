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Poppins" panose="00000500000000000000" pitchFamily="2" charset="0"/>
      <p:regular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2.jpeg"/><Relationship Id="rId3" Type="http://schemas.openxmlformats.org/officeDocument/2006/relationships/image" Target="../media/image16.svg"/><Relationship Id="rId7" Type="http://schemas.openxmlformats.org/officeDocument/2006/relationships/image" Target="../media/image8.svg"/><Relationship Id="rId12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0.jpeg"/><Relationship Id="rId5" Type="http://schemas.openxmlformats.org/officeDocument/2006/relationships/image" Target="../media/image18.svg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0.png"/><Relationship Id="rId3" Type="http://schemas.openxmlformats.org/officeDocument/2006/relationships/image" Target="../media/image16.svg"/><Relationship Id="rId7" Type="http://schemas.openxmlformats.org/officeDocument/2006/relationships/image" Target="../media/image26.svg"/><Relationship Id="rId12" Type="http://schemas.openxmlformats.org/officeDocument/2006/relationships/image" Target="../media/image2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svg"/><Relationship Id="rId15" Type="http://schemas.openxmlformats.org/officeDocument/2006/relationships/image" Target="../media/image32.jpeg"/><Relationship Id="rId10" Type="http://schemas.openxmlformats.org/officeDocument/2006/relationships/image" Target="../media/image8.svg"/><Relationship Id="rId4" Type="http://schemas.openxmlformats.org/officeDocument/2006/relationships/image" Target="../media/image23.png"/><Relationship Id="rId9" Type="http://schemas.openxmlformats.org/officeDocument/2006/relationships/image" Target="../media/image7.png"/><Relationship Id="rId14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svg"/><Relationship Id="rId7" Type="http://schemas.openxmlformats.org/officeDocument/2006/relationships/image" Target="../media/image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6.svg"/><Relationship Id="rId10" Type="http://schemas.openxmlformats.org/officeDocument/2006/relationships/image" Target="../media/image33.jpeg"/><Relationship Id="rId4" Type="http://schemas.openxmlformats.org/officeDocument/2006/relationships/image" Target="../media/image25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6.svg"/><Relationship Id="rId7" Type="http://schemas.openxmlformats.org/officeDocument/2006/relationships/image" Target="../media/image2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svg"/><Relationship Id="rId7" Type="http://schemas.openxmlformats.org/officeDocument/2006/relationships/image" Target="../media/image8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svg"/><Relationship Id="rId7" Type="http://schemas.openxmlformats.org/officeDocument/2006/relationships/image" Target="../media/image8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36.svg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jpeg"/><Relationship Id="rId5" Type="http://schemas.openxmlformats.org/officeDocument/2006/relationships/image" Target="../media/image16.svg"/><Relationship Id="rId15" Type="http://schemas.openxmlformats.org/officeDocument/2006/relationships/image" Target="../media/image6.svg"/><Relationship Id="rId10" Type="http://schemas.openxmlformats.org/officeDocument/2006/relationships/image" Target="../media/image39.svg"/><Relationship Id="rId4" Type="http://schemas.openxmlformats.org/officeDocument/2006/relationships/image" Target="../media/image15.png"/><Relationship Id="rId9" Type="http://schemas.openxmlformats.org/officeDocument/2006/relationships/image" Target="../media/image38.png"/><Relationship Id="rId1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26.svg"/><Relationship Id="rId7" Type="http://schemas.openxmlformats.org/officeDocument/2006/relationships/image" Target="../media/image44.svg"/><Relationship Id="rId12" Type="http://schemas.openxmlformats.org/officeDocument/2006/relationships/image" Target="../media/image29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28.png"/><Relationship Id="rId5" Type="http://schemas.openxmlformats.org/officeDocument/2006/relationships/image" Target="../media/image42.svg"/><Relationship Id="rId10" Type="http://schemas.openxmlformats.org/officeDocument/2006/relationships/image" Target="../media/image8.svg"/><Relationship Id="rId4" Type="http://schemas.openxmlformats.org/officeDocument/2006/relationships/image" Target="../media/image41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47.svg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jpeg"/><Relationship Id="rId5" Type="http://schemas.openxmlformats.org/officeDocument/2006/relationships/image" Target="../media/image16.svg"/><Relationship Id="rId15" Type="http://schemas.openxmlformats.org/officeDocument/2006/relationships/image" Target="../media/image6.svg"/><Relationship Id="rId10" Type="http://schemas.openxmlformats.org/officeDocument/2006/relationships/image" Target="../media/image50.svg"/><Relationship Id="rId4" Type="http://schemas.openxmlformats.org/officeDocument/2006/relationships/image" Target="../media/image15.png"/><Relationship Id="rId9" Type="http://schemas.openxmlformats.org/officeDocument/2006/relationships/image" Target="../media/image49.png"/><Relationship Id="rId1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6.svg"/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12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8.svg"/><Relationship Id="rId5" Type="http://schemas.openxmlformats.org/officeDocument/2006/relationships/image" Target="../media/image53.svg"/><Relationship Id="rId10" Type="http://schemas.openxmlformats.org/officeDocument/2006/relationships/image" Target="../media/image7.png"/><Relationship Id="rId4" Type="http://schemas.openxmlformats.org/officeDocument/2006/relationships/image" Target="../media/image52.png"/><Relationship Id="rId9" Type="http://schemas.openxmlformats.org/officeDocument/2006/relationships/image" Target="../media/image5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6.svg"/><Relationship Id="rId7" Type="http://schemas.openxmlformats.org/officeDocument/2006/relationships/image" Target="../media/image29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svg"/><Relationship Id="rId7" Type="http://schemas.openxmlformats.org/officeDocument/2006/relationships/image" Target="../media/image8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svg"/><Relationship Id="rId7" Type="http://schemas.openxmlformats.org/officeDocument/2006/relationships/image" Target="../media/image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9.png"/><Relationship Id="rId5" Type="http://schemas.openxmlformats.org/officeDocument/2006/relationships/image" Target="../media/image57.svg"/><Relationship Id="rId10" Type="http://schemas.openxmlformats.org/officeDocument/2006/relationships/image" Target="../media/image58.png"/><Relationship Id="rId4" Type="http://schemas.openxmlformats.org/officeDocument/2006/relationships/image" Target="../media/image56.pn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666977">
            <a:off x="-3939391" y="3855873"/>
            <a:ext cx="11924059" cy="9712688"/>
          </a:xfrm>
          <a:custGeom>
            <a:avLst/>
            <a:gdLst/>
            <a:ahLst/>
            <a:cxnLst/>
            <a:rect l="l" t="t" r="r" b="b"/>
            <a:pathLst>
              <a:path w="11924059" h="9712688">
                <a:moveTo>
                  <a:pt x="0" y="0"/>
                </a:moveTo>
                <a:lnTo>
                  <a:pt x="11924059" y="0"/>
                </a:lnTo>
                <a:lnTo>
                  <a:pt x="11924059" y="9712688"/>
                </a:lnTo>
                <a:lnTo>
                  <a:pt x="0" y="9712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098" b="-3098"/>
            </a:stretch>
          </a:blipFill>
        </p:spPr>
      </p:sp>
      <p:sp>
        <p:nvSpPr>
          <p:cNvPr id="5" name="Freeform 5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58521" y="2187653"/>
            <a:ext cx="4475099" cy="4475099"/>
          </a:xfrm>
          <a:custGeom>
            <a:avLst/>
            <a:gdLst/>
            <a:ahLst/>
            <a:cxnLst/>
            <a:rect l="l" t="t" r="r" b="b"/>
            <a:pathLst>
              <a:path w="4475099" h="4475099">
                <a:moveTo>
                  <a:pt x="0" y="0"/>
                </a:moveTo>
                <a:lnTo>
                  <a:pt x="4475099" y="0"/>
                </a:lnTo>
                <a:lnTo>
                  <a:pt x="4475099" y="4475099"/>
                </a:lnTo>
                <a:lnTo>
                  <a:pt x="0" y="44750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9970" y="8769367"/>
            <a:ext cx="7069720" cy="730150"/>
          </a:xfrm>
          <a:custGeom>
            <a:avLst/>
            <a:gdLst/>
            <a:ahLst/>
            <a:cxnLst/>
            <a:rect l="l" t="t" r="r" b="b"/>
            <a:pathLst>
              <a:path w="7069720" h="730150">
                <a:moveTo>
                  <a:pt x="0" y="0"/>
                </a:moveTo>
                <a:lnTo>
                  <a:pt x="7069720" y="0"/>
                </a:lnTo>
                <a:lnTo>
                  <a:pt x="7069720" y="730150"/>
                </a:lnTo>
                <a:lnTo>
                  <a:pt x="0" y="730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96731" y="8759842"/>
            <a:ext cx="7768912" cy="730150"/>
          </a:xfrm>
          <a:custGeom>
            <a:avLst/>
            <a:gdLst/>
            <a:ahLst/>
            <a:cxnLst/>
            <a:rect l="l" t="t" r="r" b="b"/>
            <a:pathLst>
              <a:path w="7768912" h="730150">
                <a:moveTo>
                  <a:pt x="0" y="0"/>
                </a:moveTo>
                <a:lnTo>
                  <a:pt x="7768912" y="0"/>
                </a:lnTo>
                <a:lnTo>
                  <a:pt x="7768912" y="730150"/>
                </a:lnTo>
                <a:lnTo>
                  <a:pt x="0" y="730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016578" y="1604719"/>
            <a:ext cx="4984422" cy="4984422"/>
            <a:chOff x="0" y="0"/>
            <a:chExt cx="6645896" cy="66458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45910" cy="6645910"/>
            </a:xfrm>
            <a:custGeom>
              <a:avLst/>
              <a:gdLst/>
              <a:ahLst/>
              <a:cxnLst/>
              <a:rect l="l" t="t" r="r" b="b"/>
              <a:pathLst>
                <a:path w="6645910" h="6645910">
                  <a:moveTo>
                    <a:pt x="0" y="0"/>
                  </a:moveTo>
                  <a:lnTo>
                    <a:pt x="6645910" y="0"/>
                  </a:lnTo>
                  <a:lnTo>
                    <a:pt x="6645910" y="6645910"/>
                  </a:lnTo>
                  <a:lnTo>
                    <a:pt x="0" y="66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39970" y="2473342"/>
            <a:ext cx="6286500" cy="6286500"/>
            <a:chOff x="0" y="0"/>
            <a:chExt cx="8382000" cy="838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82000" cy="8382000"/>
            </a:xfrm>
            <a:custGeom>
              <a:avLst/>
              <a:gdLst/>
              <a:ahLst/>
              <a:cxnLst/>
              <a:rect l="l" t="t" r="r" b="b"/>
              <a:pathLst>
                <a:path w="8382000" h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8382000"/>
                  </a:lnTo>
                  <a:lnTo>
                    <a:pt x="0" y="838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8280711" y="4506771"/>
            <a:ext cx="10007289" cy="219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4"/>
              </a:lnSpc>
            </a:pPr>
            <a:r>
              <a:rPr lang="en-US" sz="79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WEBSITE KASIR KEDAI TAKOSAI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2664" y="1162050"/>
            <a:ext cx="3533133" cy="43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3743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KELOMPOK 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80711" y="3208924"/>
            <a:ext cx="9531370" cy="115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2"/>
              </a:lnSpc>
            </a:pPr>
            <a:r>
              <a:rPr lang="en-US" sz="7898" b="1" dirty="0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RANCANGAN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80711" y="8790506"/>
            <a:ext cx="8200951" cy="535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MK : PENGELOLAAN PROYEK SISTEM INFORMASI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9970" y="8790506"/>
            <a:ext cx="7069720" cy="535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DOSEN : LULU CHAERANI MUNGGARAN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9571" y="137483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05001" y="-4463181"/>
            <a:ext cx="6919019" cy="6919019"/>
          </a:xfrm>
          <a:custGeom>
            <a:avLst/>
            <a:gdLst/>
            <a:ahLst/>
            <a:cxnLst/>
            <a:rect l="l" t="t" r="r" b="b"/>
            <a:pathLst>
              <a:path w="6919019" h="6919019">
                <a:moveTo>
                  <a:pt x="0" y="0"/>
                </a:moveTo>
                <a:lnTo>
                  <a:pt x="6919019" y="0"/>
                </a:lnTo>
                <a:lnTo>
                  <a:pt x="6919019" y="6919019"/>
                </a:lnTo>
                <a:lnTo>
                  <a:pt x="0" y="6919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8083" y="137483"/>
            <a:ext cx="1782433" cy="1782433"/>
          </a:xfrm>
          <a:custGeom>
            <a:avLst/>
            <a:gdLst/>
            <a:ahLst/>
            <a:cxnLst/>
            <a:rect l="l" t="t" r="r" b="b"/>
            <a:pathLst>
              <a:path w="1782433" h="1782433">
                <a:moveTo>
                  <a:pt x="0" y="0"/>
                </a:moveTo>
                <a:lnTo>
                  <a:pt x="1782433" y="0"/>
                </a:lnTo>
                <a:lnTo>
                  <a:pt x="1782433" y="1782433"/>
                </a:lnTo>
                <a:lnTo>
                  <a:pt x="0" y="1782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329793">
            <a:off x="-3450842" y="85848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611027" y="3874920"/>
            <a:ext cx="2460501" cy="2617314"/>
            <a:chOff x="0" y="0"/>
            <a:chExt cx="3280668" cy="34897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80664" cy="3489706"/>
            </a:xfrm>
            <a:custGeom>
              <a:avLst/>
              <a:gdLst/>
              <a:ahLst/>
              <a:cxnLst/>
              <a:rect l="l" t="t" r="r" b="b"/>
              <a:pathLst>
                <a:path w="3280664" h="3489706">
                  <a:moveTo>
                    <a:pt x="0" y="0"/>
                  </a:moveTo>
                  <a:lnTo>
                    <a:pt x="3280664" y="0"/>
                  </a:lnTo>
                  <a:lnTo>
                    <a:pt x="3280664" y="3489706"/>
                  </a:lnTo>
                  <a:lnTo>
                    <a:pt x="0" y="3489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5873" r="-42" b="-5874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350670" y="3874920"/>
            <a:ext cx="2365591" cy="2617314"/>
            <a:chOff x="0" y="0"/>
            <a:chExt cx="3154121" cy="3489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54172" cy="3489706"/>
            </a:xfrm>
            <a:custGeom>
              <a:avLst/>
              <a:gdLst/>
              <a:ahLst/>
              <a:cxnLst/>
              <a:rect l="l" t="t" r="r" b="b"/>
              <a:pathLst>
                <a:path w="3154172" h="3489706">
                  <a:moveTo>
                    <a:pt x="0" y="0"/>
                  </a:moveTo>
                  <a:lnTo>
                    <a:pt x="3154172" y="0"/>
                  </a:lnTo>
                  <a:lnTo>
                    <a:pt x="3154172" y="3489706"/>
                  </a:lnTo>
                  <a:lnTo>
                    <a:pt x="0" y="3489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0254" r="1" b="-10257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995402" y="3874920"/>
            <a:ext cx="2365591" cy="2617314"/>
            <a:chOff x="0" y="0"/>
            <a:chExt cx="3154121" cy="34897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54172" cy="3489706"/>
            </a:xfrm>
            <a:custGeom>
              <a:avLst/>
              <a:gdLst/>
              <a:ahLst/>
              <a:cxnLst/>
              <a:rect l="l" t="t" r="r" b="b"/>
              <a:pathLst>
                <a:path w="3154172" h="3489706">
                  <a:moveTo>
                    <a:pt x="0" y="0"/>
                  </a:moveTo>
                  <a:lnTo>
                    <a:pt x="3154172" y="0"/>
                  </a:lnTo>
                  <a:lnTo>
                    <a:pt x="3154172" y="3489706"/>
                  </a:lnTo>
                  <a:lnTo>
                    <a:pt x="0" y="3489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1" b="-23015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640134" y="3874920"/>
            <a:ext cx="2365591" cy="2617314"/>
            <a:chOff x="0" y="0"/>
            <a:chExt cx="3154121" cy="34897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54172" cy="3489706"/>
            </a:xfrm>
            <a:custGeom>
              <a:avLst/>
              <a:gdLst/>
              <a:ahLst/>
              <a:cxnLst/>
              <a:rect l="l" t="t" r="r" b="b"/>
              <a:pathLst>
                <a:path w="3154172" h="3489706">
                  <a:moveTo>
                    <a:pt x="0" y="0"/>
                  </a:moveTo>
                  <a:lnTo>
                    <a:pt x="3154172" y="0"/>
                  </a:lnTo>
                  <a:lnTo>
                    <a:pt x="3154172" y="3489706"/>
                  </a:lnTo>
                  <a:lnTo>
                    <a:pt x="0" y="3489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6488" r="1" b="-649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216354" y="1885338"/>
            <a:ext cx="16880433" cy="945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80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ROLE ANGGOTA KELOMPOK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904" y="7000326"/>
            <a:ext cx="3836312" cy="37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63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Daffa Naufal Arafi 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69254" y="7818950"/>
            <a:ext cx="2283224" cy="39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Analyst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1235" y="6989612"/>
            <a:ext cx="3329322" cy="73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63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Daniela Costantina Pattirane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03045" y="7818950"/>
            <a:ext cx="2567603" cy="39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16149" y="7000326"/>
            <a:ext cx="2827297" cy="37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63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Rafi Hanifa salsa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6807" y="7818950"/>
            <a:ext cx="2626155" cy="39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PIC/Project Lead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06592" y="6976107"/>
            <a:ext cx="3061491" cy="735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63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Voni Febriyanti mubarok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22502" y="7818950"/>
            <a:ext cx="2283224" cy="39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Designer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11128" y="2317615"/>
            <a:ext cx="4379037" cy="4379037"/>
          </a:xfrm>
          <a:custGeom>
            <a:avLst/>
            <a:gdLst/>
            <a:ahLst/>
            <a:cxnLst/>
            <a:rect l="l" t="t" r="r" b="b"/>
            <a:pathLst>
              <a:path w="4379037" h="4379037">
                <a:moveTo>
                  <a:pt x="0" y="0"/>
                </a:moveTo>
                <a:lnTo>
                  <a:pt x="4379037" y="0"/>
                </a:lnTo>
                <a:lnTo>
                  <a:pt x="4379037" y="4379037"/>
                </a:lnTo>
                <a:lnTo>
                  <a:pt x="0" y="4379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845237" y="2448478"/>
            <a:ext cx="4110820" cy="4110820"/>
            <a:chOff x="0" y="0"/>
            <a:chExt cx="5481093" cy="54810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1066" cy="5481066"/>
            </a:xfrm>
            <a:custGeom>
              <a:avLst/>
              <a:gdLst/>
              <a:ahLst/>
              <a:cxnLst/>
              <a:rect l="l" t="t" r="r" b="b"/>
              <a:pathLst>
                <a:path w="5481066" h="5481066">
                  <a:moveTo>
                    <a:pt x="2740533" y="0"/>
                  </a:moveTo>
                  <a:cubicBezTo>
                    <a:pt x="1226947" y="0"/>
                    <a:pt x="0" y="1226947"/>
                    <a:pt x="0" y="2740533"/>
                  </a:cubicBezTo>
                  <a:cubicBezTo>
                    <a:pt x="0" y="4254119"/>
                    <a:pt x="1226947" y="5481066"/>
                    <a:pt x="2740533" y="5481066"/>
                  </a:cubicBezTo>
                  <a:cubicBezTo>
                    <a:pt x="4254119" y="5481066"/>
                    <a:pt x="5481066" y="4254119"/>
                    <a:pt x="5481066" y="2740533"/>
                  </a:cubicBezTo>
                  <a:cubicBezTo>
                    <a:pt x="5481066" y="1226947"/>
                    <a:pt x="4254119" y="0"/>
                    <a:pt x="2740533" y="0"/>
                  </a:cubicBezTo>
                  <a:close/>
                </a:path>
              </a:pathLst>
            </a:custGeom>
            <a:blipFill>
              <a:blip r:embed="rId8"/>
              <a:stretch>
                <a:fillRect t="-25042" b="-2504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1475878" y="3439486"/>
            <a:ext cx="2128802" cy="2128802"/>
          </a:xfrm>
          <a:custGeom>
            <a:avLst/>
            <a:gdLst/>
            <a:ahLst/>
            <a:cxnLst/>
            <a:rect l="l" t="t" r="r" b="b"/>
            <a:pathLst>
              <a:path w="2128802" h="2128802">
                <a:moveTo>
                  <a:pt x="0" y="0"/>
                </a:moveTo>
                <a:lnTo>
                  <a:pt x="2128802" y="0"/>
                </a:lnTo>
                <a:lnTo>
                  <a:pt x="2128802" y="2128802"/>
                </a:lnTo>
                <a:lnTo>
                  <a:pt x="0" y="21288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6014" y="3315661"/>
            <a:ext cx="10061821" cy="569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sz="3067" b="1">
                <a:solidFill>
                  <a:srgbClr val="000000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Nama Usaha : Kedai Takosai</a:t>
            </a:r>
          </a:p>
          <a:p>
            <a:pPr algn="l">
              <a:lnSpc>
                <a:spcPts val="4601"/>
              </a:lnSpc>
            </a:pPr>
            <a:r>
              <a:rPr lang="en-US" sz="3067" b="1">
                <a:solidFill>
                  <a:srgbClr val="000000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Nama pemilik : Salvius Willyandra</a:t>
            </a:r>
          </a:p>
          <a:p>
            <a:pPr algn="l">
              <a:lnSpc>
                <a:spcPts val="4601"/>
              </a:lnSpc>
            </a:pPr>
            <a:r>
              <a:rPr lang="en-US" sz="3067" b="1">
                <a:solidFill>
                  <a:srgbClr val="000000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Bidang : Kuliner (UMKM)</a:t>
            </a:r>
          </a:p>
          <a:p>
            <a:pPr algn="l">
              <a:lnSpc>
                <a:spcPts val="4601"/>
              </a:lnSpc>
            </a:pPr>
            <a:r>
              <a:rPr lang="en-US" sz="3067" b="1">
                <a:solidFill>
                  <a:srgbClr val="000000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Lokasi : Jl. Bhakti, Cipinang Melayu, Kec. Makasar, Kota Jakarta Timur, DKI Jakarta 13620</a:t>
            </a:r>
          </a:p>
          <a:p>
            <a:pPr algn="l">
              <a:lnSpc>
                <a:spcPts val="4601"/>
              </a:lnSpc>
            </a:pPr>
            <a:r>
              <a:rPr lang="en-US" sz="3067" b="1">
                <a:solidFill>
                  <a:srgbClr val="000000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Target Pelanggan : Untuk semua kalangan/ usia</a:t>
            </a:r>
          </a:p>
          <a:p>
            <a:pPr algn="l">
              <a:lnSpc>
                <a:spcPts val="4601"/>
              </a:lnSpc>
            </a:pPr>
            <a:r>
              <a:rPr lang="en-US" sz="3067" b="1">
                <a:solidFill>
                  <a:srgbClr val="000000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Sistem Penjualan Saat Ini: Offline &amp; pemasanan melalui WhatsApp</a:t>
            </a:r>
          </a:p>
          <a:p>
            <a:pPr algn="l">
              <a:lnSpc>
                <a:spcPts val="4294"/>
              </a:lnSpc>
            </a:pPr>
            <a:endParaRPr lang="en-US" sz="3067" b="1">
              <a:solidFill>
                <a:srgbClr val="000000">
                  <a:alpha val="80000"/>
                </a:srgbClr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149"/>
              </a:lnSpc>
            </a:pPr>
            <a:endParaRPr lang="en-US" sz="3067" b="1">
              <a:solidFill>
                <a:srgbClr val="000000">
                  <a:alpha val="80000"/>
                </a:srgbClr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Freeform 9"/>
          <p:cNvSpPr/>
          <p:nvPr/>
        </p:nvSpPr>
        <p:spPr>
          <a:xfrm rot="9666977">
            <a:off x="-7411043" y="8542990"/>
            <a:ext cx="11861796" cy="9661972"/>
          </a:xfrm>
          <a:custGeom>
            <a:avLst/>
            <a:gdLst/>
            <a:ahLst/>
            <a:cxnLst/>
            <a:rect l="l" t="t" r="r" b="b"/>
            <a:pathLst>
              <a:path w="11861796" h="9661972">
                <a:moveTo>
                  <a:pt x="0" y="0"/>
                </a:moveTo>
                <a:lnTo>
                  <a:pt x="11861796" y="0"/>
                </a:lnTo>
                <a:lnTo>
                  <a:pt x="11861796" y="9661973"/>
                </a:lnTo>
                <a:lnTo>
                  <a:pt x="0" y="96619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3098" b="-3098"/>
            </a:stretch>
          </a:blipFill>
        </p:spPr>
      </p:sp>
      <p:sp>
        <p:nvSpPr>
          <p:cNvPr id="10" name="Freeform 10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493490" y="4683946"/>
            <a:ext cx="3407157" cy="3407157"/>
          </a:xfrm>
          <a:custGeom>
            <a:avLst/>
            <a:gdLst/>
            <a:ahLst/>
            <a:cxnLst/>
            <a:rect l="l" t="t" r="r" b="b"/>
            <a:pathLst>
              <a:path w="3407157" h="3407157">
                <a:moveTo>
                  <a:pt x="0" y="0"/>
                </a:moveTo>
                <a:lnTo>
                  <a:pt x="3407157" y="0"/>
                </a:lnTo>
                <a:lnTo>
                  <a:pt x="3407157" y="3407157"/>
                </a:lnTo>
                <a:lnTo>
                  <a:pt x="0" y="34071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597835" y="4785765"/>
            <a:ext cx="3198467" cy="3198467"/>
            <a:chOff x="0" y="0"/>
            <a:chExt cx="4264623" cy="42646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64660" cy="4264660"/>
            </a:xfrm>
            <a:custGeom>
              <a:avLst/>
              <a:gdLst/>
              <a:ahLst/>
              <a:cxnLst/>
              <a:rect l="l" t="t" r="r" b="b"/>
              <a:pathLst>
                <a:path w="4264660" h="4264660">
                  <a:moveTo>
                    <a:pt x="2132330" y="0"/>
                  </a:moveTo>
                  <a:cubicBezTo>
                    <a:pt x="954659" y="0"/>
                    <a:pt x="0" y="954659"/>
                    <a:pt x="0" y="2132330"/>
                  </a:cubicBezTo>
                  <a:cubicBezTo>
                    <a:pt x="0" y="3310001"/>
                    <a:pt x="954659" y="4264660"/>
                    <a:pt x="2132330" y="4264660"/>
                  </a:cubicBezTo>
                  <a:cubicBezTo>
                    <a:pt x="3310001" y="4264660"/>
                    <a:pt x="4264660" y="3310001"/>
                    <a:pt x="4264660" y="2132330"/>
                  </a:cubicBezTo>
                  <a:cubicBezTo>
                    <a:pt x="4264660" y="954659"/>
                    <a:pt x="3310001" y="0"/>
                    <a:pt x="2132330" y="0"/>
                  </a:cubicBez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536014" y="1987001"/>
            <a:ext cx="9356663" cy="96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83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USAHA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75878" y="3439486"/>
            <a:ext cx="2128802" cy="2128802"/>
          </a:xfrm>
          <a:custGeom>
            <a:avLst/>
            <a:gdLst/>
            <a:ahLst/>
            <a:cxnLst/>
            <a:rect l="l" t="t" r="r" b="b"/>
            <a:pathLst>
              <a:path w="2128802" h="2128802">
                <a:moveTo>
                  <a:pt x="0" y="0"/>
                </a:moveTo>
                <a:lnTo>
                  <a:pt x="2128802" y="0"/>
                </a:lnTo>
                <a:lnTo>
                  <a:pt x="2128802" y="2128802"/>
                </a:lnTo>
                <a:lnTo>
                  <a:pt x="0" y="21288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666977">
            <a:off x="-7420926" y="8483564"/>
            <a:ext cx="11924059" cy="9712688"/>
          </a:xfrm>
          <a:custGeom>
            <a:avLst/>
            <a:gdLst/>
            <a:ahLst/>
            <a:cxnLst/>
            <a:rect l="l" t="t" r="r" b="b"/>
            <a:pathLst>
              <a:path w="11924059" h="9712688">
                <a:moveTo>
                  <a:pt x="0" y="0"/>
                </a:moveTo>
                <a:lnTo>
                  <a:pt x="11924059" y="0"/>
                </a:lnTo>
                <a:lnTo>
                  <a:pt x="11924059" y="9712688"/>
                </a:lnTo>
                <a:lnTo>
                  <a:pt x="0" y="9712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98" b="-3098"/>
            </a:stretch>
          </a:blipFill>
        </p:spPr>
      </p:sp>
      <p:sp>
        <p:nvSpPr>
          <p:cNvPr id="6" name="Freeform 6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9819" y="205447"/>
            <a:ext cx="14079827" cy="65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</a:pPr>
            <a:r>
              <a:rPr lang="en-US" sz="4921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DOKUMENTASI DENGAN PEMILIK TOKOSAI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59819" y="1028700"/>
            <a:ext cx="15872408" cy="8928230"/>
            <a:chOff x="0" y="0"/>
            <a:chExt cx="22296143" cy="12541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96120" cy="12541631"/>
            </a:xfrm>
            <a:custGeom>
              <a:avLst/>
              <a:gdLst/>
              <a:ahLst/>
              <a:cxnLst/>
              <a:rect l="l" t="t" r="r" b="b"/>
              <a:pathLst>
                <a:path w="22296120" h="12541631">
                  <a:moveTo>
                    <a:pt x="0" y="0"/>
                  </a:moveTo>
                  <a:lnTo>
                    <a:pt x="22296120" y="0"/>
                  </a:lnTo>
                  <a:lnTo>
                    <a:pt x="22296120" y="12541631"/>
                  </a:lnTo>
                  <a:lnTo>
                    <a:pt x="0" y="12541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666977">
            <a:off x="-7420926" y="8483564"/>
            <a:ext cx="11924059" cy="9712688"/>
          </a:xfrm>
          <a:custGeom>
            <a:avLst/>
            <a:gdLst/>
            <a:ahLst/>
            <a:cxnLst/>
            <a:rect l="l" t="t" r="r" b="b"/>
            <a:pathLst>
              <a:path w="11924059" h="9712688">
                <a:moveTo>
                  <a:pt x="0" y="0"/>
                </a:moveTo>
                <a:lnTo>
                  <a:pt x="11924059" y="0"/>
                </a:lnTo>
                <a:lnTo>
                  <a:pt x="11924059" y="9712688"/>
                </a:lnTo>
                <a:lnTo>
                  <a:pt x="0" y="9712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098" b="-3098"/>
            </a:stretch>
          </a:blipFill>
        </p:spPr>
      </p:sp>
      <p:sp>
        <p:nvSpPr>
          <p:cNvPr id="5" name="Freeform 5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0600" y="1877205"/>
            <a:ext cx="4384912" cy="185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83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LOKASI USAHA 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553200" y="333531"/>
            <a:ext cx="9949510" cy="9619938"/>
            <a:chOff x="0" y="0"/>
            <a:chExt cx="13266013" cy="128265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66038" cy="12826619"/>
            </a:xfrm>
            <a:custGeom>
              <a:avLst/>
              <a:gdLst/>
              <a:ahLst/>
              <a:cxnLst/>
              <a:rect l="l" t="t" r="r" b="b"/>
              <a:pathLst>
                <a:path w="13266038" h="12826619">
                  <a:moveTo>
                    <a:pt x="0" y="0"/>
                  </a:moveTo>
                  <a:lnTo>
                    <a:pt x="13266038" y="0"/>
                  </a:lnTo>
                  <a:lnTo>
                    <a:pt x="13266038" y="12826619"/>
                  </a:lnTo>
                  <a:lnTo>
                    <a:pt x="0" y="12826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950" b="-1895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87519" y="4412412"/>
            <a:ext cx="4587993" cy="20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Jl. Bhakti, Cipinang Melayu, Kec. Makasar, Kota Jakarta Timur, DKI Jakarta 13620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3315" y="6942286"/>
            <a:ext cx="1479323" cy="1479323"/>
          </a:xfrm>
          <a:custGeom>
            <a:avLst/>
            <a:gdLst/>
            <a:ahLst/>
            <a:cxnLst/>
            <a:rect l="l" t="t" r="r" b="b"/>
            <a:pathLst>
              <a:path w="1479323" h="1479323">
                <a:moveTo>
                  <a:pt x="0" y="0"/>
                </a:moveTo>
                <a:lnTo>
                  <a:pt x="1479323" y="0"/>
                </a:lnTo>
                <a:lnTo>
                  <a:pt x="1479323" y="1479323"/>
                </a:lnTo>
                <a:lnTo>
                  <a:pt x="0" y="1479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0486" y="1200150"/>
            <a:ext cx="10447028" cy="12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0"/>
              </a:lnSpc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VISI DAN MISI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5018" y="4851037"/>
            <a:ext cx="12014175" cy="244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Menjadi usaha kuliner lokal yang dikenal luas karena menyajikan takoyaki dan dimsum lezat, berkualitas, dan terjangkau, serta memberikan pelayanan yang ramah dan cepat kepada pelanggan.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9680" y="3473469"/>
            <a:ext cx="5584852" cy="13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3514" b="1" spc="2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 KEDAI TAKOSAI</a:t>
            </a:r>
          </a:p>
          <a:p>
            <a:pPr algn="l">
              <a:lnSpc>
                <a:spcPts val="4920"/>
              </a:lnSpc>
            </a:pPr>
            <a:endParaRPr lang="en-US" sz="3514" b="1" spc="216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9" name="Freeform 9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3315" y="6942286"/>
            <a:ext cx="1479323" cy="1479323"/>
          </a:xfrm>
          <a:custGeom>
            <a:avLst/>
            <a:gdLst/>
            <a:ahLst/>
            <a:cxnLst/>
            <a:rect l="l" t="t" r="r" b="b"/>
            <a:pathLst>
              <a:path w="1479323" h="1479323">
                <a:moveTo>
                  <a:pt x="0" y="0"/>
                </a:moveTo>
                <a:lnTo>
                  <a:pt x="1479323" y="0"/>
                </a:lnTo>
                <a:lnTo>
                  <a:pt x="1479323" y="1479323"/>
                </a:lnTo>
                <a:lnTo>
                  <a:pt x="0" y="1479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0486" y="1200150"/>
            <a:ext cx="10447028" cy="110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0"/>
              </a:lnSpc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VISI DAN MISI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9680" y="2559281"/>
            <a:ext cx="5584852" cy="13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3514" b="1" spc="2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MISI KEDAI TAKOSAI</a:t>
            </a:r>
          </a:p>
          <a:p>
            <a:pPr algn="l">
              <a:lnSpc>
                <a:spcPts val="4920"/>
              </a:lnSpc>
            </a:pPr>
            <a:endParaRPr lang="en-US" sz="3514" b="1" spc="216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Freeform 7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8" name="Freeform 8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13628" y="3743342"/>
            <a:ext cx="14026945" cy="496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Meningkatkan kenyamanan pelanggan melalui pelayanan yang cepat dan ramah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Mengembangkan sistem kasir berbasis website untuk mempercepat transaksi dan pencatatan penjualan.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Menyediakan menu digital yang dapat diakses pelanggan secara online.</a:t>
            </a:r>
          </a:p>
          <a:p>
            <a:pPr marL="755650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Mempermudah pemilik dalam mengelola data pesanan dan laporan penjualan harian, bulanan, dan tahunan.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79383" y="1314988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729372" y="4294830"/>
            <a:ext cx="11045224" cy="11045224"/>
          </a:xfrm>
          <a:custGeom>
            <a:avLst/>
            <a:gdLst/>
            <a:ahLst/>
            <a:cxnLst/>
            <a:rect l="l" t="t" r="r" b="b"/>
            <a:pathLst>
              <a:path w="11045224" h="11045224">
                <a:moveTo>
                  <a:pt x="0" y="0"/>
                </a:moveTo>
                <a:lnTo>
                  <a:pt x="11045224" y="0"/>
                </a:lnTo>
                <a:lnTo>
                  <a:pt x="11045224" y="11045224"/>
                </a:lnTo>
                <a:lnTo>
                  <a:pt x="0" y="1104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3391110" y="4633092"/>
            <a:ext cx="10368700" cy="10368700"/>
            <a:chOff x="0" y="0"/>
            <a:chExt cx="13824933" cy="13824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24965" cy="13824965"/>
            </a:xfrm>
            <a:custGeom>
              <a:avLst/>
              <a:gdLst/>
              <a:ahLst/>
              <a:cxnLst/>
              <a:rect l="l" t="t" r="r" b="b"/>
              <a:pathLst>
                <a:path w="13824965" h="13824965">
                  <a:moveTo>
                    <a:pt x="6912483" y="0"/>
                  </a:moveTo>
                  <a:cubicBezTo>
                    <a:pt x="3094863" y="0"/>
                    <a:pt x="0" y="3094863"/>
                    <a:pt x="0" y="6912483"/>
                  </a:cubicBezTo>
                  <a:cubicBezTo>
                    <a:pt x="0" y="10730102"/>
                    <a:pt x="3094863" y="13824965"/>
                    <a:pt x="6912483" y="13824965"/>
                  </a:cubicBezTo>
                  <a:cubicBezTo>
                    <a:pt x="10730102" y="13824965"/>
                    <a:pt x="13824965" y="10730102"/>
                    <a:pt x="13824965" y="6912483"/>
                  </a:cubicBezTo>
                  <a:cubicBezTo>
                    <a:pt x="13824965" y="3094863"/>
                    <a:pt x="10730103" y="0"/>
                    <a:pt x="6912483" y="0"/>
                  </a:cubicBezTo>
                  <a:close/>
                </a:path>
              </a:pathLst>
            </a:custGeom>
            <a:blipFill>
              <a:blip r:embed="rId8"/>
              <a:stretch>
                <a:fillRect t="-38858" b="-3885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361318" y="1415981"/>
            <a:ext cx="5413332" cy="5413332"/>
          </a:xfrm>
          <a:custGeom>
            <a:avLst/>
            <a:gdLst/>
            <a:ahLst/>
            <a:cxnLst/>
            <a:rect l="l" t="t" r="r" b="b"/>
            <a:pathLst>
              <a:path w="5413332" h="5413332">
                <a:moveTo>
                  <a:pt x="0" y="0"/>
                </a:moveTo>
                <a:lnTo>
                  <a:pt x="5413332" y="0"/>
                </a:lnTo>
                <a:lnTo>
                  <a:pt x="5413332" y="5413332"/>
                </a:lnTo>
                <a:lnTo>
                  <a:pt x="0" y="54133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670669" y="1725331"/>
            <a:ext cx="4794631" cy="4794631"/>
            <a:chOff x="0" y="0"/>
            <a:chExt cx="6392841" cy="63928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92799" cy="6392799"/>
            </a:xfrm>
            <a:custGeom>
              <a:avLst/>
              <a:gdLst/>
              <a:ahLst/>
              <a:cxnLst/>
              <a:rect l="l" t="t" r="r" b="b"/>
              <a:pathLst>
                <a:path w="6392799" h="6392799">
                  <a:moveTo>
                    <a:pt x="3196463" y="0"/>
                  </a:moveTo>
                  <a:cubicBezTo>
                    <a:pt x="1431036" y="0"/>
                    <a:pt x="0" y="1431036"/>
                    <a:pt x="0" y="3196463"/>
                  </a:cubicBezTo>
                  <a:cubicBezTo>
                    <a:pt x="0" y="4961890"/>
                    <a:pt x="1431036" y="6392799"/>
                    <a:pt x="3196463" y="6392799"/>
                  </a:cubicBezTo>
                  <a:cubicBezTo>
                    <a:pt x="4961890" y="6392799"/>
                    <a:pt x="6392799" y="4961763"/>
                    <a:pt x="6392799" y="3196463"/>
                  </a:cubicBezTo>
                  <a:cubicBezTo>
                    <a:pt x="6392799" y="1431163"/>
                    <a:pt x="4961763" y="0"/>
                    <a:pt x="3196463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4569541" y="5538554"/>
            <a:ext cx="3205109" cy="3205109"/>
          </a:xfrm>
          <a:custGeom>
            <a:avLst/>
            <a:gdLst/>
            <a:ahLst/>
            <a:cxnLst/>
            <a:rect l="l" t="t" r="r" b="b"/>
            <a:pathLst>
              <a:path w="3205109" h="3205109">
                <a:moveTo>
                  <a:pt x="0" y="0"/>
                </a:moveTo>
                <a:lnTo>
                  <a:pt x="3205109" y="0"/>
                </a:lnTo>
                <a:lnTo>
                  <a:pt x="3205109" y="3205109"/>
                </a:lnTo>
                <a:lnTo>
                  <a:pt x="0" y="32051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67538" y="1730306"/>
            <a:ext cx="8425411" cy="206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75"/>
              </a:lnSpc>
            </a:pPr>
            <a:r>
              <a:rPr lang="en-US" sz="89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IDENTIFIKASI MASALAH</a:t>
            </a:r>
          </a:p>
        </p:txBody>
      </p:sp>
      <p:sp>
        <p:nvSpPr>
          <p:cNvPr id="12" name="Freeform 12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214613" y="4209105"/>
            <a:ext cx="9225144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Pencatatan pesanan dan transaksi masih dilakukan manual, berisiko terjadi kesalahan.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Tidak ada sistem yang merekap penjualan per hari, bulan, dan tahun secara otomatis.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Pelanggan belum bisa memesan dan membayar langsung secara digital.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Pengelolaan menu (tambah/hapus/edit) masih harus dilakukan secara manual.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647928" y="2751511"/>
            <a:ext cx="11434816" cy="11434816"/>
          </a:xfrm>
          <a:custGeom>
            <a:avLst/>
            <a:gdLst/>
            <a:ahLst/>
            <a:cxnLst/>
            <a:rect l="l" t="t" r="r" b="b"/>
            <a:pathLst>
              <a:path w="11434816" h="11434816">
                <a:moveTo>
                  <a:pt x="0" y="0"/>
                </a:moveTo>
                <a:lnTo>
                  <a:pt x="11434816" y="0"/>
                </a:lnTo>
                <a:lnTo>
                  <a:pt x="11434816" y="11434816"/>
                </a:lnTo>
                <a:lnTo>
                  <a:pt x="0" y="11434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4275794" y="3123645"/>
            <a:ext cx="10690548" cy="10690548"/>
            <a:chOff x="0" y="0"/>
            <a:chExt cx="14254064" cy="142540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53972" cy="14253972"/>
            </a:xfrm>
            <a:custGeom>
              <a:avLst/>
              <a:gdLst/>
              <a:ahLst/>
              <a:cxnLst/>
              <a:rect l="l" t="t" r="r" b="b"/>
              <a:pathLst>
                <a:path w="14253972" h="14253972">
                  <a:moveTo>
                    <a:pt x="7126986" y="0"/>
                  </a:moveTo>
                  <a:cubicBezTo>
                    <a:pt x="3190875" y="0"/>
                    <a:pt x="0" y="3190875"/>
                    <a:pt x="0" y="7126986"/>
                  </a:cubicBezTo>
                  <a:cubicBezTo>
                    <a:pt x="0" y="11063097"/>
                    <a:pt x="3190875" y="14253972"/>
                    <a:pt x="7126986" y="14253972"/>
                  </a:cubicBezTo>
                  <a:cubicBezTo>
                    <a:pt x="11063097" y="14253972"/>
                    <a:pt x="14253972" y="11063097"/>
                    <a:pt x="14253972" y="7126986"/>
                  </a:cubicBezTo>
                  <a:cubicBezTo>
                    <a:pt x="14253972" y="3190875"/>
                    <a:pt x="11063224" y="0"/>
                    <a:pt x="7126986" y="0"/>
                  </a:cubicBezTo>
                  <a:close/>
                </a:path>
              </a:pathLst>
            </a:custGeom>
            <a:blipFill>
              <a:blip r:embed="rId8"/>
              <a:stretch>
                <a:fillRect t="-12500" b="-1250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514320" y="2437272"/>
            <a:ext cx="3205109" cy="3205109"/>
          </a:xfrm>
          <a:custGeom>
            <a:avLst/>
            <a:gdLst/>
            <a:ahLst/>
            <a:cxnLst/>
            <a:rect l="l" t="t" r="r" b="b"/>
            <a:pathLst>
              <a:path w="3205109" h="3205109">
                <a:moveTo>
                  <a:pt x="0" y="0"/>
                </a:moveTo>
                <a:lnTo>
                  <a:pt x="3205109" y="0"/>
                </a:lnTo>
                <a:lnTo>
                  <a:pt x="3205109" y="3205109"/>
                </a:lnTo>
                <a:lnTo>
                  <a:pt x="0" y="32051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786888" y="1842667"/>
            <a:ext cx="9026326" cy="219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0"/>
              </a:lnSpc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SOLUSI YANG KAMI BERIKAN</a:t>
            </a:r>
          </a:p>
        </p:txBody>
      </p:sp>
      <p:sp>
        <p:nvSpPr>
          <p:cNvPr id="9" name="Freeform 9"/>
          <p:cNvSpPr/>
          <p:nvPr/>
        </p:nvSpPr>
        <p:spPr>
          <a:xfrm rot="-10329793">
            <a:off x="14497081" y="-2644459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786888" y="4277370"/>
            <a:ext cx="9953685" cy="546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304" lvl="1" indent="-302152" algn="l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Website Kasir Kedai Takosai dirancang sebagai sistem digital yang mencakup :</a:t>
            </a:r>
          </a:p>
          <a:p>
            <a:pPr marL="604304" lvl="1" indent="-302152" algn="l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Fitur pelanggan : melihat menu, melakukan pemesanan, dan melakukan pembayaran online.</a:t>
            </a:r>
          </a:p>
          <a:p>
            <a:pPr marL="604304" lvl="1" indent="-302152" algn="l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Fitur admin : mengelola menu (CRUD: tambah, ubah, hapus), melihat daftar pesanan, dan mencetak laporan penjualan.</a:t>
            </a:r>
          </a:p>
          <a:p>
            <a:pPr marL="604304" lvl="1" indent="-302152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Laporan otomatis : hasil penjualan dapat diekspor ke Excel dan PDF.</a:t>
            </a:r>
          </a:p>
          <a:p>
            <a:pPr marL="604304" lvl="1" indent="-302152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Desain responsif : dapat diakses melalui smartphone, tablet, dan laptop.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228988" y="2143294"/>
            <a:ext cx="4860651" cy="4860651"/>
          </a:xfrm>
          <a:custGeom>
            <a:avLst/>
            <a:gdLst/>
            <a:ahLst/>
            <a:cxnLst/>
            <a:rect l="l" t="t" r="r" b="b"/>
            <a:pathLst>
              <a:path w="4860651" h="4860651">
                <a:moveTo>
                  <a:pt x="0" y="0"/>
                </a:moveTo>
                <a:lnTo>
                  <a:pt x="4860651" y="0"/>
                </a:lnTo>
                <a:lnTo>
                  <a:pt x="4860651" y="4860651"/>
                </a:lnTo>
                <a:lnTo>
                  <a:pt x="0" y="4860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484120" y="2398426"/>
            <a:ext cx="4350388" cy="4350388"/>
            <a:chOff x="0" y="0"/>
            <a:chExt cx="5800517" cy="58005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0471" cy="5800471"/>
            </a:xfrm>
            <a:custGeom>
              <a:avLst/>
              <a:gdLst/>
              <a:ahLst/>
              <a:cxnLst/>
              <a:rect l="l" t="t" r="r" b="b"/>
              <a:pathLst>
                <a:path w="5800471" h="5800471">
                  <a:moveTo>
                    <a:pt x="2900299" y="0"/>
                  </a:moveTo>
                  <a:cubicBezTo>
                    <a:pt x="1298448" y="0"/>
                    <a:pt x="0" y="1298448"/>
                    <a:pt x="0" y="2900299"/>
                  </a:cubicBezTo>
                  <a:cubicBezTo>
                    <a:pt x="0" y="4502150"/>
                    <a:pt x="1298448" y="5800471"/>
                    <a:pt x="2900299" y="5800471"/>
                  </a:cubicBezTo>
                  <a:cubicBezTo>
                    <a:pt x="4502150" y="5800471"/>
                    <a:pt x="5800471" y="4502023"/>
                    <a:pt x="5800471" y="2900299"/>
                  </a:cubicBezTo>
                  <a:cubicBezTo>
                    <a:pt x="5800471" y="1298575"/>
                    <a:pt x="4502023" y="0"/>
                    <a:pt x="2900299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2857513" y="4894561"/>
            <a:ext cx="3883061" cy="3883061"/>
          </a:xfrm>
          <a:custGeom>
            <a:avLst/>
            <a:gdLst/>
            <a:ahLst/>
            <a:cxnLst/>
            <a:rect l="l" t="t" r="r" b="b"/>
            <a:pathLst>
              <a:path w="3883061" h="3883061">
                <a:moveTo>
                  <a:pt x="0" y="0"/>
                </a:moveTo>
                <a:lnTo>
                  <a:pt x="3883061" y="0"/>
                </a:lnTo>
                <a:lnTo>
                  <a:pt x="3883061" y="3883061"/>
                </a:lnTo>
                <a:lnTo>
                  <a:pt x="0" y="3883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061332" y="5098380"/>
            <a:ext cx="3475423" cy="3475423"/>
            <a:chOff x="0" y="0"/>
            <a:chExt cx="4633897" cy="46338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33976" cy="4633849"/>
            </a:xfrm>
            <a:custGeom>
              <a:avLst/>
              <a:gdLst/>
              <a:ahLst/>
              <a:cxnLst/>
              <a:rect l="l" t="t" r="r" b="b"/>
              <a:pathLst>
                <a:path w="4633976" h="4633849">
                  <a:moveTo>
                    <a:pt x="2316988" y="0"/>
                  </a:moveTo>
                  <a:cubicBezTo>
                    <a:pt x="1037336" y="0"/>
                    <a:pt x="0" y="1037336"/>
                    <a:pt x="0" y="2316988"/>
                  </a:cubicBezTo>
                  <a:cubicBezTo>
                    <a:pt x="0" y="3596640"/>
                    <a:pt x="1037336" y="4633849"/>
                    <a:pt x="2316988" y="4633849"/>
                  </a:cubicBezTo>
                  <a:cubicBezTo>
                    <a:pt x="3596640" y="4633849"/>
                    <a:pt x="4633976" y="3596513"/>
                    <a:pt x="4633976" y="2316861"/>
                  </a:cubicBezTo>
                  <a:cubicBezTo>
                    <a:pt x="4633976" y="1037209"/>
                    <a:pt x="3596513" y="0"/>
                    <a:pt x="2316988" y="0"/>
                  </a:cubicBezTo>
                  <a:close/>
                </a:path>
              </a:pathLst>
            </a:custGeom>
            <a:blipFill>
              <a:blip r:embed="rId11"/>
              <a:stretch>
                <a:fillRect t="-12527" r="1" b="-12528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2131837" y="3974107"/>
            <a:ext cx="2194300" cy="2194300"/>
          </a:xfrm>
          <a:custGeom>
            <a:avLst/>
            <a:gdLst/>
            <a:ahLst/>
            <a:cxnLst/>
            <a:rect l="l" t="t" r="r" b="b"/>
            <a:pathLst>
              <a:path w="2194300" h="2194300">
                <a:moveTo>
                  <a:pt x="0" y="0"/>
                </a:moveTo>
                <a:lnTo>
                  <a:pt x="2194300" y="0"/>
                </a:lnTo>
                <a:lnTo>
                  <a:pt x="2194300" y="2194300"/>
                </a:lnTo>
                <a:lnTo>
                  <a:pt x="0" y="21943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85825" y="3780330"/>
            <a:ext cx="10808578" cy="460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304" lvl="1" indent="-302152" algn="l">
              <a:lnSpc>
                <a:spcPts val="4842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Proses transaksi lebih cepat, efisien, dan tercatat otomatis.</a:t>
            </a:r>
          </a:p>
          <a:p>
            <a:pPr marL="604304" lvl="1" indent="-302152" algn="l">
              <a:lnSpc>
                <a:spcPts val="4842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Pemilik dapat memantau penjualan harian, bulanan, hingga tahunan dengan mudah.</a:t>
            </a:r>
          </a:p>
          <a:p>
            <a:pPr marL="604304" lvl="1" indent="-302152" algn="l">
              <a:lnSpc>
                <a:spcPts val="4842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Mengurangi risiko salah hitung atau kehilangan data transaksi.</a:t>
            </a:r>
          </a:p>
          <a:p>
            <a:pPr marL="604304" lvl="1" indent="-302152" algn="l">
              <a:lnSpc>
                <a:spcPts val="3459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Pelanggan mendapat pengalaman lebih modern melalui sistem pemesanan dan pembayaran digital.</a:t>
            </a:r>
          </a:p>
        </p:txBody>
      </p:sp>
      <p:sp>
        <p:nvSpPr>
          <p:cNvPr id="12" name="Freeform 12"/>
          <p:cNvSpPr/>
          <p:nvPr/>
        </p:nvSpPr>
        <p:spPr>
          <a:xfrm rot="-10329793">
            <a:off x="14648941" y="-2810867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13" name="Freeform 13"/>
          <p:cNvSpPr/>
          <p:nvPr/>
        </p:nvSpPr>
        <p:spPr>
          <a:xfrm rot="-10329793">
            <a:off x="-3450842" y="85848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85825" y="993397"/>
            <a:ext cx="9617646" cy="219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0"/>
              </a:lnSpc>
            </a:pPr>
            <a:r>
              <a:rPr lang="en-US" sz="94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MANFAAT BAGI KLIEN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33238" y="6740958"/>
            <a:ext cx="7198559" cy="7198559"/>
          </a:xfrm>
          <a:custGeom>
            <a:avLst/>
            <a:gdLst/>
            <a:ahLst/>
            <a:cxnLst/>
            <a:rect l="l" t="t" r="r" b="b"/>
            <a:pathLst>
              <a:path w="7198559" h="7198559">
                <a:moveTo>
                  <a:pt x="0" y="0"/>
                </a:moveTo>
                <a:lnTo>
                  <a:pt x="7198559" y="0"/>
                </a:lnTo>
                <a:lnTo>
                  <a:pt x="7198559" y="7198559"/>
                </a:lnTo>
                <a:lnTo>
                  <a:pt x="0" y="7198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90297" y="-3205254"/>
            <a:ext cx="6919019" cy="6919019"/>
          </a:xfrm>
          <a:custGeom>
            <a:avLst/>
            <a:gdLst/>
            <a:ahLst/>
            <a:cxnLst/>
            <a:rect l="l" t="t" r="r" b="b"/>
            <a:pathLst>
              <a:path w="6919019" h="6919019">
                <a:moveTo>
                  <a:pt x="0" y="0"/>
                </a:moveTo>
                <a:lnTo>
                  <a:pt x="6919019" y="0"/>
                </a:lnTo>
                <a:lnTo>
                  <a:pt x="6919019" y="6919019"/>
                </a:lnTo>
                <a:lnTo>
                  <a:pt x="0" y="6919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487715" y="6995436"/>
            <a:ext cx="6689603" cy="6689603"/>
            <a:chOff x="0" y="0"/>
            <a:chExt cx="8919471" cy="8919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19464" cy="8919464"/>
            </a:xfrm>
            <a:custGeom>
              <a:avLst/>
              <a:gdLst/>
              <a:ahLst/>
              <a:cxnLst/>
              <a:rect l="l" t="t" r="r" b="b"/>
              <a:pathLst>
                <a:path w="8919464" h="8919464">
                  <a:moveTo>
                    <a:pt x="4459732" y="0"/>
                  </a:moveTo>
                  <a:cubicBezTo>
                    <a:pt x="1996694" y="0"/>
                    <a:pt x="0" y="1996694"/>
                    <a:pt x="0" y="4459732"/>
                  </a:cubicBezTo>
                  <a:cubicBezTo>
                    <a:pt x="0" y="6922770"/>
                    <a:pt x="1996694" y="8919464"/>
                    <a:pt x="4459732" y="8919464"/>
                  </a:cubicBezTo>
                  <a:cubicBezTo>
                    <a:pt x="6922770" y="8919464"/>
                    <a:pt x="8919464" y="6922770"/>
                    <a:pt x="8919464" y="4459732"/>
                  </a:cubicBezTo>
                  <a:cubicBezTo>
                    <a:pt x="8919464" y="1996694"/>
                    <a:pt x="6922770" y="0"/>
                    <a:pt x="4459732" y="0"/>
                  </a:cubicBezTo>
                  <a:close/>
                </a:path>
              </a:pathLst>
            </a:custGeom>
            <a:blipFill>
              <a:blip r:embed="rId8"/>
              <a:stretch>
                <a:fillRect t="-12500" b="-1250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834892" y="-2960658"/>
            <a:ext cx="6429828" cy="6429828"/>
            <a:chOff x="0" y="0"/>
            <a:chExt cx="8573104" cy="85731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73135" cy="8573135"/>
            </a:xfrm>
            <a:custGeom>
              <a:avLst/>
              <a:gdLst/>
              <a:ahLst/>
              <a:cxnLst/>
              <a:rect l="l" t="t" r="r" b="b"/>
              <a:pathLst>
                <a:path w="8573135" h="8573135">
                  <a:moveTo>
                    <a:pt x="4286504" y="0"/>
                  </a:moveTo>
                  <a:cubicBezTo>
                    <a:pt x="1919097" y="0"/>
                    <a:pt x="0" y="1919097"/>
                    <a:pt x="0" y="4286504"/>
                  </a:cubicBezTo>
                  <a:cubicBezTo>
                    <a:pt x="0" y="6653911"/>
                    <a:pt x="1919097" y="8573135"/>
                    <a:pt x="4286504" y="8573135"/>
                  </a:cubicBezTo>
                  <a:cubicBezTo>
                    <a:pt x="6653911" y="8573135"/>
                    <a:pt x="8573135" y="6653911"/>
                    <a:pt x="8573135" y="4286504"/>
                  </a:cubicBezTo>
                  <a:cubicBezTo>
                    <a:pt x="8573135" y="1919097"/>
                    <a:pt x="6653911" y="0"/>
                    <a:pt x="4286504" y="0"/>
                  </a:cubicBezTo>
                  <a:close/>
                </a:path>
              </a:pathLst>
            </a:custGeom>
            <a:blipFill>
              <a:blip r:embed="rId9"/>
              <a:stretch>
                <a:fillRect t="-16585" b="-16584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3093468" y="6106529"/>
            <a:ext cx="2481282" cy="2481282"/>
          </a:xfrm>
          <a:custGeom>
            <a:avLst/>
            <a:gdLst/>
            <a:ahLst/>
            <a:cxnLst/>
            <a:rect l="l" t="t" r="r" b="b"/>
            <a:pathLst>
              <a:path w="2481282" h="2481282">
                <a:moveTo>
                  <a:pt x="0" y="0"/>
                </a:moveTo>
                <a:lnTo>
                  <a:pt x="2481282" y="0"/>
                </a:lnTo>
                <a:lnTo>
                  <a:pt x="2481282" y="2481282"/>
                </a:lnTo>
                <a:lnTo>
                  <a:pt x="0" y="2481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329793">
            <a:off x="-3450842" y="85848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18447" y="1939806"/>
            <a:ext cx="12016445" cy="110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0"/>
              </a:lnSpc>
            </a:pPr>
            <a:r>
              <a:rPr lang="en-US" sz="94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PENGGUNA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447" y="3504215"/>
            <a:ext cx="12428169" cy="442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105" lvl="1" indent="-360553" algn="l">
              <a:lnSpc>
                <a:spcPts val="5878"/>
              </a:lnSpc>
              <a:buFont typeface="Arial"/>
              <a:buChar char="•"/>
            </a:pPr>
            <a:r>
              <a:rPr lang="en-US" sz="333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Pelanggan : pengguna yang ingin melihat menu, memesan, dan melakukan pembayaran secara online.</a:t>
            </a:r>
          </a:p>
          <a:p>
            <a:pPr marL="721105" lvl="1" indent="-360553" algn="l">
              <a:lnSpc>
                <a:spcPts val="5878"/>
              </a:lnSpc>
              <a:buFont typeface="Arial"/>
              <a:buChar char="•"/>
            </a:pPr>
            <a:r>
              <a:rPr lang="en-US" sz="333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Admin/Pemilik : mengelola menu, memantau transaksi, serta mencetak laporan keuangan.</a:t>
            </a:r>
          </a:p>
          <a:p>
            <a:pPr marL="721106" lvl="1" indent="-360553" algn="l">
              <a:lnSpc>
                <a:spcPts val="5878"/>
              </a:lnSpc>
              <a:buFont typeface="Arial"/>
              <a:buChar char="•"/>
            </a:pPr>
            <a:r>
              <a:rPr lang="en-US" sz="334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Kasir/Staff : membantu proses transaksi langsung di tempat menggunakan sistem web.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20486" y="1371600"/>
            <a:ext cx="10447028" cy="99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0"/>
              </a:lnSpc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BPMN</a:t>
            </a:r>
          </a:p>
        </p:txBody>
      </p:sp>
      <p:sp>
        <p:nvSpPr>
          <p:cNvPr id="5" name="Freeform 5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6" name="Freeform 6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086" b="-308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45046" y="3371088"/>
            <a:ext cx="17397907" cy="3544824"/>
            <a:chOff x="0" y="0"/>
            <a:chExt cx="23197209" cy="47264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197186" cy="4726432"/>
            </a:xfrm>
            <a:custGeom>
              <a:avLst/>
              <a:gdLst/>
              <a:ahLst/>
              <a:cxnLst/>
              <a:rect l="l" t="t" r="r" b="b"/>
              <a:pathLst>
                <a:path w="23197186" h="4726432">
                  <a:moveTo>
                    <a:pt x="0" y="0"/>
                  </a:moveTo>
                  <a:lnTo>
                    <a:pt x="23197186" y="0"/>
                  </a:lnTo>
                  <a:lnTo>
                    <a:pt x="23197186" y="4726432"/>
                  </a:lnTo>
                  <a:lnTo>
                    <a:pt x="0" y="4726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5" b="-75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3315" y="6942286"/>
            <a:ext cx="1479323" cy="1479323"/>
          </a:xfrm>
          <a:custGeom>
            <a:avLst/>
            <a:gdLst/>
            <a:ahLst/>
            <a:cxnLst/>
            <a:rect l="l" t="t" r="r" b="b"/>
            <a:pathLst>
              <a:path w="1479323" h="1479323">
                <a:moveTo>
                  <a:pt x="0" y="0"/>
                </a:moveTo>
                <a:lnTo>
                  <a:pt x="1479323" y="0"/>
                </a:lnTo>
                <a:lnTo>
                  <a:pt x="1479323" y="1479323"/>
                </a:lnTo>
                <a:lnTo>
                  <a:pt x="0" y="1479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0486" y="1200150"/>
            <a:ext cx="10447028" cy="110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0"/>
              </a:lnSpc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id="6" name="Freeform 6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7" name="Freeform 7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13628" y="2517322"/>
            <a:ext cx="14026945" cy="619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42"/>
              </a:lnSpc>
            </a:pPr>
            <a:r>
              <a:rPr lang="en-US" sz="34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Website Kasir Kedai Takosai dirancang untuk mendigitalisasi proses transaksi dan pemesanan di Kedai Takosai.</a:t>
            </a:r>
          </a:p>
          <a:p>
            <a:pPr algn="just">
              <a:lnSpc>
                <a:spcPts val="5745"/>
              </a:lnSpc>
            </a:pPr>
            <a:r>
              <a:rPr lang="en-US" sz="33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Sistem ini memungkinkan pelanggan memesan dan membayar langsung melalui website, sementara pemilik usaha dapat mengelola menu serta memantau penjualan secara otomatis melalui laporan dalam format Excel dan PDF.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Dengan adanya sistem ini, Kedai Takosai dapat meningkatkan efisiensi operasional, pelayanan pelanggan, dan profesionalitas usaha.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</p:sp>
      <p:sp>
        <p:nvSpPr>
          <p:cNvPr id="3" name="Freeform 3"/>
          <p:cNvSpPr/>
          <p:nvPr/>
        </p:nvSpPr>
        <p:spPr>
          <a:xfrm rot="-10289604">
            <a:off x="-348403" y="5844319"/>
            <a:ext cx="18517655" cy="15083471"/>
          </a:xfrm>
          <a:custGeom>
            <a:avLst/>
            <a:gdLst/>
            <a:ahLst/>
            <a:cxnLst/>
            <a:rect l="l" t="t" r="r" b="b"/>
            <a:pathLst>
              <a:path w="18517655" h="15083471">
                <a:moveTo>
                  <a:pt x="0" y="0"/>
                </a:moveTo>
                <a:lnTo>
                  <a:pt x="18517655" y="0"/>
                </a:lnTo>
                <a:lnTo>
                  <a:pt x="18517655" y="15083471"/>
                </a:lnTo>
                <a:lnTo>
                  <a:pt x="0" y="15083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7" b="-11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83800" y="5508910"/>
            <a:ext cx="5019380" cy="5019380"/>
          </a:xfrm>
          <a:custGeom>
            <a:avLst/>
            <a:gdLst/>
            <a:ahLst/>
            <a:cxnLst/>
            <a:rect l="l" t="t" r="r" b="b"/>
            <a:pathLst>
              <a:path w="5019380" h="5019380">
                <a:moveTo>
                  <a:pt x="0" y="0"/>
                </a:moveTo>
                <a:lnTo>
                  <a:pt x="5019380" y="0"/>
                </a:lnTo>
                <a:lnTo>
                  <a:pt x="5019380" y="5019380"/>
                </a:lnTo>
                <a:lnTo>
                  <a:pt x="0" y="5019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329793">
            <a:off x="14497081" y="-2644459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086" b="-3086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614675" y="3245041"/>
            <a:ext cx="9824419" cy="5617309"/>
            <a:chOff x="0" y="0"/>
            <a:chExt cx="13099225" cy="74897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9287" cy="7489698"/>
            </a:xfrm>
            <a:custGeom>
              <a:avLst/>
              <a:gdLst/>
              <a:ahLst/>
              <a:cxnLst/>
              <a:rect l="l" t="t" r="r" b="b"/>
              <a:pathLst>
                <a:path w="13099287" h="7489698">
                  <a:moveTo>
                    <a:pt x="0" y="0"/>
                  </a:moveTo>
                  <a:lnTo>
                    <a:pt x="13099287" y="0"/>
                  </a:lnTo>
                  <a:lnTo>
                    <a:pt x="13099287" y="7489698"/>
                  </a:lnTo>
                  <a:lnTo>
                    <a:pt x="0" y="7489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7447" b="-3744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023032" y="3681301"/>
            <a:ext cx="4714654" cy="4714654"/>
            <a:chOff x="0" y="0"/>
            <a:chExt cx="6286205" cy="62862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86246" cy="6286246"/>
            </a:xfrm>
            <a:custGeom>
              <a:avLst/>
              <a:gdLst/>
              <a:ahLst/>
              <a:cxnLst/>
              <a:rect l="l" t="t" r="r" b="b"/>
              <a:pathLst>
                <a:path w="6286246" h="6286246">
                  <a:moveTo>
                    <a:pt x="0" y="0"/>
                  </a:moveTo>
                  <a:lnTo>
                    <a:pt x="6286246" y="0"/>
                  </a:lnTo>
                  <a:lnTo>
                    <a:pt x="6286246" y="6286246"/>
                  </a:lnTo>
                  <a:lnTo>
                    <a:pt x="0" y="628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614675" y="2114051"/>
            <a:ext cx="9531370" cy="156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9"/>
              </a:lnSpc>
            </a:pPr>
            <a:r>
              <a:rPr lang="en-US" sz="10701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Office PowerPoint</Application>
  <PresentationFormat>Custom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Poppins Bold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 6_PPSI_M2_4KA21.pptx</dc:title>
  <cp:lastModifiedBy>HP VICTUS 16</cp:lastModifiedBy>
  <cp:revision>2</cp:revision>
  <dcterms:created xsi:type="dcterms:W3CDTF">2006-08-16T00:00:00Z</dcterms:created>
  <dcterms:modified xsi:type="dcterms:W3CDTF">2025-10-19T22:38:52Z</dcterms:modified>
  <dc:identifier>DAG19VVOxHw</dc:identifier>
</cp:coreProperties>
</file>