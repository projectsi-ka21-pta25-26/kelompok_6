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Poppins" panose="00000500000000000000" pitchFamily="2" charset="0"/>
      <p:regular r:id="rId15"/>
      <p:boldItalic r:id="rId16"/>
    </p:embeddedFont>
    <p:embeddedFont>
      <p:font typeface="Poppins Bold" panose="00000800000000000000" charset="0"/>
      <p:regular r:id="rId17"/>
    </p:embeddedFont>
    <p:embeddedFont>
      <p:font typeface="Poppins Medium" panose="000006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2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jpeg"/><Relationship Id="rId5" Type="http://schemas.openxmlformats.org/officeDocument/2006/relationships/image" Target="../media/image8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2.svg"/><Relationship Id="rId7" Type="http://schemas.openxmlformats.org/officeDocument/2006/relationships/image" Target="../media/image7.png"/><Relationship Id="rId12" Type="http://schemas.openxmlformats.org/officeDocument/2006/relationships/image" Target="../media/image2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2.jpeg"/><Relationship Id="rId5" Type="http://schemas.openxmlformats.org/officeDocument/2006/relationships/image" Target="../media/image18.svg"/><Relationship Id="rId10" Type="http://schemas.openxmlformats.org/officeDocument/2006/relationships/image" Target="../media/image21.sv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2.svg"/><Relationship Id="rId7" Type="http://schemas.openxmlformats.org/officeDocument/2006/relationships/image" Target="../media/image21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svg"/><Relationship Id="rId7" Type="http://schemas.openxmlformats.org/officeDocument/2006/relationships/image" Target="../media/image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svg"/><Relationship Id="rId7" Type="http://schemas.openxmlformats.org/officeDocument/2006/relationships/image" Target="../media/image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2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11" Type="http://schemas.openxmlformats.org/officeDocument/2006/relationships/image" Target="../media/image6.svg"/><Relationship Id="rId5" Type="http://schemas.openxmlformats.org/officeDocument/2006/relationships/image" Target="../media/image12.svg"/><Relationship Id="rId10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8.svg"/><Relationship Id="rId7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svg"/><Relationship Id="rId10" Type="http://schemas.openxmlformats.org/officeDocument/2006/relationships/image" Target="../media/image21.svg"/><Relationship Id="rId4" Type="http://schemas.openxmlformats.org/officeDocument/2006/relationships/image" Target="../media/image27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3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11" Type="http://schemas.openxmlformats.org/officeDocument/2006/relationships/image" Target="../media/image6.svg"/><Relationship Id="rId5" Type="http://schemas.openxmlformats.org/officeDocument/2006/relationships/image" Target="../media/image12.svg"/><Relationship Id="rId10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svg"/><Relationship Id="rId7" Type="http://schemas.openxmlformats.org/officeDocument/2006/relationships/image" Target="../media/image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2.jpeg"/><Relationship Id="rId4" Type="http://schemas.openxmlformats.org/officeDocument/2006/relationships/image" Target="../media/image29.jpe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8.svg"/><Relationship Id="rId7" Type="http://schemas.openxmlformats.org/officeDocument/2006/relationships/image" Target="../media/image21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svg"/><Relationship Id="rId7" Type="http://schemas.openxmlformats.org/officeDocument/2006/relationships/image" Target="../media/image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2.svg"/><Relationship Id="rId7" Type="http://schemas.openxmlformats.org/officeDocument/2006/relationships/image" Target="../media/image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7.png"/><Relationship Id="rId5" Type="http://schemas.openxmlformats.org/officeDocument/2006/relationships/image" Target="../media/image35.svg"/><Relationship Id="rId10" Type="http://schemas.openxmlformats.org/officeDocument/2006/relationships/image" Target="../media/image36.png"/><Relationship Id="rId4" Type="http://schemas.openxmlformats.org/officeDocument/2006/relationships/image" Target="../media/image34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666977">
            <a:off x="-3939391" y="3855873"/>
            <a:ext cx="11924059" cy="9712688"/>
          </a:xfrm>
          <a:custGeom>
            <a:avLst/>
            <a:gdLst/>
            <a:ahLst/>
            <a:cxnLst/>
            <a:rect l="l" t="t" r="r" b="b"/>
            <a:pathLst>
              <a:path w="11924059" h="9712688">
                <a:moveTo>
                  <a:pt x="0" y="0"/>
                </a:moveTo>
                <a:lnTo>
                  <a:pt x="11924059" y="0"/>
                </a:lnTo>
                <a:lnTo>
                  <a:pt x="11924059" y="9712688"/>
                </a:lnTo>
                <a:lnTo>
                  <a:pt x="0" y="9712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58521" y="2187653"/>
            <a:ext cx="4475099" cy="4475099"/>
          </a:xfrm>
          <a:custGeom>
            <a:avLst/>
            <a:gdLst/>
            <a:ahLst/>
            <a:cxnLst/>
            <a:rect l="l" t="t" r="r" b="b"/>
            <a:pathLst>
              <a:path w="4475099" h="4475099">
                <a:moveTo>
                  <a:pt x="0" y="0"/>
                </a:moveTo>
                <a:lnTo>
                  <a:pt x="4475099" y="0"/>
                </a:lnTo>
                <a:lnTo>
                  <a:pt x="4475099" y="4475099"/>
                </a:lnTo>
                <a:lnTo>
                  <a:pt x="0" y="44750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39970" y="8769367"/>
            <a:ext cx="7069720" cy="730150"/>
            <a:chOff x="0" y="0"/>
            <a:chExt cx="1861984" cy="1923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1984" cy="192303"/>
            </a:xfrm>
            <a:custGeom>
              <a:avLst/>
              <a:gdLst/>
              <a:ahLst/>
              <a:cxnLst/>
              <a:rect l="l" t="t" r="r" b="b"/>
              <a:pathLst>
                <a:path w="1861984" h="192303">
                  <a:moveTo>
                    <a:pt x="96151" y="0"/>
                  </a:moveTo>
                  <a:lnTo>
                    <a:pt x="1765832" y="0"/>
                  </a:lnTo>
                  <a:cubicBezTo>
                    <a:pt x="1818935" y="0"/>
                    <a:pt x="1861984" y="43048"/>
                    <a:pt x="1861984" y="96151"/>
                  </a:cubicBezTo>
                  <a:lnTo>
                    <a:pt x="1861984" y="96151"/>
                  </a:lnTo>
                  <a:cubicBezTo>
                    <a:pt x="1861984" y="149254"/>
                    <a:pt x="1818935" y="192303"/>
                    <a:pt x="1765832" y="192303"/>
                  </a:cubicBezTo>
                  <a:lnTo>
                    <a:pt x="96151" y="192303"/>
                  </a:lnTo>
                  <a:cubicBezTo>
                    <a:pt x="43048" y="192303"/>
                    <a:pt x="0" y="149254"/>
                    <a:pt x="0" y="96151"/>
                  </a:cubicBezTo>
                  <a:lnTo>
                    <a:pt x="0" y="96151"/>
                  </a:lnTo>
                  <a:cubicBezTo>
                    <a:pt x="0" y="43048"/>
                    <a:pt x="43048" y="0"/>
                    <a:pt x="96151" y="0"/>
                  </a:cubicBezTo>
                  <a:close/>
                </a:path>
              </a:pathLst>
            </a:custGeom>
            <a:solidFill>
              <a:srgbClr val="0A684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1861984" cy="15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96731" y="8759842"/>
            <a:ext cx="7768912" cy="730150"/>
            <a:chOff x="0" y="0"/>
            <a:chExt cx="2046133" cy="1923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46133" cy="192303"/>
            </a:xfrm>
            <a:custGeom>
              <a:avLst/>
              <a:gdLst/>
              <a:ahLst/>
              <a:cxnLst/>
              <a:rect l="l" t="t" r="r" b="b"/>
              <a:pathLst>
                <a:path w="2046133" h="192303">
                  <a:moveTo>
                    <a:pt x="96151" y="0"/>
                  </a:moveTo>
                  <a:lnTo>
                    <a:pt x="1949982" y="0"/>
                  </a:lnTo>
                  <a:cubicBezTo>
                    <a:pt x="2003085" y="0"/>
                    <a:pt x="2046133" y="43048"/>
                    <a:pt x="2046133" y="96151"/>
                  </a:cubicBezTo>
                  <a:lnTo>
                    <a:pt x="2046133" y="96151"/>
                  </a:lnTo>
                  <a:cubicBezTo>
                    <a:pt x="2046133" y="149254"/>
                    <a:pt x="2003085" y="192303"/>
                    <a:pt x="1949982" y="192303"/>
                  </a:cubicBezTo>
                  <a:lnTo>
                    <a:pt x="96151" y="192303"/>
                  </a:lnTo>
                  <a:cubicBezTo>
                    <a:pt x="43048" y="192303"/>
                    <a:pt x="0" y="149254"/>
                    <a:pt x="0" y="96151"/>
                  </a:cubicBezTo>
                  <a:lnTo>
                    <a:pt x="0" y="96151"/>
                  </a:lnTo>
                  <a:cubicBezTo>
                    <a:pt x="0" y="43048"/>
                    <a:pt x="43048" y="0"/>
                    <a:pt x="96151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2046133" cy="15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016578" y="1604719"/>
            <a:ext cx="4984422" cy="4984422"/>
          </a:xfrm>
          <a:custGeom>
            <a:avLst/>
            <a:gdLst/>
            <a:ahLst/>
            <a:cxnLst/>
            <a:rect l="l" t="t" r="r" b="b"/>
            <a:pathLst>
              <a:path w="4984422" h="4984422">
                <a:moveTo>
                  <a:pt x="0" y="0"/>
                </a:moveTo>
                <a:lnTo>
                  <a:pt x="4984422" y="0"/>
                </a:lnTo>
                <a:lnTo>
                  <a:pt x="4984422" y="4984423"/>
                </a:lnTo>
                <a:lnTo>
                  <a:pt x="0" y="4984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39970" y="2473342"/>
            <a:ext cx="6286500" cy="6286500"/>
          </a:xfrm>
          <a:custGeom>
            <a:avLst/>
            <a:gdLst/>
            <a:ahLst/>
            <a:cxnLst/>
            <a:rect l="l" t="t" r="r" b="b"/>
            <a:pathLst>
              <a:path w="6286500" h="6286500">
                <a:moveTo>
                  <a:pt x="0" y="0"/>
                </a:moveTo>
                <a:lnTo>
                  <a:pt x="6286500" y="0"/>
                </a:lnTo>
                <a:lnTo>
                  <a:pt x="6286500" y="6286500"/>
                </a:lnTo>
                <a:lnTo>
                  <a:pt x="0" y="6286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80711" y="4487721"/>
            <a:ext cx="10007289" cy="224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54"/>
              </a:lnSpc>
            </a:pPr>
            <a:r>
              <a:rPr lang="en-US" sz="790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WEBSITE KEDAI TAKOSAI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22664" y="1095375"/>
            <a:ext cx="3533133" cy="499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6"/>
              </a:lnSpc>
              <a:spcBef>
                <a:spcPct val="0"/>
              </a:spcBef>
            </a:pPr>
            <a:r>
              <a:rPr lang="en-US" sz="3743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KELOMPOK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80711" y="3189874"/>
            <a:ext cx="9531370" cy="117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52"/>
              </a:lnSpc>
            </a:pPr>
            <a:r>
              <a:rPr lang="en-US" sz="7899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RANCANGAN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0711" y="8866706"/>
            <a:ext cx="8200951" cy="45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MK : PENGELOLAAN PROYEK SISTEM INFORMASI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9970" y="8866706"/>
            <a:ext cx="7069720" cy="459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0"/>
              </a:lnSpc>
              <a:spcBef>
                <a:spcPct val="0"/>
              </a:spcBef>
            </a:pPr>
            <a:r>
              <a:rPr lang="en-US" sz="25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DOSEN : LULU CHAERANI MUNGGARAN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9571" y="137483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5805001" y="-4463181"/>
            <a:ext cx="6919019" cy="691901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368083" y="137483"/>
            <a:ext cx="1782433" cy="1782433"/>
          </a:xfrm>
          <a:custGeom>
            <a:avLst/>
            <a:gdLst/>
            <a:ahLst/>
            <a:cxnLst/>
            <a:rect l="l" t="t" r="r" b="b"/>
            <a:pathLst>
              <a:path w="1782433" h="1782433">
                <a:moveTo>
                  <a:pt x="0" y="0"/>
                </a:moveTo>
                <a:lnTo>
                  <a:pt x="1782434" y="0"/>
                </a:lnTo>
                <a:lnTo>
                  <a:pt x="1782434" y="1782434"/>
                </a:lnTo>
                <a:lnTo>
                  <a:pt x="0" y="1782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329793">
            <a:off x="-3450842" y="85848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4" y="0"/>
                </a:lnTo>
                <a:lnTo>
                  <a:pt x="6901684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611027" y="3874920"/>
            <a:ext cx="2460501" cy="2617314"/>
            <a:chOff x="0" y="0"/>
            <a:chExt cx="3280668" cy="3489752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8"/>
            <a:srcRect t="5256" b="5256"/>
            <a:stretch>
              <a:fillRect/>
            </a:stretch>
          </p:blipFill>
          <p:spPr>
            <a:xfrm>
              <a:off x="0" y="0"/>
              <a:ext cx="3280668" cy="348975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350670" y="3874920"/>
            <a:ext cx="2365591" cy="2617314"/>
            <a:chOff x="0" y="0"/>
            <a:chExt cx="3154121" cy="3489752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9"/>
            <a:srcRect t="8509" b="8509"/>
            <a:stretch>
              <a:fillRect/>
            </a:stretch>
          </p:blipFill>
          <p:spPr>
            <a:xfrm>
              <a:off x="0" y="0"/>
              <a:ext cx="3154121" cy="3489752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9995402" y="3874920"/>
            <a:ext cx="2365591" cy="2617314"/>
            <a:chOff x="0" y="0"/>
            <a:chExt cx="3154121" cy="3489752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10"/>
            <a:srcRect b="18678"/>
            <a:stretch>
              <a:fillRect/>
            </a:stretch>
          </p:blipFill>
          <p:spPr>
            <a:xfrm>
              <a:off x="0" y="0"/>
              <a:ext cx="3154121" cy="3489752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3640134" y="3874920"/>
            <a:ext cx="2365591" cy="2617314"/>
            <a:chOff x="0" y="0"/>
            <a:chExt cx="3154121" cy="3489752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11"/>
            <a:srcRect t="5743" b="5743"/>
            <a:stretch>
              <a:fillRect/>
            </a:stretch>
          </p:blipFill>
          <p:spPr>
            <a:xfrm>
              <a:off x="0" y="0"/>
              <a:ext cx="3154121" cy="3489752"/>
            </a:xfrm>
            <a:prstGeom prst="rect">
              <a:avLst/>
            </a:prstGeom>
          </p:spPr>
        </p:pic>
      </p:grpSp>
      <p:sp>
        <p:nvSpPr>
          <p:cNvPr id="16" name="TextBox 16"/>
          <p:cNvSpPr txBox="1"/>
          <p:nvPr/>
        </p:nvSpPr>
        <p:spPr>
          <a:xfrm>
            <a:off x="2216354" y="1742463"/>
            <a:ext cx="16880433" cy="1088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57"/>
              </a:lnSpc>
              <a:spcBef>
                <a:spcPct val="0"/>
              </a:spcBef>
            </a:pPr>
            <a:r>
              <a:rPr lang="en-US" sz="80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ROLE ANGGOTA KELOMPOK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44904" y="6990801"/>
            <a:ext cx="3836312" cy="385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sz="2634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Daffa Naufal Arafi 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69254" y="7885625"/>
            <a:ext cx="2283224" cy="333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System Analyst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41235" y="6980087"/>
            <a:ext cx="3329322" cy="74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sz="2634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Daniela Costantina Pattirane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03045" y="7885625"/>
            <a:ext cx="2567603" cy="333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Programmer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16149" y="6990801"/>
            <a:ext cx="2827297" cy="385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sz="2634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Rafi Hanifa salsa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56807" y="7885625"/>
            <a:ext cx="2626155" cy="333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PIC/Project Lead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06592" y="6966582"/>
            <a:ext cx="3061491" cy="745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sz="2634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Voni </a:t>
            </a:r>
            <a:r>
              <a:rPr lang="en-US" sz="2634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Febriyanti</a:t>
            </a:r>
            <a:r>
              <a:rPr lang="en-US" sz="2634" b="1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2634" b="1" dirty="0" err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mubarok</a:t>
            </a:r>
            <a:endParaRPr lang="en-US" sz="2634" b="1" dirty="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722502" y="7885625"/>
            <a:ext cx="2283224" cy="333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4"/>
              </a:lnSpc>
            </a:pPr>
            <a:r>
              <a:rPr lang="en-US" sz="1756" b="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2711128" y="2317615"/>
            <a:ext cx="4379037" cy="437903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684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845237" y="2448478"/>
            <a:ext cx="4110820" cy="411082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t="-44668" r="-9961" b="-20376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1475878" y="3439486"/>
            <a:ext cx="2128802" cy="2128802"/>
          </a:xfrm>
          <a:custGeom>
            <a:avLst/>
            <a:gdLst/>
            <a:ahLst/>
            <a:cxnLst/>
            <a:rect l="l" t="t" r="r" b="b"/>
            <a:pathLst>
              <a:path w="2128802" h="2128802">
                <a:moveTo>
                  <a:pt x="0" y="0"/>
                </a:moveTo>
                <a:lnTo>
                  <a:pt x="2128802" y="0"/>
                </a:lnTo>
                <a:lnTo>
                  <a:pt x="2128802" y="2128802"/>
                </a:lnTo>
                <a:lnTo>
                  <a:pt x="0" y="21288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79996" y="3104617"/>
            <a:ext cx="8750986" cy="580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39"/>
              </a:lnSpc>
            </a:pP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Nama Usaha : Kedai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Takosai</a:t>
            </a:r>
            <a:endParaRPr lang="en-US" sz="3159" b="1" dirty="0">
              <a:solidFill>
                <a:srgbClr val="000000">
                  <a:alpha val="80000"/>
                </a:srgb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algn="l">
              <a:lnSpc>
                <a:spcPts val="4739"/>
              </a:lnSpc>
            </a:pP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Nama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pemilik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: Salvius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Willyandra</a:t>
            </a:r>
            <a:endParaRPr lang="en-US" sz="3159" b="1" dirty="0">
              <a:solidFill>
                <a:srgbClr val="000000">
                  <a:alpha val="80000"/>
                </a:srgb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algn="l">
              <a:lnSpc>
                <a:spcPts val="4739"/>
              </a:lnSpc>
            </a:pP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Bidang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: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Kuliner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(UMKM)</a:t>
            </a:r>
          </a:p>
          <a:p>
            <a:pPr algn="l">
              <a:lnSpc>
                <a:spcPts val="4739"/>
              </a:lnSpc>
            </a:pP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Lokasi :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Kalimalang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Jakarta Timur</a:t>
            </a:r>
          </a:p>
          <a:p>
            <a:pPr algn="l">
              <a:lnSpc>
                <a:spcPts val="4739"/>
              </a:lnSpc>
            </a:pP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Target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Pelanggan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: Untuk semua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kalangan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/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usia</a:t>
            </a:r>
            <a:endParaRPr lang="en-US" sz="3159" b="1" dirty="0">
              <a:solidFill>
                <a:srgbClr val="000000">
                  <a:alpha val="80000"/>
                </a:srgb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algn="l">
              <a:lnSpc>
                <a:spcPts val="4739"/>
              </a:lnSpc>
            </a:pP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Sistem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9" b="1" dirty="0" err="1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Penjualan</a:t>
            </a:r>
            <a:r>
              <a:rPr lang="en-US" sz="3159" b="1" dirty="0">
                <a:solidFill>
                  <a:srgbClr val="000000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Saat Ini: Offline &amp; pesan via WhatsApp</a:t>
            </a:r>
          </a:p>
          <a:p>
            <a:pPr algn="l">
              <a:lnSpc>
                <a:spcPts val="4423"/>
              </a:lnSpc>
            </a:pPr>
            <a:endParaRPr lang="en-US" sz="3159" b="1" dirty="0">
              <a:solidFill>
                <a:srgbClr val="000000">
                  <a:alpha val="80000"/>
                </a:srgb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>
              <a:lnSpc>
                <a:spcPts val="3243"/>
              </a:lnSpc>
              <a:spcBef>
                <a:spcPct val="0"/>
              </a:spcBef>
            </a:pPr>
            <a:endParaRPr lang="en-US" sz="3159" b="1" dirty="0">
              <a:solidFill>
                <a:srgbClr val="000000">
                  <a:alpha val="80000"/>
                </a:srgb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" name="Freeform 11"/>
          <p:cNvSpPr/>
          <p:nvPr/>
        </p:nvSpPr>
        <p:spPr>
          <a:xfrm rot="9666977">
            <a:off x="-7420926" y="8483564"/>
            <a:ext cx="11924059" cy="9712688"/>
          </a:xfrm>
          <a:custGeom>
            <a:avLst/>
            <a:gdLst/>
            <a:ahLst/>
            <a:cxnLst/>
            <a:rect l="l" t="t" r="r" b="b"/>
            <a:pathLst>
              <a:path w="11924059" h="9712688">
                <a:moveTo>
                  <a:pt x="0" y="0"/>
                </a:moveTo>
                <a:lnTo>
                  <a:pt x="11924059" y="0"/>
                </a:lnTo>
                <a:lnTo>
                  <a:pt x="11924059" y="9712688"/>
                </a:lnTo>
                <a:lnTo>
                  <a:pt x="0" y="97126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1493490" y="4683946"/>
            <a:ext cx="3407157" cy="340715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684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597835" y="4785765"/>
            <a:ext cx="3198467" cy="319846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7877" r="-9378" b="-1725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536014" y="1834601"/>
            <a:ext cx="9356663" cy="111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29"/>
              </a:lnSpc>
              <a:spcBef>
                <a:spcPct val="0"/>
              </a:spcBef>
            </a:pPr>
            <a:r>
              <a:rPr lang="en-US" sz="83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 USAHA</a:t>
            </a:r>
            <a:r>
              <a:rPr lang="en-US" sz="8384" b="1" u="none" strike="noStrike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564076D-2F23-5A3C-9F57-4137606584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15" y="514391"/>
            <a:ext cx="16722107" cy="9406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5D87B-B55D-7A74-F429-94A48924C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0F8EE5-4135-0A55-CE2F-C1DD7B4B5DCC}"/>
              </a:ext>
            </a:extLst>
          </p:cNvPr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FA7D97A-F189-C359-F74C-F47129B3FE22}"/>
              </a:ext>
            </a:extLst>
          </p:cNvPr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AF63257-AF68-AF8D-479B-F6FC5737364F}"/>
              </a:ext>
            </a:extLst>
          </p:cNvPr>
          <p:cNvSpPr/>
          <p:nvPr/>
        </p:nvSpPr>
        <p:spPr>
          <a:xfrm rot="9666977">
            <a:off x="-7420926" y="8483564"/>
            <a:ext cx="11924059" cy="9712688"/>
          </a:xfrm>
          <a:custGeom>
            <a:avLst/>
            <a:gdLst/>
            <a:ahLst/>
            <a:cxnLst/>
            <a:rect l="l" t="t" r="r" b="b"/>
            <a:pathLst>
              <a:path w="11924059" h="9712688">
                <a:moveTo>
                  <a:pt x="0" y="0"/>
                </a:moveTo>
                <a:lnTo>
                  <a:pt x="11924059" y="0"/>
                </a:lnTo>
                <a:lnTo>
                  <a:pt x="11924059" y="9712688"/>
                </a:lnTo>
                <a:lnTo>
                  <a:pt x="0" y="9712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A32A796-4937-12AB-750F-C1AE7186AB34}"/>
              </a:ext>
            </a:extLst>
          </p:cNvPr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164248C-E72C-4D64-5883-5C0FF1E5DA3B}"/>
              </a:ext>
            </a:extLst>
          </p:cNvPr>
          <p:cNvSpPr txBox="1"/>
          <p:nvPr/>
        </p:nvSpPr>
        <p:spPr>
          <a:xfrm>
            <a:off x="990600" y="1724805"/>
            <a:ext cx="4384912" cy="2006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629"/>
              </a:lnSpc>
              <a:spcBef>
                <a:spcPct val="0"/>
              </a:spcBef>
            </a:pPr>
            <a:r>
              <a:rPr lang="en-US" sz="8384" b="1" dirty="0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LOKASI USAHA</a:t>
            </a:r>
            <a:r>
              <a:rPr lang="en-US" sz="8384" b="1" u="none" strike="noStrike" dirty="0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33DC1DB-D938-44E1-FCB0-3AEE415722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333531"/>
            <a:ext cx="9949510" cy="961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219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543315" y="6942286"/>
            <a:ext cx="1479323" cy="1479323"/>
          </a:xfrm>
          <a:custGeom>
            <a:avLst/>
            <a:gdLst/>
            <a:ahLst/>
            <a:cxnLst/>
            <a:rect l="l" t="t" r="r" b="b"/>
            <a:pathLst>
              <a:path w="1479323" h="1479323">
                <a:moveTo>
                  <a:pt x="0" y="0"/>
                </a:moveTo>
                <a:lnTo>
                  <a:pt x="1479324" y="0"/>
                </a:lnTo>
                <a:lnTo>
                  <a:pt x="1479324" y="1479324"/>
                </a:lnTo>
                <a:lnTo>
                  <a:pt x="0" y="14793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0486" y="1028700"/>
            <a:ext cx="10447028" cy="127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30"/>
              </a:lnSpc>
              <a:spcBef>
                <a:spcPct val="0"/>
              </a:spcBef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VISI DAN MISI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5018" y="4521660"/>
            <a:ext cx="12014175" cy="244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35"/>
              </a:lnSpc>
              <a:spcBef>
                <a:spcPct val="0"/>
              </a:spcBef>
            </a:pPr>
            <a:r>
              <a:rPr lang="en-US" sz="3454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Menjadi usaha kuliner lokal yang dikenal luas karena menyajikan takoyaki dan dimsum lezat, berkualitas, dan terjangkau, serta memberikan pelayanan yang ramah dan cepat kepada pelanggan.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9680" y="3578244"/>
            <a:ext cx="5584852" cy="1253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1"/>
              </a:lnSpc>
            </a:pPr>
            <a:r>
              <a:rPr lang="en-US" sz="3515" b="1" spc="21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VISI KEDAI TAKOSAI</a:t>
            </a:r>
          </a:p>
          <a:p>
            <a:pPr algn="l">
              <a:lnSpc>
                <a:spcPts val="4921"/>
              </a:lnSpc>
            </a:pPr>
            <a:endParaRPr lang="en-US" sz="3515" b="1" spc="217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543315" y="6942286"/>
            <a:ext cx="1479323" cy="1479323"/>
          </a:xfrm>
          <a:custGeom>
            <a:avLst/>
            <a:gdLst/>
            <a:ahLst/>
            <a:cxnLst/>
            <a:rect l="l" t="t" r="r" b="b"/>
            <a:pathLst>
              <a:path w="1479323" h="1479323">
                <a:moveTo>
                  <a:pt x="0" y="0"/>
                </a:moveTo>
                <a:lnTo>
                  <a:pt x="1479324" y="0"/>
                </a:lnTo>
                <a:lnTo>
                  <a:pt x="1479324" y="1479324"/>
                </a:lnTo>
                <a:lnTo>
                  <a:pt x="0" y="14793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0486" y="1028700"/>
            <a:ext cx="10447028" cy="127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30"/>
              </a:lnSpc>
              <a:spcBef>
                <a:spcPct val="0"/>
              </a:spcBef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VISI DAN MISI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69680" y="2351538"/>
            <a:ext cx="5584852" cy="1253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1"/>
              </a:lnSpc>
            </a:pPr>
            <a:r>
              <a:rPr lang="en-US" sz="3515" b="1" spc="21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MISI KEDAI TAKOSAI</a:t>
            </a:r>
          </a:p>
          <a:p>
            <a:pPr algn="l">
              <a:lnSpc>
                <a:spcPts val="4921"/>
              </a:lnSpc>
            </a:pPr>
            <a:endParaRPr lang="en-US" sz="3515" b="1" spc="217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Freeform 7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24478" y="3500506"/>
            <a:ext cx="14026945" cy="558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Meningkatkan kenyamanan pelanggan melalui pelayanan yang cepat dan ramah.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Memperluas jangkauan promosi melalui media digital, termasuk website dan media sosial.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Mengembangkan inovasi menu sesuai selera dan tren konsumen.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Mendorong pertumbuhan usaha secara berkelanjutan dengan menjaga kepuasan pelanggan.</a:t>
            </a:r>
          </a:p>
          <a:p>
            <a:pPr marL="0" lvl="0" indent="0" algn="l">
              <a:lnSpc>
                <a:spcPts val="4900"/>
              </a:lnSpc>
              <a:spcBef>
                <a:spcPct val="0"/>
              </a:spcBef>
            </a:pPr>
            <a:endParaRPr lang="en-US" sz="3500">
              <a:solidFill>
                <a:srgbClr val="000000">
                  <a:alpha val="80000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79383" y="1314988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-3729372" y="4294830"/>
            <a:ext cx="11045224" cy="1104522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391110" y="4633092"/>
            <a:ext cx="10368700" cy="103687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t="-54386" b="-2360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2361318" y="1415981"/>
            <a:ext cx="5413332" cy="541333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670669" y="1725331"/>
            <a:ext cx="4794631" cy="47946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4569541" y="5538554"/>
            <a:ext cx="3205109" cy="3205109"/>
          </a:xfrm>
          <a:custGeom>
            <a:avLst/>
            <a:gdLst/>
            <a:ahLst/>
            <a:cxnLst/>
            <a:rect l="l" t="t" r="r" b="b"/>
            <a:pathLst>
              <a:path w="3205109" h="3205109">
                <a:moveTo>
                  <a:pt x="0" y="0"/>
                </a:moveTo>
                <a:lnTo>
                  <a:pt x="3205109" y="0"/>
                </a:lnTo>
                <a:lnTo>
                  <a:pt x="3205109" y="3205108"/>
                </a:lnTo>
                <a:lnTo>
                  <a:pt x="0" y="32051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67538" y="1558856"/>
            <a:ext cx="8425411" cy="223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75"/>
              </a:lnSpc>
              <a:spcBef>
                <a:spcPct val="0"/>
              </a:spcBef>
            </a:pPr>
            <a:r>
              <a:rPr lang="en-US" sz="89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IDENTIFIKASI MASALAH</a:t>
            </a:r>
          </a:p>
        </p:txBody>
      </p:sp>
      <p:sp>
        <p:nvSpPr>
          <p:cNvPr id="16" name="Freeform 16"/>
          <p:cNvSpPr/>
          <p:nvPr/>
        </p:nvSpPr>
        <p:spPr>
          <a:xfrm rot="-10329793">
            <a:off x="14094520" y="-2327696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034156" y="3852962"/>
            <a:ext cx="9225144" cy="534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Promosi masih terbatas, sehingga jangkauan pelanggan baru rendah.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Belum ada platform online untuk menampilkan menu dan harga produk.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Pemesanan masih dilakukan secara manual melalui chat WhatsApp.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Belum ada sistem pencatatan digital untuk pesanan dan pelanggan (namun belum menjadi fokus utama pada tahap pengembangan website ini).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-4647928" y="2751511"/>
            <a:ext cx="11434816" cy="1143481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6847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275794" y="3123645"/>
            <a:ext cx="10690548" cy="1069054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t="-25000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2514320" y="2437272"/>
            <a:ext cx="3205109" cy="3205109"/>
          </a:xfrm>
          <a:custGeom>
            <a:avLst/>
            <a:gdLst/>
            <a:ahLst/>
            <a:cxnLst/>
            <a:rect l="l" t="t" r="r" b="b"/>
            <a:pathLst>
              <a:path w="3205109" h="3205109">
                <a:moveTo>
                  <a:pt x="0" y="0"/>
                </a:moveTo>
                <a:lnTo>
                  <a:pt x="3205109" y="0"/>
                </a:lnTo>
                <a:lnTo>
                  <a:pt x="3205109" y="3205108"/>
                </a:lnTo>
                <a:lnTo>
                  <a:pt x="0" y="32051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786888" y="1671217"/>
            <a:ext cx="9026326" cy="236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  <a:spcBef>
                <a:spcPct val="0"/>
              </a:spcBef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SOLUSI YANG KAMI BERIKAN</a:t>
            </a:r>
          </a:p>
        </p:txBody>
      </p:sp>
      <p:sp>
        <p:nvSpPr>
          <p:cNvPr id="11" name="Freeform 11"/>
          <p:cNvSpPr/>
          <p:nvPr/>
        </p:nvSpPr>
        <p:spPr>
          <a:xfrm rot="-10329793">
            <a:off x="14497081" y="-2644459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786888" y="4363095"/>
            <a:ext cx="10808578" cy="298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Website promosi produk (takoyaki &amp; dimsum)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Informasi menu &amp; harga yang jelas dan mudah diakses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Pemesanan cepat melalui tombol “Pesan Sekarang” → direct ke WhatsApp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Informasi lokasi &amp; kontak dengan link Google Maps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Desain responsif, bisa diakses lewat HP maupun laptop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3228988" y="2143294"/>
            <a:ext cx="4860651" cy="486065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84120" y="2398426"/>
            <a:ext cx="4350388" cy="435038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857513" y="4894561"/>
            <a:ext cx="3883061" cy="38830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061332" y="5098380"/>
            <a:ext cx="3475423" cy="347542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t="-10428" b="-14571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2131837" y="3974107"/>
            <a:ext cx="2194300" cy="2194300"/>
          </a:xfrm>
          <a:custGeom>
            <a:avLst/>
            <a:gdLst/>
            <a:ahLst/>
            <a:cxnLst/>
            <a:rect l="l" t="t" r="r" b="b"/>
            <a:pathLst>
              <a:path w="2194300" h="2194300">
                <a:moveTo>
                  <a:pt x="0" y="0"/>
                </a:moveTo>
                <a:lnTo>
                  <a:pt x="2194301" y="0"/>
                </a:lnTo>
                <a:lnTo>
                  <a:pt x="2194301" y="2194300"/>
                </a:lnTo>
                <a:lnTo>
                  <a:pt x="0" y="21943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04850" y="3274419"/>
            <a:ext cx="10808578" cy="576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4843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Promosi jadi lebih luas dan terlihat profesional lewat website.</a:t>
            </a:r>
          </a:p>
          <a:p>
            <a:pPr marL="604516" lvl="1" indent="-302258" algn="l">
              <a:lnSpc>
                <a:spcPts val="4843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Pelanggan bisa dengan mudah melihat menu, harga, dan promo tanpa harus chat dulu.</a:t>
            </a:r>
          </a:p>
          <a:p>
            <a:pPr marL="604516" lvl="1" indent="-302258" algn="l">
              <a:lnSpc>
                <a:spcPts val="4843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Pemesanan jadi lebih praktis karena langsung diarahkan ke WhatsApp.</a:t>
            </a:r>
          </a:p>
          <a:p>
            <a:pPr marL="604516" lvl="1" indent="-302258" algn="l">
              <a:lnSpc>
                <a:spcPts val="4843"/>
              </a:lnSpc>
              <a:buFont typeface="Arial"/>
              <a:buChar char="•"/>
            </a:pPr>
            <a:r>
              <a:rPr lang="en-US" sz="2799" b="1">
                <a:solidFill>
                  <a:srgbClr val="FFFFFF">
                    <a:alpha val="80000"/>
                  </a:srgb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Menghemat waktu admin, karena tidak perlu membuat sistem yang kompleks.</a:t>
            </a:r>
          </a:p>
          <a:p>
            <a:pPr algn="l">
              <a:lnSpc>
                <a:spcPts val="3460"/>
              </a:lnSpc>
            </a:pPr>
            <a:endParaRPr lang="en-US" sz="2799" b="1">
              <a:solidFill>
                <a:srgbClr val="FFFFFF">
                  <a:alpha val="80000"/>
                </a:srgb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lvl="0" indent="0" algn="l">
              <a:lnSpc>
                <a:spcPts val="3460"/>
              </a:lnSpc>
            </a:pPr>
            <a:endParaRPr lang="en-US" sz="2799" b="1">
              <a:solidFill>
                <a:srgbClr val="FFFFFF">
                  <a:alpha val="80000"/>
                </a:srgb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" name="Freeform 16"/>
          <p:cNvSpPr/>
          <p:nvPr/>
        </p:nvSpPr>
        <p:spPr>
          <a:xfrm rot="-10329793">
            <a:off x="14648941" y="-2810867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4"/>
                </a:lnTo>
                <a:lnTo>
                  <a:pt x="0" y="5621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10329793">
            <a:off x="-3450842" y="85848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4" y="0"/>
                </a:lnTo>
                <a:lnTo>
                  <a:pt x="6901684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85825" y="821947"/>
            <a:ext cx="9617646" cy="236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  <a:spcBef>
                <a:spcPct val="0"/>
              </a:spcBef>
            </a:pPr>
            <a:r>
              <a:rPr lang="en-US" sz="94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MANFAAT BAGI KLIEN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4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3233238" y="6740958"/>
            <a:ext cx="7198559" cy="719855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590297" y="-3205254"/>
            <a:ext cx="6919019" cy="691901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CA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87715" y="6995436"/>
            <a:ext cx="6689603" cy="668960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2500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2834892" y="-2960658"/>
            <a:ext cx="6429828" cy="642982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t="-7709" b="-25623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3093468" y="6106529"/>
            <a:ext cx="2481282" cy="2481282"/>
          </a:xfrm>
          <a:custGeom>
            <a:avLst/>
            <a:gdLst/>
            <a:ahLst/>
            <a:cxnLst/>
            <a:rect l="l" t="t" r="r" b="b"/>
            <a:pathLst>
              <a:path w="2481282" h="2481282">
                <a:moveTo>
                  <a:pt x="0" y="0"/>
                </a:moveTo>
                <a:lnTo>
                  <a:pt x="2481282" y="0"/>
                </a:lnTo>
                <a:lnTo>
                  <a:pt x="2481282" y="2481282"/>
                </a:lnTo>
                <a:lnTo>
                  <a:pt x="0" y="2481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329793">
            <a:off x="-3450842" y="85848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4" y="0"/>
                </a:lnTo>
                <a:lnTo>
                  <a:pt x="6901684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18447" y="1768356"/>
            <a:ext cx="12016445" cy="1272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30"/>
              </a:lnSpc>
              <a:spcBef>
                <a:spcPct val="0"/>
              </a:spcBef>
            </a:pPr>
            <a:r>
              <a:rPr lang="en-US" sz="9484" b="1">
                <a:solidFill>
                  <a:srgbClr val="F3CA52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PENGGUNA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299" y="3088170"/>
            <a:ext cx="12428169" cy="442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238" lvl="1" indent="-360619" algn="l">
              <a:lnSpc>
                <a:spcPts val="5879"/>
              </a:lnSpc>
              <a:buFont typeface="Arial"/>
              <a:buChar char="•"/>
            </a:pPr>
            <a:r>
              <a:rPr lang="en-US" sz="334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Pelanggan utama: masyarakat sekitar Kedai Takosai yang ingin memesan produk.</a:t>
            </a:r>
          </a:p>
          <a:p>
            <a:pPr marL="721238" lvl="1" indent="-360619" algn="l">
              <a:lnSpc>
                <a:spcPts val="5879"/>
              </a:lnSpc>
              <a:buFont typeface="Arial"/>
              <a:buChar char="•"/>
            </a:pPr>
            <a:r>
              <a:rPr lang="en-US" sz="334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Pelanggan online: pembeli yang menemukan website lewat internet dan langsung memesan via WhatsApp.</a:t>
            </a:r>
          </a:p>
          <a:p>
            <a:pPr marL="721238" lvl="1" indent="-360619" algn="l">
              <a:lnSpc>
                <a:spcPts val="5879"/>
              </a:lnSpc>
              <a:buFont typeface="Arial"/>
              <a:buChar char="•"/>
            </a:pPr>
            <a:r>
              <a:rPr lang="en-US" sz="3340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Admin: yang mengelola informasi menu, kontak, dan update promosi di website.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3920486" y="1200150"/>
            <a:ext cx="10447028" cy="1167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30"/>
              </a:lnSpc>
              <a:spcBef>
                <a:spcPct val="0"/>
              </a:spcBef>
            </a:pPr>
            <a:r>
              <a:rPr lang="en-US" sz="9484" b="1" dirty="0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BPMN</a:t>
            </a:r>
          </a:p>
        </p:txBody>
      </p:sp>
      <p:sp>
        <p:nvSpPr>
          <p:cNvPr id="5" name="Freeform 5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5046" y="3371088"/>
            <a:ext cx="17397907" cy="3544824"/>
          </a:xfrm>
          <a:custGeom>
            <a:avLst/>
            <a:gdLst/>
            <a:ahLst/>
            <a:cxnLst/>
            <a:rect l="l" t="t" r="r" b="b"/>
            <a:pathLst>
              <a:path w="17397907" h="3544824">
                <a:moveTo>
                  <a:pt x="0" y="0"/>
                </a:moveTo>
                <a:lnTo>
                  <a:pt x="17397908" y="0"/>
                </a:lnTo>
                <a:lnTo>
                  <a:pt x="17397908" y="3544824"/>
                </a:lnTo>
                <a:lnTo>
                  <a:pt x="0" y="35448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0573" y="8712217"/>
            <a:ext cx="699184" cy="699184"/>
          </a:xfrm>
          <a:custGeom>
            <a:avLst/>
            <a:gdLst/>
            <a:ahLst/>
            <a:cxnLst/>
            <a:rect l="l" t="t" r="r" b="b"/>
            <a:pathLst>
              <a:path w="699184" h="699184">
                <a:moveTo>
                  <a:pt x="0" y="0"/>
                </a:moveTo>
                <a:lnTo>
                  <a:pt x="699184" y="0"/>
                </a:lnTo>
                <a:lnTo>
                  <a:pt x="699184" y="699184"/>
                </a:lnTo>
                <a:lnTo>
                  <a:pt x="0" y="6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543315" y="6942286"/>
            <a:ext cx="1479323" cy="1479323"/>
          </a:xfrm>
          <a:custGeom>
            <a:avLst/>
            <a:gdLst/>
            <a:ahLst/>
            <a:cxnLst/>
            <a:rect l="l" t="t" r="r" b="b"/>
            <a:pathLst>
              <a:path w="1479323" h="1479323">
                <a:moveTo>
                  <a:pt x="0" y="0"/>
                </a:moveTo>
                <a:lnTo>
                  <a:pt x="1479324" y="0"/>
                </a:lnTo>
                <a:lnTo>
                  <a:pt x="1479324" y="1479324"/>
                </a:lnTo>
                <a:lnTo>
                  <a:pt x="0" y="14793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0486" y="1028700"/>
            <a:ext cx="10447028" cy="127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30"/>
              </a:lnSpc>
              <a:spcBef>
                <a:spcPct val="0"/>
              </a:spcBef>
            </a:pPr>
            <a:r>
              <a:rPr lang="en-US" sz="9484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id="6" name="Freeform 6"/>
          <p:cNvSpPr/>
          <p:nvPr/>
        </p:nvSpPr>
        <p:spPr>
          <a:xfrm rot="-10329793">
            <a:off x="14130313" y="-2606623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329793">
            <a:off x="-2109220" y="8569371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13628" y="2102820"/>
            <a:ext cx="14026945" cy="660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15"/>
              </a:lnSpc>
            </a:pPr>
            <a:endParaRPr/>
          </a:p>
          <a:p>
            <a:pPr algn="l">
              <a:lnSpc>
                <a:spcPts val="5915"/>
              </a:lnSpc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Website Kedai Takosai dibuat untuk membantu promosi dan mempermudah pelanggan memesan produk.</a:t>
            </a:r>
          </a:p>
          <a:p>
            <a:pPr algn="l">
              <a:lnSpc>
                <a:spcPts val="5915"/>
              </a:lnSpc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Melalui website ini, informasi menu, harga, dan kontak bisa diakses dengan mudah, serta pemesanan dapat langsung dilakukan lewat WhatsApp.</a:t>
            </a:r>
          </a:p>
          <a:p>
            <a:pPr algn="l">
              <a:lnSpc>
                <a:spcPts val="5915"/>
              </a:lnSpc>
            </a:pPr>
            <a:r>
              <a:rPr lang="en-US" sz="3500">
                <a:solidFill>
                  <a:srgbClr val="000000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Diharapkan website ini dapat meningkatkan profesionalitas dan memperluas jangkauan usaha Kedai Takosai.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000000">
                  <a:alpha val="80000"/>
                </a:srgb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C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0289604">
            <a:off x="-348403" y="5844319"/>
            <a:ext cx="18517655" cy="15083471"/>
          </a:xfrm>
          <a:custGeom>
            <a:avLst/>
            <a:gdLst/>
            <a:ahLst/>
            <a:cxnLst/>
            <a:rect l="l" t="t" r="r" b="b"/>
            <a:pathLst>
              <a:path w="18517655" h="15083471">
                <a:moveTo>
                  <a:pt x="0" y="0"/>
                </a:moveTo>
                <a:lnTo>
                  <a:pt x="18517655" y="0"/>
                </a:lnTo>
                <a:lnTo>
                  <a:pt x="18517655" y="15083472"/>
                </a:lnTo>
                <a:lnTo>
                  <a:pt x="0" y="15083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83800" y="5508910"/>
            <a:ext cx="5019380" cy="5019380"/>
          </a:xfrm>
          <a:custGeom>
            <a:avLst/>
            <a:gdLst/>
            <a:ahLst/>
            <a:cxnLst/>
            <a:rect l="l" t="t" r="r" b="b"/>
            <a:pathLst>
              <a:path w="5019380" h="5019380">
                <a:moveTo>
                  <a:pt x="0" y="0"/>
                </a:moveTo>
                <a:lnTo>
                  <a:pt x="5019380" y="0"/>
                </a:lnTo>
                <a:lnTo>
                  <a:pt x="5019380" y="5019380"/>
                </a:lnTo>
                <a:lnTo>
                  <a:pt x="0" y="50193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329793">
            <a:off x="14497081" y="-2644459"/>
            <a:ext cx="6901683" cy="5621735"/>
          </a:xfrm>
          <a:custGeom>
            <a:avLst/>
            <a:gdLst/>
            <a:ahLst/>
            <a:cxnLst/>
            <a:rect l="l" t="t" r="r" b="b"/>
            <a:pathLst>
              <a:path w="6901683" h="5621735">
                <a:moveTo>
                  <a:pt x="0" y="0"/>
                </a:moveTo>
                <a:lnTo>
                  <a:pt x="6901683" y="0"/>
                </a:lnTo>
                <a:lnTo>
                  <a:pt x="6901683" y="5621735"/>
                </a:lnTo>
                <a:lnTo>
                  <a:pt x="0" y="56217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614675" y="3245041"/>
            <a:ext cx="9824419" cy="5617309"/>
          </a:xfrm>
          <a:custGeom>
            <a:avLst/>
            <a:gdLst/>
            <a:ahLst/>
            <a:cxnLst/>
            <a:rect l="l" t="t" r="r" b="b"/>
            <a:pathLst>
              <a:path w="9824419" h="5617309">
                <a:moveTo>
                  <a:pt x="0" y="0"/>
                </a:moveTo>
                <a:lnTo>
                  <a:pt x="9824419" y="0"/>
                </a:lnTo>
                <a:lnTo>
                  <a:pt x="9824419" y="5617309"/>
                </a:lnTo>
                <a:lnTo>
                  <a:pt x="0" y="56173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37447" b="-3744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023032" y="3681301"/>
            <a:ext cx="4714654" cy="4714654"/>
          </a:xfrm>
          <a:custGeom>
            <a:avLst/>
            <a:gdLst/>
            <a:ahLst/>
            <a:cxnLst/>
            <a:rect l="l" t="t" r="r" b="b"/>
            <a:pathLst>
              <a:path w="4714654" h="4714654">
                <a:moveTo>
                  <a:pt x="0" y="0"/>
                </a:moveTo>
                <a:lnTo>
                  <a:pt x="4714655" y="0"/>
                </a:lnTo>
                <a:lnTo>
                  <a:pt x="4714655" y="4714654"/>
                </a:lnTo>
                <a:lnTo>
                  <a:pt x="0" y="47146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14675" y="2085476"/>
            <a:ext cx="9531370" cy="159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450"/>
              </a:lnSpc>
            </a:pPr>
            <a:r>
              <a:rPr lang="en-US" sz="10701" b="1">
                <a:solidFill>
                  <a:srgbClr val="0A6847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419</Words>
  <Application>Microsoft Office PowerPoint</Application>
  <PresentationFormat>Custom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Poppins</vt:lpstr>
      <vt:lpstr>Calibri</vt:lpstr>
      <vt:lpstr>Poppins Bold</vt:lpstr>
      <vt:lpstr>Poppins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cp:lastModifiedBy>HP VICTUS 16</cp:lastModifiedBy>
  <cp:revision>4</cp:revision>
  <dcterms:created xsi:type="dcterms:W3CDTF">2006-08-16T00:00:00Z</dcterms:created>
  <dcterms:modified xsi:type="dcterms:W3CDTF">2025-10-06T03:16:45Z</dcterms:modified>
  <dc:identifier>DAG01eu2tV0</dc:identifier>
</cp:coreProperties>
</file>